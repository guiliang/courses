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6" r:id="rId4"/>
    <p:sldMasterId id="2147483690" r:id="rId5"/>
    <p:sldMasterId id="2147483704" r:id="rId6"/>
    <p:sldMasterId id="2147483719" r:id="rId7"/>
    <p:sldMasterId id="2147483733" r:id="rId8"/>
  </p:sldMasterIdLst>
  <p:notesMasterIdLst>
    <p:notesMasterId r:id="rId10"/>
  </p:notesMasterIdLst>
  <p:sldIdLst>
    <p:sldId id="263" r:id="rId9"/>
    <p:sldId id="280" r:id="rId11"/>
    <p:sldId id="281" r:id="rId12"/>
    <p:sldId id="271" r:id="rId13"/>
    <p:sldId id="272" r:id="rId14"/>
    <p:sldId id="283" r:id="rId15"/>
    <p:sldId id="273" r:id="rId16"/>
    <p:sldId id="282" r:id="rId17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tags" Target="tags/tag8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End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ntent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purpleyellow_ribbon_20221011/Cover-bg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1.xml"/><Relationship Id="rId14" Type="http://schemas.openxmlformats.org/officeDocument/2006/relationships/theme" Target="../theme/theme4.xml"/><Relationship Id="rId1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4.xml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4" Type="http://schemas.openxmlformats.org/officeDocument/2006/relationships/theme" Target="../theme/theme6.xml"/><Relationship Id="rId13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4" Type="http://schemas.openxmlformats.org/officeDocument/2006/relationships/theme" Target="../theme/theme7.xml"/><Relationship Id="rId13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8.xml"/><Relationship Id="rId2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91.xml"/><Relationship Id="rId2" Type="http://schemas.openxmlformats.org/officeDocument/2006/relationships/image" Target="../media/image7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8.xml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8.xml"/><Relationship Id="rId2" Type="http://schemas.openxmlformats.org/officeDocument/2006/relationships/image" Target="../media/image7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1.xml"/><Relationship Id="rId2" Type="http://schemas.openxmlformats.org/officeDocument/2006/relationships/image" Target="../media/image7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66.xml"/><Relationship Id="rId2" Type="http://schemas.openxmlformats.org/officeDocument/2006/relationships/image" Target="../media/image7.png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0367" y="1453727"/>
            <a:ext cx="9778153" cy="1778000"/>
          </a:xfrm>
          <a:prstGeom prst="rect">
            <a:avLst/>
          </a:prstGeom>
          <a:noFill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665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CSC 1004: Tutorial 10 </a:t>
            </a:r>
            <a:endParaRPr lang="en-US" sz="3665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  <a:p>
            <a:pPr marL="0" indent="0" algn="ctr">
              <a:buNone/>
            </a:pPr>
            <a:r>
              <a:rPr lang="en-US" sz="3665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Tkinter</a:t>
            </a:r>
            <a:r>
              <a:rPr lang="en-US" sz="3665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 Introduction, and Function implementation</a:t>
            </a:r>
            <a:endParaRPr lang="en-US" sz="3665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048087" y="3623733"/>
            <a:ext cx="8141547" cy="119972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dirty="0">
                <a:solidFill>
                  <a:srgbClr val="646464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 Bo Yue</a:t>
            </a:r>
            <a:endParaRPr lang="en-US" sz="2665" dirty="0">
              <a:solidFill>
                <a:srgbClr val="646464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  <a:p>
            <a:pPr marL="0" indent="0" algn="ctr">
              <a:buNone/>
            </a:pPr>
            <a:r>
              <a:rPr lang="en-US" sz="2665" dirty="0">
                <a:solidFill>
                  <a:srgbClr val="646464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SDS, CUHK-SZ</a:t>
            </a:r>
            <a:endParaRPr lang="en-US" sz="2665" dirty="0">
              <a:solidFill>
                <a:srgbClr val="646464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Python Class (1)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class people: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#define basic(public) attribute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name = ''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age = 0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#define private attribute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__weight = 0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#initialization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def __init__(self,n,a,w):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self.name = n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self.age = a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self.__weight = w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def speak(self):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print("%s say: I %d years old。" %(self.name,self.age))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# Instantiate a class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p = people('runoob',10,30)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p.speak()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Python Class (2) Inheritance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534372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class people: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name = ''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age = 0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__weight = 0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def __init__(self,n,a,w):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self.name = n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self.age = a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self.__weight = w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def speak(self):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print("%s 说: 我 %d 岁。" %(self.name,self.age))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class student(people):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grade = ''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def __init__(self,n,a,w,g):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people.__init__(self,n,a,w)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self.grade = g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def speak(self):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       print("%s say: I’m %d years old，and my grade is  %d"%(self.name,self.age,self.grade))</a:t>
            </a:r>
            <a:endParaRPr lang="en-US" sz="20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s = student('ken',10,60,3)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s.speak()</a:t>
            </a:r>
            <a:endParaRPr lang="en-US" sz="16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Review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865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pic>
        <p:nvPicPr>
          <p:cNvPr id="6" name="图片 5" descr="more_enhanced_snake_game_flowchart"/>
          <p:cNvPicPr>
            <a:picLocks noChangeAspect="1"/>
          </p:cNvPicPr>
          <p:nvPr/>
        </p:nvPicPr>
        <p:blipFill>
          <a:blip r:embed="rId3"/>
          <a:srcRect l="12310" t="24313" r="9391" b="11190"/>
          <a:stretch>
            <a:fillRect/>
          </a:stretch>
        </p:blipFill>
        <p:spPr>
          <a:xfrm>
            <a:off x="2494280" y="1399540"/>
            <a:ext cx="8235950" cy="4785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Class </a:t>
            </a:r>
            <a:r>
              <a:rPr lang="en-US" altLang="zh-CN" sz="3200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SnakeGame and </a:t>
            </a:r>
            <a:r>
              <a:rPr lang="zh-CN" altLang="en-US" sz="3200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start_game</a:t>
            </a:r>
            <a:r>
              <a:rPr lang="en-US" altLang="zh-CN" sz="3200" b="1">
                <a:latin typeface="Times New Roman" panose="02020503050405090304" charset="0"/>
                <a:cs typeface="Times New Roman" panose="02020503050405090304" charset="0"/>
                <a:sym typeface="+mn-ea"/>
              </a:rPr>
              <a:t> function</a:t>
            </a:r>
            <a:r>
              <a:rPr lang="en-US" altLang="zh-CN" sz="3200">
                <a:latin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 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865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1865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70280" y="1605915"/>
            <a:ext cx="555879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class SnakeGame(tk.Tk):                                                                     </a:t>
            </a:r>
            <a:endParaRPr lang="en-US" altLang="zh-CN"/>
          </a:p>
          <a:p>
            <a:r>
              <a:rPr lang="en-US" altLang="zh-CN"/>
              <a:t>    def __init__(self):</a:t>
            </a:r>
            <a:endParaRPr lang="en-US" altLang="zh-CN"/>
          </a:p>
          <a:p>
            <a:r>
              <a:rPr lang="en-US" altLang="zh-CN"/>
              <a:t>        super().__init__()</a:t>
            </a:r>
            <a:endParaRPr lang="en-US" altLang="zh-CN"/>
          </a:p>
          <a:p>
            <a:r>
              <a:rPr lang="en-US" altLang="zh-CN"/>
              <a:t>        self.title("Snake Game")</a:t>
            </a:r>
            <a:endParaRPr lang="en-US" altLang="zh-CN"/>
          </a:p>
          <a:p>
            <a:r>
              <a:rPr lang="en-US" altLang="zh-CN"/>
              <a:t>        self.geometry("800x800")</a:t>
            </a:r>
            <a:endParaRPr lang="en-US" altLang="zh-CN"/>
          </a:p>
          <a:p>
            <a:r>
              <a:rPr lang="en-US" altLang="zh-CN"/>
              <a:t>        self.resizable(False, False)</a:t>
            </a:r>
            <a:endParaRPr lang="en-US" altLang="zh-CN"/>
          </a:p>
          <a:p>
            <a:r>
              <a:rPr lang="en-US" altLang="zh-CN"/>
              <a:t>        self.width = 800</a:t>
            </a:r>
            <a:endParaRPr lang="en-US" altLang="zh-CN"/>
          </a:p>
          <a:p>
            <a:r>
              <a:rPr lang="en-US" altLang="zh-CN"/>
              <a:t>        self.height = 800</a:t>
            </a:r>
            <a:endParaRPr lang="en-US" altLang="zh-CN"/>
          </a:p>
          <a:p>
            <a:r>
              <a:rPr lang="en-US" altLang="zh-CN"/>
              <a:t>        self.cell_size = 20</a:t>
            </a:r>
            <a:endParaRPr lang="en-US" altLang="zh-CN"/>
          </a:p>
          <a:p>
            <a:r>
              <a:rPr lang="en-US" altLang="zh-CN"/>
              <a:t>        self.snake_direction = 'Right'</a:t>
            </a:r>
            <a:endParaRPr lang="en-US" altLang="zh-CN"/>
          </a:p>
          <a:p>
            <a:r>
              <a:rPr lang="en-US" altLang="zh-CN"/>
              <a:t>        self.snake = [(100, 100), (80, 100), (60, 100)]</a:t>
            </a:r>
            <a:endParaRPr lang="en-US" altLang="zh-CN"/>
          </a:p>
          <a:p>
            <a:r>
              <a:rPr lang="en-US" altLang="zh-CN"/>
              <a:t>        self.food = self.create_food()</a:t>
            </a:r>
            <a:endParaRPr lang="en-US" altLang="zh-CN"/>
          </a:p>
          <a:p>
            <a:r>
              <a:rPr lang="en-US" altLang="zh-CN"/>
              <a:t>        self.game_frame = tk.Frame(self)</a:t>
            </a:r>
            <a:endParaRPr lang="en-US" altLang="zh-CN"/>
          </a:p>
          <a:p>
            <a:r>
              <a:rPr lang="en-US" altLang="zh-CN"/>
              <a:t>        self.canvas = tk.Canvas(self.game_frame, bg='black', width=self.width, height=self.height)</a:t>
            </a:r>
            <a:endParaRPr lang="en-US" altLang="zh-CN"/>
          </a:p>
          <a:p>
            <a:r>
              <a:rPr lang="en-US" altLang="zh-CN"/>
              <a:t>        self.start_game()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6841490" y="160591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   def start_game(self):</a:t>
            </a:r>
            <a:endParaRPr lang="zh-CN" altLang="en-US"/>
          </a:p>
          <a:p>
            <a:r>
              <a:rPr lang="zh-CN" altLang="en-US"/>
              <a:t>        self.game_frame.pack(fill="both", expand=True)</a:t>
            </a:r>
            <a:endParaRPr lang="zh-CN" altLang="en-US"/>
          </a:p>
          <a:p>
            <a:r>
              <a:rPr lang="zh-CN" altLang="en-US"/>
              <a:t>        self.canvas.pack()</a:t>
            </a:r>
            <a:endParaRPr lang="zh-CN" altLang="en-US"/>
          </a:p>
          <a:p>
            <a:r>
              <a:rPr lang="zh-CN" altLang="en-US"/>
              <a:t>        self.setup_ui()</a:t>
            </a:r>
            <a:endParaRPr lang="zh-CN" altLang="en-US"/>
          </a:p>
          <a:p>
            <a:r>
              <a:rPr lang="zh-CN" altLang="en-US"/>
              <a:t>        self.run_game()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58950" y="5722620"/>
            <a:ext cx="1502410" cy="42164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</p:cNvCxnSpPr>
          <p:nvPr/>
        </p:nvCxnSpPr>
        <p:spPr>
          <a:xfrm flipV="1">
            <a:off x="3261360" y="1844040"/>
            <a:ext cx="3909695" cy="4089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841490" y="37045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  def setup_ui(self):</a:t>
            </a:r>
            <a:endParaRPr lang="en-US" altLang="zh-CN"/>
          </a:p>
          <a:p>
            <a:r>
              <a:rPr lang="en-US" altLang="zh-CN"/>
              <a:t>        self.update_ui()</a:t>
            </a:r>
            <a:endParaRPr lang="en-US" altLang="zh-CN"/>
          </a:p>
          <a:p>
            <a:r>
              <a:rPr lang="en-US" altLang="zh-CN"/>
              <a:t>        self.bind("&lt;KeyPress&gt;", self.change_direction)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7318375" y="2691130"/>
            <a:ext cx="1502410" cy="42164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stCxn id="11" idx="2"/>
          </p:cNvCxnSpPr>
          <p:nvPr/>
        </p:nvCxnSpPr>
        <p:spPr>
          <a:xfrm flipH="1">
            <a:off x="7973060" y="3112770"/>
            <a:ext cx="96520" cy="7067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903085" y="52082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    def run_game(self):</a:t>
            </a:r>
            <a:endParaRPr lang="zh-CN" altLang="en-US"/>
          </a:p>
          <a:p>
            <a:r>
              <a:rPr lang="zh-CN" altLang="en-US"/>
              <a:t>        self.move_snake()</a:t>
            </a:r>
            <a:endParaRPr lang="zh-CN" altLang="en-US"/>
          </a:p>
          <a:p>
            <a:r>
              <a:rPr lang="zh-CN" altLang="en-US"/>
              <a:t>        self.after(100, self.run_game)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328535" y="3007360"/>
            <a:ext cx="1502410" cy="42164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肘形连接符 16"/>
          <p:cNvCxnSpPr>
            <a:stCxn id="15" idx="3"/>
            <a:endCxn id="13" idx="3"/>
          </p:cNvCxnSpPr>
          <p:nvPr/>
        </p:nvCxnSpPr>
        <p:spPr>
          <a:xfrm>
            <a:off x="8830945" y="3218180"/>
            <a:ext cx="2136140" cy="2451100"/>
          </a:xfrm>
          <a:prstGeom prst="bentConnector3">
            <a:avLst>
              <a:gd name="adj1" fmla="val 11114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002877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3200" b="1">
                <a:sym typeface="+mn-ea"/>
              </a:rPr>
              <a:t>move_snake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1016000" y="1739900"/>
            <a:ext cx="10287000" cy="452755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960" dirty="0">
              <a:solidFill>
                <a:srgbClr val="38383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10260" y="1619250"/>
            <a:ext cx="877062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    def move_snake(self):</a:t>
            </a:r>
            <a:endParaRPr lang="zh-CN" altLang="en-US" sz="2400"/>
          </a:p>
          <a:p>
            <a:r>
              <a:rPr lang="zh-CN" altLang="en-US" sz="2400"/>
              <a:t>        head_x, head_y = self.snake[0]</a:t>
            </a:r>
            <a:endParaRPr lang="zh-CN" altLang="en-US" sz="2400"/>
          </a:p>
          <a:p>
            <a:r>
              <a:rPr lang="zh-CN" altLang="en-US" sz="2400"/>
              <a:t>        if self.snake_direction == 'Left':</a:t>
            </a:r>
            <a:endParaRPr lang="zh-CN" altLang="en-US" sz="2400"/>
          </a:p>
          <a:p>
            <a:r>
              <a:rPr lang="zh-CN" altLang="en-US" sz="2400"/>
              <a:t>            head_x -= self.cell_size</a:t>
            </a:r>
            <a:endParaRPr lang="zh-CN" altLang="en-US" sz="2400"/>
          </a:p>
          <a:p>
            <a:r>
              <a:rPr lang="zh-CN" altLang="en-US" sz="2400"/>
              <a:t>        elif self.snake_direction == 'Right':</a:t>
            </a:r>
            <a:endParaRPr lang="zh-CN" altLang="en-US" sz="2400"/>
          </a:p>
          <a:p>
            <a:r>
              <a:rPr lang="zh-CN" altLang="en-US" sz="2400"/>
              <a:t>            head_x += self.cell_size</a:t>
            </a:r>
            <a:endParaRPr lang="zh-CN" altLang="en-US" sz="2400"/>
          </a:p>
          <a:p>
            <a:r>
              <a:rPr lang="zh-CN" altLang="en-US" sz="2400"/>
              <a:t>        elif self.snake_direction == 'Up':</a:t>
            </a:r>
            <a:endParaRPr lang="zh-CN" altLang="en-US" sz="2400"/>
          </a:p>
          <a:p>
            <a:r>
              <a:rPr lang="zh-CN" altLang="en-US" sz="2400"/>
              <a:t>            head_y -= self.cell_size</a:t>
            </a:r>
            <a:endParaRPr lang="zh-CN" altLang="en-US" sz="2400"/>
          </a:p>
          <a:p>
            <a:r>
              <a:rPr lang="zh-CN" altLang="en-US" sz="2400"/>
              <a:t>        elif self.snake_direction == 'Down':</a:t>
            </a:r>
            <a:endParaRPr lang="zh-CN" altLang="en-US" sz="2400"/>
          </a:p>
          <a:p>
            <a:r>
              <a:rPr lang="zh-CN" altLang="en-US" sz="2400"/>
              <a:t>            head_y += self.cell_size</a:t>
            </a:r>
            <a:endParaRPr lang="zh-CN" altLang="en-US" sz="2400"/>
          </a:p>
          <a:p>
            <a:r>
              <a:rPr lang="zh-CN" altLang="en-US" sz="2400"/>
              <a:t>        new_head = (head_x, head_y)</a:t>
            </a:r>
            <a:endParaRPr lang="zh-CN" altLang="en-US" sz="2400"/>
          </a:p>
          <a:p>
            <a:r>
              <a:rPr lang="zh-CN" altLang="en-US" sz="2400"/>
              <a:t>        self.snake = [new_head] + self.snake[:-1]</a:t>
            </a:r>
            <a:endParaRPr lang="zh-CN" altLang="en-US" sz="2400"/>
          </a:p>
          <a:p>
            <a:r>
              <a:rPr lang="zh-CN" altLang="en-US" sz="2400"/>
              <a:t>        self.update_ui()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7012940" y="161925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You should also consider the timestep of </a:t>
            </a:r>
            <a:r>
              <a:rPr lang="en-US" altLang="zh-CN" sz="2400">
                <a:solidFill>
                  <a:srgbClr val="FF0000"/>
                </a:solidFill>
              </a:rPr>
              <a:t>eatting food and collision</a:t>
            </a:r>
            <a:r>
              <a:rPr lang="en-US" altLang="zh-CN" sz="2400"/>
              <a:t> in this function.</a:t>
            </a:r>
            <a:endParaRPr lang="en-US" altLang="zh-CN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69104"/>
            <a:ext cx="10847071" cy="736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  <a:sym typeface="+mn-ea"/>
              </a:rPr>
              <a:t>Create food and game over</a:t>
            </a:r>
            <a:endParaRPr lang="en-US" sz="3200" b="1" dirty="0">
              <a:solidFill>
                <a:srgbClr val="2E0158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280" y="1606127"/>
            <a:ext cx="10893213" cy="48539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def create_food(self):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while True: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x = random.randint(0, (self.width//self.cell_size)-1) * self.cell_size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y = random.randint(0, (self.height//self.cell_size)-1) * self.cell_size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food = (x, y)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if food not in self.snake: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        return food</a:t>
            </a:r>
            <a:endParaRPr lang="zh-CN" altLang="en-US" sz="2400"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en-US" sz="24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def game_over(self):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self.canvas.create_text(self.width//2, self.height//2, text="Game Over", fill="white", font=('TkDefaultFont', 24))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r>
              <a:rPr lang="zh-CN" altLang="en-US" sz="2400">
                <a:sym typeface="+mn-ea"/>
              </a:rPr>
              <a:t>        self.unbind("&lt;KeyPress&gt;")</a:t>
            </a:r>
            <a:endParaRPr lang="zh-CN" altLang="en-US" sz="2400"/>
          </a:p>
          <a:p>
            <a:pPr marL="342900" indent="-342900" algn="l" fontAlgn="auto">
              <a:lnSpc>
                <a:spcPct val="100000"/>
              </a:lnSpc>
              <a:buSzPct val="100000"/>
              <a:buChar char="•"/>
            </a:pPr>
            <a:endParaRPr lang="zh-CN" altLang="en-US" sz="2400" dirty="0">
              <a:solidFill>
                <a:schemeClr val="tx1"/>
              </a:solidFill>
              <a:latin typeface="Times New Roman" panose="02020503050405090304" charset="0"/>
              <a:ea typeface="Times New Roman" panose="02020503050405090304" charset="0"/>
              <a:cs typeface="Times New Roman" panose="02020503050405090304" charset="0"/>
              <a:sym typeface="+mn-ea"/>
            </a:endParaRPr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29051" y="2279651"/>
            <a:ext cx="4527551" cy="736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6464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THE END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29051" y="3200400"/>
            <a:ext cx="4527551" cy="137795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E0158"/>
                </a:solidFill>
                <a:latin typeface="Times New Roman" panose="02020503050405090304" charset="0"/>
                <a:ea typeface="Times New Roman" panose="02020503050405090304" charset="0"/>
                <a:cs typeface="Times New Roman" panose="02020503050405090304" charset="0"/>
              </a:rPr>
              <a:t>THANKS</a:t>
            </a:r>
            <a:endParaRPr lang="en-US" sz="6000" dirty="0"/>
          </a:p>
        </p:txBody>
      </p:sp>
      <p:pic>
        <p:nvPicPr>
          <p:cNvPr id="7" name="图片 6" descr="zh-hans_logo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453"/>
            <a:ext cx="5814907" cy="83396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COMMONDATA" val="eyJoZGlkIjoiN2Y5N2YwNjU1YjcxOTZiOGYwOTJhNmQ0MzFjMDI5OW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3086</Words>
  <Application>WPS 演示</Application>
  <PresentationFormat>Widescreen</PresentationFormat>
  <Paragraphs>121</Paragraphs>
  <Slides>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微软雅黑</vt:lpstr>
      <vt:lpstr>WPS</vt:lpstr>
      <vt:lpstr>1_WPS</vt:lpstr>
      <vt:lpstr>2_WPS</vt:lpstr>
      <vt:lpstr>3_WPS</vt:lpstr>
      <vt:lpstr>4_WPS</vt:lpstr>
      <vt:lpstr>6_WPS</vt:lpstr>
      <vt:lpstr>7_WPS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时光追溯</cp:lastModifiedBy>
  <cp:revision>37</cp:revision>
  <dcterms:created xsi:type="dcterms:W3CDTF">2026-04-19T05:13:24Z</dcterms:created>
  <dcterms:modified xsi:type="dcterms:W3CDTF">2026-04-19T05:13:24Z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2052-12.1.23141.23141</vt:lpwstr>
  </property>
</Properties>
</file>