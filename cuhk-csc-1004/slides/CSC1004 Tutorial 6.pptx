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34" r:id="rId5"/>
    <p:sldId id="340" r:id="rId6"/>
    <p:sldId id="346" r:id="rId7"/>
    <p:sldId id="337" r:id="rId8"/>
    <p:sldId id="347" r:id="rId9"/>
    <p:sldId id="343" r:id="rId10"/>
    <p:sldId id="342" r:id="rId11"/>
    <p:sldId id="348" r:id="rId12"/>
    <p:sldId id="344" r:id="rId13"/>
    <p:sldId id="358" r:id="rId14"/>
    <p:sldId id="349" r:id="rId15"/>
    <p:sldId id="353" r:id="rId16"/>
    <p:sldId id="352" r:id="rId17"/>
    <p:sldId id="351" r:id="rId18"/>
    <p:sldId id="350" r:id="rId19"/>
    <p:sldId id="354" r:id="rId20"/>
    <p:sldId id="355" r:id="rId21"/>
    <p:sldId id="357" r:id="rId22"/>
    <p:sldId id="356" r:id="rId23"/>
    <p:sldId id="262" r:id="rId24"/>
  </p:sldIdLst>
  <p:sldSz cx="12192000" cy="6858000"/>
  <p:notesSz cx="6858000" cy="9144000"/>
  <p:custDataLst>
    <p:tags r:id="rId29"/>
  </p:custDataLst>
  <p:defaultTextStyle>
    <a:lvl1pPr marL="0" lvl="0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1pPr>
    <a:lvl2pPr marL="457200" lvl="1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2pPr>
    <a:lvl3pPr marL="914400" lvl="2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3pPr>
    <a:lvl4pPr marL="1371600" lvl="3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4pPr>
    <a:lvl5pPr marL="1828800" lvl="4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5pPr>
    <a:lvl6pPr marL="2286000" lvl="5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6pPr>
    <a:lvl7pPr marL="2743200" lvl="6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7pPr>
    <a:lvl8pPr marL="3200400" lvl="7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8pPr>
    <a:lvl9pPr marL="3657600" lvl="8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x j" initials="z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F59"/>
    <a:srgbClr val="FEFEFE"/>
    <a:srgbClr val="FFDBDB"/>
    <a:srgbClr val="FBFDF8"/>
    <a:srgbClr val="E8F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60"/>
  </p:normalViewPr>
  <p:slideViewPr>
    <p:cSldViewPr>
      <p:cViewPr varScale="1">
        <p:scale>
          <a:sx n="113" d="100"/>
          <a:sy n="113" d="100"/>
        </p:scale>
        <p:origin x="4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1048597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13B20-8BB8-B74B-ADB5-DA5707988F1E}" type="datetimeFigureOut">
              <a:rPr lang="zh-CN" altLang="en-US"/>
            </a:fld>
            <a:endParaRPr kumimoji="1" lang="zh-CN" altLang="en-US"/>
          </a:p>
        </p:txBody>
      </p:sp>
      <p:sp>
        <p:nvSpPr>
          <p:cNvPr id="1048598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599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1048600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1048601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674F-E567-AA4B-8C16-788D7CE21C4F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备注占位符 10485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1"/>
          <p:cNvPicPr>
            <a:picLocks noChangeAspect="1"/>
          </p:cNvPicPr>
          <p:nvPr/>
        </p:nvPicPr>
        <p:blipFill rotWithShape="1">
          <a:blip r:embed="rId2"/>
          <a:srcRect r="2593" b="1375"/>
          <a:stretch>
            <a:fillRect/>
          </a:stretch>
        </p:blipFill>
        <p:spPr>
          <a:xfrm>
            <a:off x="5" y="1"/>
            <a:ext cx="12191996" cy="6858000"/>
          </a:xfrm>
          <a:prstGeom prst="rect">
            <a:avLst/>
          </a:prstGeom>
        </p:spPr>
      </p:pic>
      <p:sp>
        <p:nvSpPr>
          <p:cNvPr id="1048591" name="矩形 16"/>
          <p:cNvSpPr/>
          <p:nvPr/>
        </p:nvSpPr>
        <p:spPr>
          <a:xfrm>
            <a:off x="4" y="2235199"/>
            <a:ext cx="8302166" cy="1571190"/>
          </a:xfrm>
          <a:prstGeom prst="rect">
            <a:avLst/>
          </a:prstGeom>
          <a:solidFill>
            <a:srgbClr val="632E62">
              <a:alpha val="89804"/>
            </a:srgbClr>
          </a:solidFill>
          <a:ln>
            <a:noFill/>
          </a:ln>
        </p:spPr>
        <p:txBody>
          <a:bodyPr anchor="ctr"/>
          <a:lstStyle/>
          <a:p>
            <a:pPr marL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sz="1800" b="0" i="0" u="none" strike="noStrike" kern="1200" spc="0" baseline="0">
              <a:solidFill>
                <a:srgbClr val="FFFFFF"/>
              </a:solidFill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1048592" name="副标题 2"/>
          <p:cNvSpPr>
            <a:spLocks noGrp="1"/>
          </p:cNvSpPr>
          <p:nvPr>
            <p:ph type="subTitle" idx="1"/>
          </p:nvPr>
        </p:nvSpPr>
        <p:spPr>
          <a:xfrm>
            <a:off x="846670" y="4986867"/>
            <a:ext cx="5757334" cy="1364266"/>
          </a:xfrm>
        </p:spPr>
        <p:txBody>
          <a:bodyPr>
            <a:normAutofit/>
          </a:bodyPr>
          <a:lstStyle>
            <a:lvl1pPr marL="0" lvl="0" indent="0" algn="l">
              <a:buNone/>
              <a:defRPr lang="zh-CN" sz="2400" kern="1200">
                <a:solidFill>
                  <a:schemeClr val="tx1"/>
                </a:solidFill>
                <a:latin typeface="Calibri" panose="020F0502020204030204"/>
                <a:ea typeface="楷体" panose="02010609060101010101" charset="-122"/>
              </a:defRPr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pic>
        <p:nvPicPr>
          <p:cNvPr id="2097156" name="Picture 5"/>
          <p:cNvPicPr>
            <a:picLocks noChangeAspect="1"/>
          </p:cNvPicPr>
          <p:nvPr/>
        </p:nvPicPr>
        <p:blipFill rotWithShape="1">
          <a:blip r:embed="rId3"/>
          <a:srcRect l="6961" t="35708" b="36372"/>
          <a:stretch>
            <a:fillRect/>
          </a:stretch>
        </p:blipFill>
        <p:spPr>
          <a:xfrm>
            <a:off x="174170" y="309796"/>
            <a:ext cx="5821347" cy="1204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3" name="标题 1"/>
          <p:cNvSpPr>
            <a:spLocks noGrp="1"/>
          </p:cNvSpPr>
          <p:nvPr>
            <p:ph type="ctrTitle"/>
          </p:nvPr>
        </p:nvSpPr>
        <p:spPr>
          <a:xfrm>
            <a:off x="595085" y="2336800"/>
            <a:ext cx="7707085" cy="1365198"/>
          </a:xfrm>
        </p:spPr>
        <p:txBody>
          <a:bodyPr anchor="ctr">
            <a:normAutofit/>
          </a:bodyPr>
          <a:lstStyle>
            <a:lvl1pPr lvl="0" algn="l">
              <a:defRPr lang="zh-CN" sz="4800" b="1" kern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/>
          <p:cNvPicPr>
            <a:picLocks noChangeAspect="1"/>
          </p:cNvPicPr>
          <p:nvPr/>
        </p:nvPicPr>
        <p:blipFill rotWithShape="1">
          <a:blip r:embed="rId2"/>
          <a:srcRect l="4479" t="45070" r="4189" b="45659"/>
          <a:stretch>
            <a:fillRect/>
          </a:stretch>
        </p:blipFill>
        <p:spPr>
          <a:xfrm>
            <a:off x="0" y="1"/>
            <a:ext cx="12179299" cy="927100"/>
          </a:xfrm>
          <a:prstGeom prst="rect">
            <a:avLst/>
          </a:prstGeom>
        </p:spPr>
      </p:pic>
      <p:sp>
        <p:nvSpPr>
          <p:cNvPr id="1048578" name="Content Placeholder 2"/>
          <p:cNvSpPr>
            <a:spLocks noGrp="1"/>
          </p:cNvSpPr>
          <p:nvPr>
            <p:ph idx="1"/>
          </p:nvPr>
        </p:nvSpPr>
        <p:spPr>
          <a:xfrm>
            <a:off x="724328" y="1320803"/>
            <a:ext cx="10720469" cy="4930769"/>
          </a:xfrm>
        </p:spPr>
        <p:txBody>
          <a:bodyPr>
            <a:normAutofit/>
          </a:bodyPr>
          <a:lstStyle>
            <a:lvl1pPr marL="342900" lvl="0" indent="-3429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lvl="1" indent="-28575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lvl="2" indent="-2286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lvl="3" indent="-2286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lvl="4" indent="-2286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TW"/>
              <a:t>按一下以編輯母片文字樣式</a:t>
            </a:r>
            <a:endParaRPr lang="zh-TW"/>
          </a:p>
          <a:p>
            <a:pPr lvl="1"/>
            <a:r>
              <a:rPr lang="zh-TW"/>
              <a:t>第二層</a:t>
            </a:r>
            <a:endParaRPr lang="zh-TW"/>
          </a:p>
          <a:p>
            <a:pPr lvl="2"/>
            <a:r>
              <a:rPr lang="zh-TW"/>
              <a:t>第三層</a:t>
            </a:r>
            <a:endParaRPr lang="zh-TW"/>
          </a:p>
          <a:p>
            <a:pPr lvl="3"/>
            <a:r>
              <a:rPr lang="zh-TW"/>
              <a:t>第四層</a:t>
            </a:r>
            <a:endParaRPr lang="zh-TW"/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1048579" name="矩形 16"/>
          <p:cNvSpPr/>
          <p:nvPr/>
        </p:nvSpPr>
        <p:spPr>
          <a:xfrm>
            <a:off x="0" y="932"/>
            <a:ext cx="12192000" cy="949360"/>
          </a:xfrm>
          <a:prstGeom prst="rect">
            <a:avLst/>
          </a:prstGeom>
          <a:solidFill>
            <a:srgbClr val="632E62">
              <a:alpha val="89804"/>
            </a:srgbClr>
          </a:solidFill>
          <a:ln>
            <a:noFill/>
          </a:ln>
        </p:spPr>
        <p:txBody>
          <a:bodyPr anchor="ctr"/>
          <a:lstStyle/>
          <a:p>
            <a:pPr marL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sz="1800" b="0" i="0" u="none" strike="noStrike" kern="1200" spc="0" baseline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097153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320" y="84549"/>
            <a:ext cx="3432584" cy="770458"/>
          </a:xfrm>
          <a:prstGeom prst="rect">
            <a:avLst/>
          </a:prstGeom>
        </p:spPr>
      </p:pic>
      <p:sp>
        <p:nvSpPr>
          <p:cNvPr id="1048580" name="Title 1"/>
          <p:cNvSpPr>
            <a:spLocks noGrp="1"/>
          </p:cNvSpPr>
          <p:nvPr>
            <p:ph type="title"/>
          </p:nvPr>
        </p:nvSpPr>
        <p:spPr>
          <a:xfrm>
            <a:off x="724328" y="51841"/>
            <a:ext cx="7884064" cy="835874"/>
          </a:xfrm>
        </p:spPr>
        <p:txBody>
          <a:bodyPr anchor="ctr">
            <a:normAutofit/>
          </a:bodyPr>
          <a:lstStyle>
            <a:lvl1pPr lvl="0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TW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4400" dirty="0">
                <a:latin typeface="Calibri" panose="020F0502020204030204"/>
              </a:rPr>
              <a:t>CSC1004 Tutorial 6</a:t>
            </a:r>
            <a:br>
              <a:rPr lang="en-US" altLang="zh-CN" sz="3600">
                <a:latin typeface="Calibri" panose="020F0502020204030204"/>
              </a:rPr>
            </a:br>
            <a:r>
              <a:rPr lang="en-US" altLang="zh-CN" sz="3600">
                <a:latin typeface="Calibri" panose="020F0502020204030204"/>
              </a:rPr>
              <a:t>Ruixing Jin</a:t>
            </a:r>
            <a:endParaRPr lang="en-US" altLang="zh-CN" sz="360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/>
          <p:cNvSpPr>
            <a:spLocks noGrp="1"/>
          </p:cNvSpPr>
          <p:nvPr>
            <p:ph type="title"/>
          </p:nvPr>
        </p:nvSpPr>
        <p:spPr>
          <a:xfrm>
            <a:off x="236484" y="68717"/>
            <a:ext cx="7884064" cy="835874"/>
          </a:xfrm>
        </p:spPr>
        <p:txBody>
          <a:bodyPr>
            <a:normAutofit/>
          </a:bodyPr>
          <a:lstStyle/>
          <a:p>
            <a:r>
              <a:rPr lang="en-US" altLang="zh-CN" sz="4000" dirty="0" err="1"/>
              <a:t>Gomoku</a:t>
            </a:r>
            <a:r>
              <a:rPr lang="en-US" altLang="zh-CN" sz="4000" dirty="0"/>
              <a:t> Game (Recall)</a:t>
            </a:r>
            <a:endParaRPr lang="zh-CN" sz="4000" dirty="0"/>
          </a:p>
        </p:txBody>
      </p:sp>
      <p:grpSp>
        <p:nvGrpSpPr>
          <p:cNvPr id="1048602" name="组合 1048601"/>
          <p:cNvGrpSpPr/>
          <p:nvPr/>
        </p:nvGrpSpPr>
        <p:grpSpPr>
          <a:xfrm>
            <a:off x="3796364" y="1498552"/>
            <a:ext cx="4731335" cy="4777835"/>
            <a:chOff x="3796364" y="1498552"/>
            <a:chExt cx="4731335" cy="4777835"/>
          </a:xfrm>
        </p:grpSpPr>
        <p:grpSp>
          <p:nvGrpSpPr>
            <p:cNvPr id="5" name="组合 4"/>
            <p:cNvGrpSpPr/>
            <p:nvPr/>
          </p:nvGrpSpPr>
          <p:grpSpPr>
            <a:xfrm>
              <a:off x="3897566" y="1980335"/>
              <a:ext cx="2409498" cy="1368152"/>
              <a:chOff x="724328" y="2044266"/>
              <a:chExt cx="2409498" cy="1368152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24328" y="2044266"/>
                <a:ext cx="2409498" cy="1368152"/>
              </a:xfrm>
              <a:prstGeom prst="rect">
                <a:avLst/>
              </a:prstGeom>
            </p:spPr>
          </p:pic>
          <p:sp>
            <p:nvSpPr>
              <p:cNvPr id="4" name="矩形 3"/>
              <p:cNvSpPr/>
              <p:nvPr/>
            </p:nvSpPr>
            <p:spPr>
              <a:xfrm>
                <a:off x="1147194" y="2708920"/>
                <a:ext cx="1728192" cy="34061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796364" y="3708527"/>
              <a:ext cx="2029528" cy="2016224"/>
              <a:chOff x="719995" y="3501008"/>
              <a:chExt cx="2029528" cy="2016224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9416" y="3501008"/>
                <a:ext cx="1910107" cy="2016224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 rot="2641072">
                <a:off x="719995" y="4449729"/>
                <a:ext cx="1972671" cy="30216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6729930" y="1980335"/>
              <a:ext cx="1355246" cy="2434304"/>
              <a:chOff x="3719736" y="1858792"/>
              <a:chExt cx="2009775" cy="3609975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9736" y="1858792"/>
                <a:ext cx="2009775" cy="3609975"/>
              </a:xfrm>
              <a:prstGeom prst="rect">
                <a:avLst/>
              </a:prstGeom>
            </p:spPr>
          </p:pic>
          <p:sp>
            <p:nvSpPr>
              <p:cNvPr id="15" name="矩形 14"/>
              <p:cNvSpPr/>
              <p:nvPr/>
            </p:nvSpPr>
            <p:spPr>
              <a:xfrm rot="5400000">
                <a:off x="2999655" y="3356995"/>
                <a:ext cx="2880321" cy="57606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9" name="直接连接符 18"/>
            <p:cNvCxnSpPr>
              <a:stCxn id="8" idx="0"/>
            </p:cNvCxnSpPr>
            <p:nvPr/>
          </p:nvCxnSpPr>
          <p:spPr>
            <a:xfrm>
              <a:off x="4887686" y="4699684"/>
              <a:ext cx="1616054" cy="521011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4" idx="2"/>
            </p:cNvCxnSpPr>
            <p:nvPr/>
          </p:nvCxnSpPr>
          <p:spPr>
            <a:xfrm>
              <a:off x="5184528" y="2985607"/>
              <a:ext cx="1642516" cy="2019064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15" idx="3"/>
            </p:cNvCxnSpPr>
            <p:nvPr/>
          </p:nvCxnSpPr>
          <p:spPr>
            <a:xfrm>
              <a:off x="7215500" y="4155982"/>
              <a:ext cx="0" cy="848689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4217646" y="3307912"/>
              <a:ext cx="13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Horizontally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129507" y="5686120"/>
              <a:ext cx="1141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diagonally</a:t>
              </a:r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232106" y="4389349"/>
              <a:ext cx="1028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vertically</a:t>
              </a:r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516251" y="4995191"/>
              <a:ext cx="20114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u="sng" dirty="0"/>
                <a:t>Five stones</a:t>
              </a:r>
              <a:r>
                <a:rPr lang="en-US" altLang="zh-CN" dirty="0"/>
                <a:t> in a line</a:t>
              </a:r>
              <a:endParaRPr lang="zh-CN" altLang="en-US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719764" y="550872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Gomo</a:t>
              </a:r>
              <a:endParaRPr lang="zh-CN" altLang="en-US" dirty="0"/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6863780" y="5292703"/>
              <a:ext cx="0" cy="3096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6933681" y="5810844"/>
              <a:ext cx="62490" cy="1342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7274490" y="5299740"/>
              <a:ext cx="0" cy="3528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7200497" y="5810844"/>
              <a:ext cx="85740" cy="1342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6575748" y="5089378"/>
              <a:ext cx="420423" cy="2160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7016179" y="5089487"/>
              <a:ext cx="639685" cy="2160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764952" y="590705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五目</a:t>
              </a:r>
              <a:endParaRPr lang="zh-CN" altLang="en-US" dirty="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067504" y="1498552"/>
              <a:ext cx="3962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One Player Wins (Black in This Example)</a:t>
              </a:r>
              <a:endParaRPr lang="zh-CN" altLang="en-US" b="1" dirty="0"/>
            </a:p>
          </p:txBody>
        </p:sp>
      </p:grpSp>
      <p:grpSp>
        <p:nvGrpSpPr>
          <p:cNvPr id="1048603" name="组合 1048602"/>
          <p:cNvGrpSpPr/>
          <p:nvPr/>
        </p:nvGrpSpPr>
        <p:grpSpPr>
          <a:xfrm>
            <a:off x="8721203" y="1484784"/>
            <a:ext cx="2600570" cy="2671198"/>
            <a:chOff x="8721203" y="1484784"/>
            <a:chExt cx="2600570" cy="2671198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89214" y="1954599"/>
              <a:ext cx="1515475" cy="1530731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8721203" y="1484784"/>
              <a:ext cx="2337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A Draw (No One Wins)</a:t>
              </a:r>
              <a:endParaRPr lang="zh-CN" altLang="en-US" b="1" dirty="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0528914" y="2071214"/>
              <a:ext cx="792859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(e.g. we</a:t>
              </a:r>
              <a:endParaRPr lang="en-US" altLang="zh-CN" sz="1100" dirty="0"/>
            </a:p>
            <a:p>
              <a:r>
                <a:rPr lang="en-US" altLang="zh-CN" sz="1100" dirty="0"/>
                <a:t>suppose</a:t>
              </a:r>
              <a:endParaRPr lang="en-US" altLang="zh-CN" sz="1100" dirty="0"/>
            </a:p>
            <a:p>
              <a:r>
                <a:rPr lang="en-US" altLang="zh-CN" sz="1100" dirty="0"/>
                <a:t>the board</a:t>
              </a:r>
              <a:endParaRPr lang="en-US" altLang="zh-CN" sz="1100" dirty="0"/>
            </a:p>
            <a:p>
              <a:r>
                <a:rPr lang="en-US" altLang="zh-CN" sz="1100" dirty="0"/>
                <a:t>is scaled </a:t>
              </a:r>
              <a:endParaRPr lang="en-US" altLang="zh-CN" sz="1100" dirty="0"/>
            </a:p>
            <a:p>
              <a:r>
                <a:rPr lang="en-US" altLang="zh-CN" sz="1100" dirty="0"/>
                <a:t>down</a:t>
              </a:r>
              <a:endParaRPr lang="en-US" altLang="zh-CN" sz="1100" dirty="0"/>
            </a:p>
            <a:p>
              <a:r>
                <a:rPr lang="en-US" altLang="zh-CN" sz="1100" dirty="0"/>
                <a:t>to be</a:t>
              </a:r>
              <a:endParaRPr lang="en-US" altLang="zh-CN" sz="1100" dirty="0"/>
            </a:p>
            <a:p>
              <a:r>
                <a:rPr lang="en-US" altLang="zh-CN" sz="1100" dirty="0"/>
                <a:t>5×5)</a:t>
              </a:r>
              <a:endParaRPr lang="zh-CN" altLang="en-US" sz="1100" dirty="0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8872688" y="3509651"/>
              <a:ext cx="20778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All positions for stones (chess)</a:t>
              </a:r>
              <a:endParaRPr lang="en-US" altLang="zh-CN" sz="1200" dirty="0"/>
            </a:p>
            <a:p>
              <a:r>
                <a:rPr lang="en-US" altLang="zh-CN" sz="1200" dirty="0"/>
                <a:t>are taken without reaching</a:t>
              </a:r>
              <a:endParaRPr lang="en-US" altLang="zh-CN" sz="1200" dirty="0"/>
            </a:p>
            <a:p>
              <a:r>
                <a:rPr lang="en-US" altLang="zh-CN" sz="1200" dirty="0"/>
                <a:t>the winning condition.</a:t>
              </a:r>
              <a:endParaRPr lang="zh-CN" altLang="en-US" sz="1200" dirty="0"/>
            </a:p>
          </p:txBody>
        </p:sp>
      </p:grpSp>
      <p:grpSp>
        <p:nvGrpSpPr>
          <p:cNvPr id="1048600" name="组合 1048599"/>
          <p:cNvGrpSpPr/>
          <p:nvPr/>
        </p:nvGrpSpPr>
        <p:grpSpPr>
          <a:xfrm>
            <a:off x="839416" y="1498552"/>
            <a:ext cx="2334588" cy="2307621"/>
            <a:chOff x="839416" y="1498552"/>
            <a:chExt cx="2334588" cy="2307621"/>
          </a:xfrm>
        </p:grpSpPr>
        <p:pic>
          <p:nvPicPr>
            <p:cNvPr id="1048576" name="图片 104857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9416" y="1981937"/>
              <a:ext cx="2334588" cy="1824236"/>
            </a:xfrm>
            <a:prstGeom prst="rect">
              <a:avLst/>
            </a:prstGeom>
          </p:spPr>
        </p:pic>
        <p:sp>
          <p:nvSpPr>
            <p:cNvPr id="1048577" name="文本框 1048576"/>
            <p:cNvSpPr txBox="1"/>
            <p:nvPr/>
          </p:nvSpPr>
          <p:spPr>
            <a:xfrm>
              <a:off x="839416" y="1498552"/>
              <a:ext cx="2156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15</a:t>
              </a:r>
              <a:r>
                <a:rPr lang="en-US" altLang="zh-CN" sz="1800" b="1" dirty="0"/>
                <a:t>×15 Chess Board</a:t>
              </a:r>
              <a:r>
                <a:rPr lang="en-US" altLang="zh-CN" b="1" dirty="0"/>
                <a:t> </a:t>
              </a:r>
              <a:endParaRPr lang="zh-CN" altLang="en-US" b="1" dirty="0"/>
            </a:p>
          </p:txBody>
        </p:sp>
      </p:grpSp>
      <p:grpSp>
        <p:nvGrpSpPr>
          <p:cNvPr id="1048606" name="组合 1048605"/>
          <p:cNvGrpSpPr/>
          <p:nvPr/>
        </p:nvGrpSpPr>
        <p:grpSpPr>
          <a:xfrm>
            <a:off x="8730949" y="4210994"/>
            <a:ext cx="2996827" cy="2021371"/>
            <a:chOff x="8730949" y="4210994"/>
            <a:chExt cx="2996827" cy="2021371"/>
          </a:xfrm>
        </p:grpSpPr>
        <p:pic>
          <p:nvPicPr>
            <p:cNvPr id="1048593" name="图片 10485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0824" y="4901668"/>
              <a:ext cx="1027321" cy="1058770"/>
            </a:xfrm>
            <a:prstGeom prst="rect">
              <a:avLst/>
            </a:prstGeom>
          </p:spPr>
        </p:pic>
        <p:sp>
          <p:nvSpPr>
            <p:cNvPr id="1048586" name="箭头: 下 1048585"/>
            <p:cNvSpPr/>
            <p:nvPr/>
          </p:nvSpPr>
          <p:spPr>
            <a:xfrm>
              <a:off x="9332477" y="5000727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88" name="文本框 1048587"/>
            <p:cNvSpPr txBox="1"/>
            <p:nvPr/>
          </p:nvSpPr>
          <p:spPr>
            <a:xfrm>
              <a:off x="8730949" y="4616964"/>
              <a:ext cx="14130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Already Placed</a:t>
              </a:r>
              <a:endParaRPr lang="zh-CN" altLang="en-US" sz="1600" dirty="0"/>
            </a:p>
          </p:txBody>
        </p:sp>
        <p:sp>
          <p:nvSpPr>
            <p:cNvPr id="1048591" name="文本框 1048590"/>
            <p:cNvSpPr txBox="1"/>
            <p:nvPr/>
          </p:nvSpPr>
          <p:spPr>
            <a:xfrm>
              <a:off x="8771394" y="4210994"/>
              <a:ext cx="1266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No Overlap</a:t>
              </a:r>
              <a:endParaRPr lang="zh-CN" altLang="en-US" b="1" dirty="0"/>
            </a:p>
          </p:txBody>
        </p:sp>
        <p:sp>
          <p:nvSpPr>
            <p:cNvPr id="1048594" name="箭头: 上弧形 1048593"/>
            <p:cNvSpPr/>
            <p:nvPr/>
          </p:nvSpPr>
          <p:spPr>
            <a:xfrm flipH="1">
              <a:off x="9532963" y="5074678"/>
              <a:ext cx="441653" cy="210358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48595" name="椭圆 1048594"/>
            <p:cNvSpPr/>
            <p:nvPr/>
          </p:nvSpPr>
          <p:spPr>
            <a:xfrm>
              <a:off x="9853219" y="5318960"/>
              <a:ext cx="242794" cy="242794"/>
            </a:xfrm>
            <a:prstGeom prst="ellipse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6" name="乘号 1048595"/>
            <p:cNvSpPr/>
            <p:nvPr/>
          </p:nvSpPr>
          <p:spPr>
            <a:xfrm>
              <a:off x="9646153" y="4970478"/>
              <a:ext cx="237799" cy="237799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7" name="文本框 1048596"/>
            <p:cNvSpPr txBox="1"/>
            <p:nvPr/>
          </p:nvSpPr>
          <p:spPr>
            <a:xfrm>
              <a:off x="10200498" y="4662705"/>
              <a:ext cx="1527278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It’s not allowed</a:t>
              </a:r>
              <a:endParaRPr lang="en-US" altLang="zh-CN" sz="1200" dirty="0"/>
            </a:p>
            <a:p>
              <a:r>
                <a:rPr lang="en-US" altLang="zh-CN" sz="1200" dirty="0"/>
                <a:t>to place a stone</a:t>
              </a:r>
              <a:endParaRPr lang="en-US" altLang="zh-CN" sz="1200" dirty="0"/>
            </a:p>
            <a:p>
              <a:r>
                <a:rPr lang="en-US" altLang="zh-CN" sz="1200" dirty="0"/>
                <a:t>on some existing</a:t>
              </a:r>
              <a:endParaRPr lang="en-US" altLang="zh-CN" sz="1200" dirty="0"/>
            </a:p>
            <a:p>
              <a:r>
                <a:rPr lang="en-US" altLang="zh-CN" sz="1200" dirty="0"/>
                <a:t>stone.</a:t>
              </a:r>
              <a:endParaRPr lang="en-US" altLang="zh-CN" sz="1200" dirty="0"/>
            </a:p>
            <a:p>
              <a:endParaRPr lang="en-US" altLang="zh-CN" sz="1200" dirty="0"/>
            </a:p>
            <a:p>
              <a:r>
                <a:rPr lang="en-US" altLang="zh-CN" sz="1200" dirty="0"/>
                <a:t>(Also, it’s not allowed</a:t>
              </a:r>
              <a:endParaRPr lang="en-US" altLang="zh-CN" sz="1200" dirty="0"/>
            </a:p>
            <a:p>
              <a:r>
                <a:rPr lang="en-US" altLang="zh-CN" sz="1200" dirty="0"/>
                <a:t>to place any stone</a:t>
              </a:r>
              <a:endParaRPr lang="en-US" altLang="zh-CN" sz="1200" dirty="0"/>
            </a:p>
            <a:p>
              <a:r>
                <a:rPr lang="en-US" altLang="zh-CN" sz="1200" dirty="0"/>
                <a:t>If the game is over)</a:t>
              </a:r>
              <a:endParaRPr lang="zh-CN" altLang="en-US" sz="1200" dirty="0"/>
            </a:p>
          </p:txBody>
        </p:sp>
      </p:grpSp>
      <p:grpSp>
        <p:nvGrpSpPr>
          <p:cNvPr id="1048607" name="组合 1048606"/>
          <p:cNvGrpSpPr/>
          <p:nvPr/>
        </p:nvGrpSpPr>
        <p:grpSpPr>
          <a:xfrm>
            <a:off x="5551249" y="979941"/>
            <a:ext cx="4526690" cy="502681"/>
            <a:chOff x="5551249" y="979941"/>
            <a:chExt cx="4526690" cy="502681"/>
          </a:xfrm>
        </p:grpSpPr>
        <p:sp>
          <p:nvSpPr>
            <p:cNvPr id="1048598" name="左大括号 1048597"/>
            <p:cNvSpPr/>
            <p:nvPr/>
          </p:nvSpPr>
          <p:spPr>
            <a:xfrm rot="5400000">
              <a:off x="7724253" y="-871063"/>
              <a:ext cx="180681" cy="452669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9" name="文本框 1048598"/>
            <p:cNvSpPr txBox="1"/>
            <p:nvPr/>
          </p:nvSpPr>
          <p:spPr>
            <a:xfrm>
              <a:off x="7274490" y="979941"/>
              <a:ext cx="1243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Game Over</a:t>
              </a:r>
              <a:endParaRPr lang="zh-CN" altLang="en-US" dirty="0"/>
            </a:p>
          </p:txBody>
        </p:sp>
      </p:grpSp>
      <p:grpSp>
        <p:nvGrpSpPr>
          <p:cNvPr id="1048605" name="组合 1048604"/>
          <p:cNvGrpSpPr/>
          <p:nvPr/>
        </p:nvGrpSpPr>
        <p:grpSpPr>
          <a:xfrm>
            <a:off x="843532" y="3894916"/>
            <a:ext cx="2731249" cy="2486412"/>
            <a:chOff x="843532" y="3894916"/>
            <a:chExt cx="2731249" cy="2486412"/>
          </a:xfrm>
        </p:grpSpPr>
        <p:pic>
          <p:nvPicPr>
            <p:cNvPr id="1048579" name="图片 10485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3652" y="4576870"/>
              <a:ext cx="1417040" cy="1346482"/>
            </a:xfrm>
            <a:prstGeom prst="rect">
              <a:avLst/>
            </a:prstGeom>
          </p:spPr>
        </p:pic>
        <p:sp>
          <p:nvSpPr>
            <p:cNvPr id="1048580" name="箭头: 下 1048579"/>
            <p:cNvSpPr/>
            <p:nvPr/>
          </p:nvSpPr>
          <p:spPr>
            <a:xfrm>
              <a:off x="1445060" y="4648470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81" name="箭头: 下 1048580"/>
            <p:cNvSpPr/>
            <p:nvPr/>
          </p:nvSpPr>
          <p:spPr>
            <a:xfrm rot="2724509">
              <a:off x="2000671" y="5096896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82" name="文本框 1048581"/>
            <p:cNvSpPr txBox="1"/>
            <p:nvPr/>
          </p:nvSpPr>
          <p:spPr>
            <a:xfrm>
              <a:off x="843532" y="4264707"/>
              <a:ext cx="17563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Player 1, place first</a:t>
              </a:r>
              <a:endParaRPr lang="zh-CN" altLang="en-US" sz="1600" dirty="0"/>
            </a:p>
          </p:txBody>
        </p:sp>
        <p:sp>
          <p:nvSpPr>
            <p:cNvPr id="1048583" name="文本框 1048582"/>
            <p:cNvSpPr txBox="1"/>
            <p:nvPr/>
          </p:nvSpPr>
          <p:spPr>
            <a:xfrm>
              <a:off x="2219313" y="4755142"/>
              <a:ext cx="10558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Player 2,</a:t>
              </a:r>
              <a:endParaRPr lang="en-US" altLang="zh-CN" sz="1600" dirty="0"/>
            </a:p>
            <a:p>
              <a:r>
                <a:rPr lang="en-US" altLang="zh-CN" sz="1600" dirty="0"/>
                <a:t>place later</a:t>
              </a:r>
              <a:endParaRPr lang="zh-CN" altLang="en-US" sz="1600" dirty="0"/>
            </a:p>
          </p:txBody>
        </p:sp>
        <p:sp>
          <p:nvSpPr>
            <p:cNvPr id="1048584" name="文本框 1048583"/>
            <p:cNvSpPr txBox="1"/>
            <p:nvPr/>
          </p:nvSpPr>
          <p:spPr>
            <a:xfrm>
              <a:off x="1070344" y="3894916"/>
              <a:ext cx="1694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Black Plays First</a:t>
              </a:r>
              <a:endParaRPr lang="zh-CN" altLang="en-US" b="1" dirty="0"/>
            </a:p>
          </p:txBody>
        </p:sp>
        <p:sp>
          <p:nvSpPr>
            <p:cNvPr id="1048604" name="文本框 1048603"/>
            <p:cNvSpPr txBox="1"/>
            <p:nvPr/>
          </p:nvSpPr>
          <p:spPr>
            <a:xfrm>
              <a:off x="911424" y="5734997"/>
              <a:ext cx="26633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200" dirty="0"/>
            </a:p>
            <a:p>
              <a:r>
                <a:rPr lang="en-US" altLang="zh-CN" sz="1200" dirty="0"/>
                <a:t>(and the stones should be placed on the intersection of the lines of the board)</a:t>
              </a:r>
              <a:endParaRPr lang="zh-CN" altLang="en-US" sz="1200" dirty="0"/>
            </a:p>
          </p:txBody>
        </p:sp>
      </p:grpSp>
      <p:sp>
        <p:nvSpPr>
          <p:cNvPr id="2" name="椭圆 1"/>
          <p:cNvSpPr/>
          <p:nvPr/>
        </p:nvSpPr>
        <p:spPr>
          <a:xfrm>
            <a:off x="9624695" y="2591435"/>
            <a:ext cx="259080" cy="2476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624695" y="2894965"/>
            <a:ext cx="259080" cy="2476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/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Class Design &amp; Control Flow (Recall)</a:t>
            </a:r>
            <a:endParaRPr lang="zh-CN" sz="32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858" y="2054148"/>
            <a:ext cx="5121885" cy="328520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096000" y="1484784"/>
            <a:ext cx="5907085" cy="4032448"/>
            <a:chOff x="2783632" y="1124744"/>
            <a:chExt cx="8016757" cy="5472607"/>
          </a:xfrm>
        </p:grpSpPr>
        <p:grpSp>
          <p:nvGrpSpPr>
            <p:cNvPr id="4" name="组合 3"/>
            <p:cNvGrpSpPr/>
            <p:nvPr/>
          </p:nvGrpSpPr>
          <p:grpSpPr>
            <a:xfrm>
              <a:off x="3575720" y="1124744"/>
              <a:ext cx="2160240" cy="736643"/>
              <a:chOff x="4872631" y="1036173"/>
              <a:chExt cx="2160240" cy="736643"/>
            </a:xfrm>
          </p:grpSpPr>
          <p:sp>
            <p:nvSpPr>
              <p:cNvPr id="45" name="Rounded Rectangle 3"/>
              <p:cNvSpPr/>
              <p:nvPr/>
            </p:nvSpPr>
            <p:spPr>
              <a:xfrm>
                <a:off x="4872631" y="1052736"/>
                <a:ext cx="2160240" cy="720080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6" name="TextBox 4"/>
              <p:cNvSpPr txBox="1"/>
              <p:nvPr/>
            </p:nvSpPr>
            <p:spPr>
              <a:xfrm>
                <a:off x="4974396" y="1036173"/>
                <a:ext cx="1950077" cy="710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Class</a:t>
                </a:r>
                <a:r>
                  <a:rPr lang="zh-CN" altLang="en-US" sz="1400" dirty="0"/>
                  <a:t> </a:t>
                </a:r>
                <a:r>
                  <a:rPr lang="en-US" sz="1400" dirty="0" err="1"/>
                  <a:t>GomokuGame</a:t>
                </a:r>
                <a:endParaRPr lang="en-US" sz="1400" dirty="0"/>
              </a:p>
            </p:txBody>
          </p:sp>
        </p:grpSp>
        <p:cxnSp>
          <p:nvCxnSpPr>
            <p:cNvPr id="5" name="Straight Arrow Connector 14"/>
            <p:cNvCxnSpPr>
              <a:stCxn id="43" idx="2"/>
              <a:endCxn id="41" idx="0"/>
            </p:cNvCxnSpPr>
            <p:nvPr/>
          </p:nvCxnSpPr>
          <p:spPr>
            <a:xfrm flipH="1">
              <a:off x="4652523" y="3046843"/>
              <a:ext cx="2" cy="45187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>
              <a:off x="3572405" y="2326763"/>
              <a:ext cx="2160240" cy="720080"/>
              <a:chOff x="4869316" y="2238192"/>
              <a:chExt cx="2160240" cy="720080"/>
            </a:xfrm>
          </p:grpSpPr>
          <p:sp>
            <p:nvSpPr>
              <p:cNvPr id="43" name="Rounded Rectangle 17"/>
              <p:cNvSpPr/>
              <p:nvPr/>
            </p:nvSpPr>
            <p:spPr>
              <a:xfrm>
                <a:off x="4869316" y="2238192"/>
                <a:ext cx="2160240" cy="720080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4" name="TextBox 18"/>
              <p:cNvSpPr txBox="1"/>
              <p:nvPr/>
            </p:nvSpPr>
            <p:spPr>
              <a:xfrm>
                <a:off x="5189836" y="2413566"/>
                <a:ext cx="1377528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Constructor()</a:t>
                </a:r>
                <a:endParaRPr lang="en-US" sz="1200" dirty="0">
                  <a:solidFill>
                    <a:srgbClr val="0070C0"/>
                  </a:solidFill>
                  <a:effectLst/>
                </a:endParaRPr>
              </a:p>
            </p:txBody>
          </p:sp>
        </p:grpSp>
        <p:cxnSp>
          <p:nvCxnSpPr>
            <p:cNvPr id="8" name="Straight Arrow Connector 21"/>
            <p:cNvCxnSpPr>
              <a:stCxn id="45" idx="2"/>
              <a:endCxn id="43" idx="0"/>
            </p:cNvCxnSpPr>
            <p:nvPr/>
          </p:nvCxnSpPr>
          <p:spPr>
            <a:xfrm flipH="1">
              <a:off x="4652525" y="1861387"/>
              <a:ext cx="3315" cy="4653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3752424" y="3498717"/>
              <a:ext cx="1800198" cy="811189"/>
              <a:chOff x="3752424" y="3498717"/>
              <a:chExt cx="1800198" cy="811189"/>
            </a:xfrm>
          </p:grpSpPr>
          <p:sp>
            <p:nvSpPr>
              <p:cNvPr id="41" name="流程图: 决策 40"/>
              <p:cNvSpPr/>
              <p:nvPr/>
            </p:nvSpPr>
            <p:spPr>
              <a:xfrm>
                <a:off x="3752424" y="3498717"/>
                <a:ext cx="1800198" cy="811189"/>
              </a:xfrm>
              <a:prstGeom prst="flowChartDecision">
                <a:avLst/>
              </a:prstGeom>
              <a:noFill/>
              <a:ln w="28575">
                <a:solidFill>
                  <a:srgbClr val="223F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42" name="TextBox 18"/>
              <p:cNvSpPr txBox="1"/>
              <p:nvPr/>
            </p:nvSpPr>
            <p:spPr>
              <a:xfrm>
                <a:off x="4024049" y="3657189"/>
                <a:ext cx="1219326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>
                    <a:effectLst/>
                  </a:rPr>
                  <a:t>gameOver</a:t>
                </a:r>
                <a:r>
                  <a:rPr lang="en-US" sz="1200" dirty="0">
                    <a:effectLst/>
                  </a:rPr>
                  <a:t>?</a:t>
                </a:r>
                <a:endParaRPr lang="en-US" sz="1200" dirty="0">
                  <a:effectLst/>
                </a:endParaRPr>
              </a:p>
            </p:txBody>
          </p:sp>
        </p:grpSp>
        <p:cxnSp>
          <p:nvCxnSpPr>
            <p:cNvPr id="10" name="Straight Arrow Connector 14"/>
            <p:cNvCxnSpPr/>
            <p:nvPr/>
          </p:nvCxnSpPr>
          <p:spPr>
            <a:xfrm>
              <a:off x="4652522" y="4334480"/>
              <a:ext cx="1" cy="32671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5372605" y="1907540"/>
              <a:ext cx="5427784" cy="375927"/>
              <a:chOff x="5372605" y="1907540"/>
              <a:chExt cx="5427784" cy="375927"/>
            </a:xfrm>
          </p:grpSpPr>
          <p:cxnSp>
            <p:nvCxnSpPr>
              <p:cNvPr id="39" name="直接箭头连接符 38"/>
              <p:cNvCxnSpPr/>
              <p:nvPr/>
            </p:nvCxnSpPr>
            <p:spPr>
              <a:xfrm flipH="1">
                <a:off x="5372605" y="2094075"/>
                <a:ext cx="72008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/>
              <p:cNvSpPr txBox="1"/>
              <p:nvPr/>
            </p:nvSpPr>
            <p:spPr>
              <a:xfrm>
                <a:off x="6092685" y="1907540"/>
                <a:ext cx="4707704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The main() function of Main class holds one instance</a:t>
                </a:r>
                <a:endParaRPr lang="zh-CN" altLang="en-US" sz="1200" dirty="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409475" y="2945363"/>
              <a:ext cx="4283821" cy="375927"/>
              <a:chOff x="5409475" y="2945363"/>
              <a:chExt cx="4283821" cy="375927"/>
            </a:xfrm>
          </p:grpSpPr>
          <p:cxnSp>
            <p:nvCxnSpPr>
              <p:cNvPr id="37" name="直接箭头连接符 36"/>
              <p:cNvCxnSpPr/>
              <p:nvPr/>
            </p:nvCxnSpPr>
            <p:spPr>
              <a:xfrm flipH="1">
                <a:off x="5409475" y="3140968"/>
                <a:ext cx="72008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文本框 37"/>
              <p:cNvSpPr txBox="1"/>
              <p:nvPr/>
            </p:nvSpPr>
            <p:spPr>
              <a:xfrm>
                <a:off x="6109719" y="2945363"/>
                <a:ext cx="3583577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Call the play() function to start the loop</a:t>
                </a:r>
                <a:endParaRPr lang="zh-CN" altLang="en-US" sz="1200" dirty="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173769" y="4685934"/>
              <a:ext cx="943994" cy="432045"/>
              <a:chOff x="7498305" y="4445169"/>
              <a:chExt cx="943994" cy="432045"/>
            </a:xfrm>
          </p:grpSpPr>
          <p:sp>
            <p:nvSpPr>
              <p:cNvPr id="35" name="Rounded Rectangle 17"/>
              <p:cNvSpPr/>
              <p:nvPr/>
            </p:nvSpPr>
            <p:spPr>
              <a:xfrm>
                <a:off x="7509681" y="4445169"/>
                <a:ext cx="890576" cy="432045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36" name="TextBox 18"/>
              <p:cNvSpPr txBox="1"/>
              <p:nvPr/>
            </p:nvSpPr>
            <p:spPr>
              <a:xfrm>
                <a:off x="7498305" y="4476524"/>
                <a:ext cx="943994" cy="375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render()</a:t>
                </a:r>
                <a:endParaRPr lang="en-US" sz="1200" dirty="0">
                  <a:solidFill>
                    <a:srgbClr val="0070C0"/>
                  </a:solidFill>
                  <a:effectLst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677485" y="5229200"/>
              <a:ext cx="2162645" cy="432045"/>
              <a:chOff x="7536160" y="5229200"/>
              <a:chExt cx="2162645" cy="432045"/>
            </a:xfrm>
          </p:grpSpPr>
          <p:sp>
            <p:nvSpPr>
              <p:cNvPr id="33" name="Rounded Rectangle 17"/>
              <p:cNvSpPr/>
              <p:nvPr/>
            </p:nvSpPr>
            <p:spPr>
              <a:xfrm>
                <a:off x="7536160" y="5229200"/>
                <a:ext cx="2162645" cy="432045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34" name="TextBox 18"/>
              <p:cNvSpPr txBox="1"/>
              <p:nvPr/>
            </p:nvSpPr>
            <p:spPr>
              <a:xfrm>
                <a:off x="7608169" y="5251906"/>
                <a:ext cx="1964915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0070C0"/>
                    </a:solidFill>
                  </a:rPr>
                  <a:t>x,y</a:t>
                </a:r>
                <a:r>
                  <a:rPr lang="en-US" sz="1200" dirty="0">
                    <a:solidFill>
                      <a:srgbClr val="0070C0"/>
                    </a:solidFill>
                  </a:rPr>
                  <a:t> = </a:t>
                </a:r>
                <a:r>
                  <a:rPr lang="en-US" sz="1200" dirty="0" err="1">
                    <a:solidFill>
                      <a:srgbClr val="0070C0"/>
                    </a:solidFill>
                    <a:effectLst/>
                  </a:rPr>
                  <a:t>hunmanInput</a:t>
                </a:r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()</a:t>
                </a:r>
                <a:endParaRPr lang="en-US" sz="1200" dirty="0">
                  <a:solidFill>
                    <a:srgbClr val="0070C0"/>
                  </a:solidFill>
                  <a:effectLst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4061816" y="5751595"/>
              <a:ext cx="1181411" cy="432045"/>
              <a:chOff x="7608168" y="5821583"/>
              <a:chExt cx="1181411" cy="432045"/>
            </a:xfrm>
          </p:grpSpPr>
          <p:sp>
            <p:nvSpPr>
              <p:cNvPr id="31" name="Rounded Rectangle 17"/>
              <p:cNvSpPr/>
              <p:nvPr/>
            </p:nvSpPr>
            <p:spPr>
              <a:xfrm>
                <a:off x="7608168" y="5821583"/>
                <a:ext cx="1181411" cy="432045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32" name="TextBox 18"/>
              <p:cNvSpPr txBox="1"/>
              <p:nvPr/>
            </p:nvSpPr>
            <p:spPr>
              <a:xfrm>
                <a:off x="7658671" y="5852938"/>
                <a:ext cx="1087404" cy="375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</a:rPr>
                  <a:t>move</a:t>
                </a:r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(</a:t>
                </a:r>
                <a:r>
                  <a:rPr lang="en-US" sz="1200" dirty="0" err="1">
                    <a:solidFill>
                      <a:srgbClr val="0070C0"/>
                    </a:solidFill>
                    <a:effectLst/>
                  </a:rPr>
                  <a:t>x,y</a:t>
                </a:r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)</a:t>
                </a:r>
                <a:endParaRPr lang="en-US" sz="1200" dirty="0">
                  <a:solidFill>
                    <a:srgbClr val="0070C0"/>
                  </a:solidFill>
                  <a:effectLst/>
                </a:endParaRPr>
              </a:p>
            </p:txBody>
          </p:sp>
        </p:grpSp>
        <p:cxnSp>
          <p:nvCxnSpPr>
            <p:cNvPr id="16" name="连接符: 肘形 15"/>
            <p:cNvCxnSpPr>
              <a:stCxn id="31" idx="2"/>
              <a:endCxn id="41" idx="1"/>
            </p:cNvCxnSpPr>
            <p:nvPr/>
          </p:nvCxnSpPr>
          <p:spPr>
            <a:xfrm rot="5400000" flipH="1">
              <a:off x="3062809" y="4593927"/>
              <a:ext cx="2279328" cy="900098"/>
            </a:xfrm>
            <a:prstGeom prst="bentConnector4">
              <a:avLst>
                <a:gd name="adj1" fmla="val -10029"/>
                <a:gd name="adj2" fmla="val 14797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4707197" y="4282539"/>
              <a:ext cx="496451" cy="375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No</a:t>
              </a:r>
              <a:endParaRPr lang="zh-CN" altLang="en-US" sz="1200" dirty="0"/>
            </a:p>
          </p:txBody>
        </p:sp>
        <p:cxnSp>
          <p:nvCxnSpPr>
            <p:cNvPr id="19" name="连接符: 肘形 18"/>
            <p:cNvCxnSpPr>
              <a:stCxn id="41" idx="3"/>
              <a:endCxn id="29" idx="0"/>
            </p:cNvCxnSpPr>
            <p:nvPr/>
          </p:nvCxnSpPr>
          <p:spPr>
            <a:xfrm>
              <a:off x="5552622" y="3904312"/>
              <a:ext cx="1911530" cy="146890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9"/>
            <p:cNvGrpSpPr/>
            <p:nvPr/>
          </p:nvGrpSpPr>
          <p:grpSpPr>
            <a:xfrm>
              <a:off x="6240016" y="5373216"/>
              <a:ext cx="2376264" cy="720080"/>
              <a:chOff x="6240016" y="5373216"/>
              <a:chExt cx="2376264" cy="720080"/>
            </a:xfrm>
          </p:grpSpPr>
          <p:sp>
            <p:nvSpPr>
              <p:cNvPr id="29" name="Rounded Rectangle 17"/>
              <p:cNvSpPr/>
              <p:nvPr/>
            </p:nvSpPr>
            <p:spPr>
              <a:xfrm>
                <a:off x="6312024" y="5373216"/>
                <a:ext cx="2304256" cy="720080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30" name="TextBox 4"/>
              <p:cNvSpPr txBox="1"/>
              <p:nvPr/>
            </p:nvSpPr>
            <p:spPr>
              <a:xfrm>
                <a:off x="6240016" y="5373216"/>
                <a:ext cx="2250734" cy="710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/>
                  <a:t>&gt; </a:t>
                </a:r>
                <a:r>
                  <a:rPr lang="en-US" sz="1400" dirty="0"/>
                  <a:t>Show the result</a:t>
                </a:r>
                <a:endParaRPr lang="en-US" sz="1400" dirty="0"/>
              </a:p>
              <a:p>
                <a:pPr algn="ctr"/>
                <a:r>
                  <a:rPr lang="en-US" altLang="zh-CN" sz="1400" dirty="0"/>
                  <a:t>&gt; </a:t>
                </a:r>
                <a:r>
                  <a:rPr lang="en-US" sz="1400" dirty="0"/>
                  <a:t>Close input flow</a:t>
                </a:r>
                <a:endParaRPr lang="en-US" sz="1400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2783632" y="3326889"/>
              <a:ext cx="6192688" cy="3270462"/>
              <a:chOff x="2783632" y="3326889"/>
              <a:chExt cx="6192688" cy="3270462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2783632" y="3326889"/>
                <a:ext cx="6192688" cy="3270462"/>
              </a:xfrm>
              <a:prstGeom prst="rect">
                <a:avLst/>
              </a:pr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5841657" y="3357631"/>
                <a:ext cx="3066330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dirty="0"/>
                  <a:t>The While loop in the </a:t>
                </a:r>
                <a:r>
                  <a:rPr lang="en-US" altLang="zh-CN" sz="1200" b="1" dirty="0"/>
                  <a:t>play() </a:t>
                </a:r>
                <a:r>
                  <a:rPr lang="en-US" altLang="zh-CN" sz="1050" dirty="0"/>
                  <a:t>function</a:t>
                </a:r>
                <a:endParaRPr lang="zh-CN" altLang="en-US" sz="1050" dirty="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5243228" y="5967618"/>
              <a:ext cx="3697467" cy="560622"/>
              <a:chOff x="5243228" y="5967618"/>
              <a:chExt cx="3697467" cy="560622"/>
            </a:xfrm>
          </p:grpSpPr>
          <p:cxnSp>
            <p:nvCxnSpPr>
              <p:cNvPr id="25" name="直接连接符 24"/>
              <p:cNvCxnSpPr>
                <a:stCxn id="31" idx="3"/>
                <a:endCxn id="26" idx="1"/>
              </p:cNvCxnSpPr>
              <p:nvPr/>
            </p:nvCxnSpPr>
            <p:spPr>
              <a:xfrm>
                <a:off x="5243228" y="5967618"/>
                <a:ext cx="692661" cy="388322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/>
              <p:cNvSpPr txBox="1"/>
              <p:nvPr/>
            </p:nvSpPr>
            <p:spPr>
              <a:xfrm>
                <a:off x="5935889" y="6183640"/>
                <a:ext cx="3004806" cy="3446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dirty="0"/>
                  <a:t>Use </a:t>
                </a:r>
                <a:r>
                  <a:rPr lang="en-US" altLang="zh-CN" sz="1050" b="1" dirty="0" err="1"/>
                  <a:t>checkWin</a:t>
                </a:r>
                <a:r>
                  <a:rPr lang="en-US" altLang="zh-CN" sz="1050" b="1" dirty="0"/>
                  <a:t>() </a:t>
                </a:r>
                <a:r>
                  <a:rPr lang="en-US" altLang="zh-CN" sz="1050" dirty="0"/>
                  <a:t>to modify </a:t>
                </a:r>
                <a:r>
                  <a:rPr lang="en-US" altLang="zh-CN" sz="1050" b="1" dirty="0" err="1"/>
                  <a:t>gameOver</a:t>
                </a:r>
                <a:endParaRPr lang="en-US" altLang="zh-CN" sz="1050" b="1" dirty="0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6312024" y="3892118"/>
              <a:ext cx="524993" cy="375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Yes</a:t>
              </a:r>
              <a:endParaRPr lang="zh-CN" altLang="en-US" sz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/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Class Design &amp; Control Flow (Recall)</a:t>
            </a:r>
            <a:endParaRPr lang="zh-CN" sz="3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335360" y="1117917"/>
            <a:ext cx="10853060" cy="1204347"/>
            <a:chOff x="335360" y="1117917"/>
            <a:chExt cx="10853060" cy="1204347"/>
          </a:xfrm>
        </p:grpSpPr>
        <p:grpSp>
          <p:nvGrpSpPr>
            <p:cNvPr id="6" name="组合 5"/>
            <p:cNvGrpSpPr/>
            <p:nvPr/>
          </p:nvGrpSpPr>
          <p:grpSpPr>
            <a:xfrm>
              <a:off x="335360" y="1117917"/>
              <a:ext cx="8505890" cy="954108"/>
              <a:chOff x="335360" y="1117917"/>
              <a:chExt cx="8505890" cy="954108"/>
            </a:xfrm>
          </p:grpSpPr>
          <p:sp>
            <p:nvSpPr>
              <p:cNvPr id="48" name="Rounded Rectangle 17"/>
              <p:cNvSpPr/>
              <p:nvPr/>
            </p:nvSpPr>
            <p:spPr>
              <a:xfrm>
                <a:off x="335360" y="1196752"/>
                <a:ext cx="1860629" cy="504056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TextBox 18"/>
              <p:cNvSpPr txBox="1"/>
              <p:nvPr/>
            </p:nvSpPr>
            <p:spPr>
              <a:xfrm>
                <a:off x="426213" y="1264114"/>
                <a:ext cx="16789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0070C0"/>
                    </a:solidFill>
                    <a:effectLst/>
                  </a:rPr>
                  <a:t>GomokuGame</a:t>
                </a:r>
                <a:r>
                  <a:rPr lang="en-US" dirty="0">
                    <a:solidFill>
                      <a:srgbClr val="0070C0"/>
                    </a:solidFill>
                  </a:rPr>
                  <a:t>()</a:t>
                </a:r>
                <a:endParaRPr lang="en-US" dirty="0">
                  <a:solidFill>
                    <a:srgbClr val="0070C0"/>
                  </a:solidFill>
                  <a:effectLst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426213" y="1764248"/>
                <a:ext cx="16003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i.e. the constructor</a:t>
                </a:r>
                <a:endParaRPr lang="en-US" altLang="zh-CN" sz="1400" dirty="0"/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2639616" y="1117917"/>
                <a:ext cx="62016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Initialize the chess board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Initialize other variables like </a:t>
                </a:r>
                <a:r>
                  <a:rPr lang="en-US" altLang="zh-CN" dirty="0" err="1"/>
                  <a:t>currentPlayer</a:t>
                </a:r>
                <a:r>
                  <a:rPr lang="en-US" altLang="zh-CN" dirty="0"/>
                  <a:t>, </a:t>
                </a:r>
                <a:r>
                  <a:rPr lang="en-US" altLang="zh-CN" dirty="0" err="1"/>
                  <a:t>gameOver</a:t>
                </a:r>
                <a:r>
                  <a:rPr lang="en-US" altLang="zh-CN" dirty="0"/>
                  <a:t>, winner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Initialize the input scanner (optional)</a:t>
                </a:r>
                <a:endParaRPr lang="zh-CN" altLang="en-US" dirty="0"/>
              </a:p>
            </p:txBody>
          </p:sp>
        </p:grpSp>
        <p:sp>
          <p:nvSpPr>
            <p:cNvPr id="22" name="箭头: 右 21"/>
            <p:cNvSpPr/>
            <p:nvPr/>
          </p:nvSpPr>
          <p:spPr>
            <a:xfrm rot="13036269">
              <a:off x="6786855" y="1866117"/>
              <a:ext cx="551414" cy="1364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314283" y="1799044"/>
              <a:ext cx="38741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One may use another </a:t>
              </a:r>
              <a:r>
                <a:rPr lang="en-US" altLang="zh-CN" sz="1400" dirty="0" err="1"/>
                <a:t>classname</a:t>
              </a:r>
              <a:r>
                <a:rPr lang="en-US" altLang="zh-CN" sz="1400" dirty="0"/>
                <a:t> “</a:t>
              </a:r>
              <a:r>
                <a:rPr lang="en-US" altLang="zh-CN" sz="1400" dirty="0" err="1"/>
                <a:t>GomokuEnv</a:t>
              </a:r>
              <a:r>
                <a:rPr lang="en-US" altLang="zh-CN" sz="1400" dirty="0"/>
                <a:t>” for</a:t>
              </a:r>
              <a:endParaRPr lang="en-US" altLang="zh-CN" sz="1400" dirty="0"/>
            </a:p>
            <a:p>
              <a:r>
                <a:rPr lang="en-US" altLang="zh-CN" sz="1400" dirty="0"/>
                <a:t>the meaning of some “environment”.</a:t>
              </a:r>
              <a:endParaRPr lang="zh-CN" altLang="en-US" sz="14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63352" y="2636912"/>
            <a:ext cx="5267584" cy="3377904"/>
            <a:chOff x="-58905" y="2709599"/>
            <a:chExt cx="5267584" cy="337790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58905" y="2709599"/>
              <a:ext cx="5267584" cy="3377904"/>
            </a:xfrm>
            <a:prstGeom prst="rect">
              <a:avLst/>
            </a:prstGeom>
          </p:spPr>
        </p:pic>
        <p:sp>
          <p:nvSpPr>
            <p:cNvPr id="54" name="矩形 53"/>
            <p:cNvSpPr/>
            <p:nvPr/>
          </p:nvSpPr>
          <p:spPr>
            <a:xfrm>
              <a:off x="2999656" y="4450998"/>
              <a:ext cx="1800200" cy="14469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029327" y="4725823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added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6" name="箭头: 下 55"/>
            <p:cNvSpPr/>
            <p:nvPr/>
          </p:nvSpPr>
          <p:spPr>
            <a:xfrm rot="13680813">
              <a:off x="2816219" y="4597787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984" y="4393888"/>
            <a:ext cx="4727848" cy="20545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705" y="2709599"/>
            <a:ext cx="3672408" cy="1042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1" name="箭头: 下 60"/>
          <p:cNvSpPr/>
          <p:nvPr/>
        </p:nvSpPr>
        <p:spPr>
          <a:xfrm>
            <a:off x="7680176" y="3861048"/>
            <a:ext cx="432048" cy="360040"/>
          </a:xfrm>
          <a:prstGeom prst="downArrow">
            <a:avLst/>
          </a:prstGeom>
          <a:noFill/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标题 4"/>
              <p:cNvSpPr txBox="1"/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</p:spPr>
            <p:txBody>
              <a:bodyPr vert="horz" lIns="91440" tIns="45720" rIns="91440" bIns="45720" anchor="ctr">
                <a:normAutofit/>
              </a:bodyPr>
              <a:lstStyle>
                <a:lvl1pPr lvl="0" algn="l" defTabSz="914400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Iteration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/>
                  <a:t> Implement &amp; Improve</a:t>
                </a:r>
                <a:endParaRPr lang="zh-CN" sz="3200" dirty="0"/>
              </a:p>
            </p:txBody>
          </p:sp>
        </mc:Choice>
        <mc:Fallback>
          <p:sp>
            <p:nvSpPr>
              <p:cNvPr id="50" name="标题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246901" y="1117917"/>
            <a:ext cx="11289766" cy="1896145"/>
            <a:chOff x="246901" y="1117917"/>
            <a:chExt cx="11289766" cy="1896145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0" y="1117917"/>
              <a:ext cx="11201307" cy="1896145"/>
              <a:chOff x="335360" y="1117917"/>
              <a:chExt cx="11201307" cy="1896145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335360" y="1117917"/>
                <a:ext cx="11201307" cy="1200329"/>
                <a:chOff x="335360" y="1117917"/>
                <a:chExt cx="11201307" cy="1200329"/>
              </a:xfrm>
            </p:grpSpPr>
            <p:sp>
              <p:nvSpPr>
                <p:cNvPr id="6" name="Rounded Rectangle 17"/>
                <p:cNvSpPr/>
                <p:nvPr/>
              </p:nvSpPr>
              <p:spPr>
                <a:xfrm>
                  <a:off x="335360" y="1196752"/>
                  <a:ext cx="1860629" cy="504056"/>
                </a:xfrm>
                <a:prstGeom prst="roundRect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" name="TextBox 18"/>
                <p:cNvSpPr txBox="1"/>
                <p:nvPr/>
              </p:nvSpPr>
              <p:spPr>
                <a:xfrm>
                  <a:off x="426213" y="1264114"/>
                  <a:ext cx="9575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  <a:effectLst/>
                    </a:rPr>
                    <a:t>render</a:t>
                  </a:r>
                  <a:r>
                    <a:rPr lang="en-US" dirty="0">
                      <a:solidFill>
                        <a:srgbClr val="0070C0"/>
                      </a:solidFill>
                    </a:rPr>
                    <a:t>()</a:t>
                  </a:r>
                  <a:endParaRPr lang="en-US" dirty="0">
                    <a:solidFill>
                      <a:srgbClr val="0070C0"/>
                    </a:solidFill>
                    <a:effectLst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639616" y="1117917"/>
                  <a:ext cx="8897051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Better show the row and column number as numerical input is used</a:t>
                  </a:r>
                  <a:endParaRPr lang="en-US" altLang="zh-C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Denote “+” for some unused position, “X” for the black stone, and “O” for the white stone</a:t>
                  </a:r>
                  <a:endParaRPr lang="en-US" altLang="zh-C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Loop over the rows and columns to print all those required things</a:t>
                  </a:r>
                  <a:endParaRPr lang="en-US" altLang="zh-C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Alignment should be considered</a:t>
                  </a:r>
                  <a:endParaRPr lang="en-US" altLang="zh-CN" dirty="0"/>
                </a:p>
              </p:txBody>
            </p:sp>
          </p:grpSp>
          <p:sp>
            <p:nvSpPr>
              <p:cNvPr id="5" name="文本框 4"/>
              <p:cNvSpPr txBox="1"/>
              <p:nvPr/>
            </p:nvSpPr>
            <p:spPr>
              <a:xfrm>
                <a:off x="760575" y="2275398"/>
                <a:ext cx="10643042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Note: actually the whole render() function is </a:t>
                </a:r>
                <a:r>
                  <a:rPr lang="en-US" altLang="zh-CN" sz="1400" b="1" dirty="0"/>
                  <a:t>optional</a:t>
                </a:r>
                <a:r>
                  <a:rPr lang="en-US" altLang="zh-CN" sz="1400" dirty="0"/>
                  <a:t> as we’d use JavaFX for rendering in the future, but we need such function for the whole</a:t>
                </a:r>
                <a:endParaRPr lang="en-US" altLang="zh-CN" sz="1400" dirty="0"/>
              </a:p>
              <a:p>
                <a:r>
                  <a:rPr lang="en-US" altLang="zh-CN" sz="1400" dirty="0"/>
                  <a:t>           program to be “complete” so that we can make some tests and ensure that our core components work properly, to avoid messing up with</a:t>
                </a:r>
                <a:endParaRPr lang="en-US" altLang="zh-CN" sz="1400" dirty="0"/>
              </a:p>
              <a:p>
                <a:r>
                  <a:rPr lang="en-US" altLang="zh-CN" sz="1400" dirty="0"/>
                  <a:t>           those future GUI codes.</a:t>
                </a:r>
                <a:endParaRPr lang="en-US" altLang="zh-CN" sz="1400" dirty="0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246901" y="1906066"/>
              <a:ext cx="2273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(A Quick Review Here)</a:t>
              </a:r>
              <a:endParaRPr lang="zh-CN" altLang="en-US" dirty="0"/>
            </a:p>
          </p:txBody>
        </p:sp>
      </p:grpSp>
      <p:pic>
        <p:nvPicPr>
          <p:cNvPr id="411" name="图片 4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34" y="4197811"/>
            <a:ext cx="2534786" cy="1971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组合 14"/>
          <p:cNvGrpSpPr/>
          <p:nvPr/>
        </p:nvGrpSpPr>
        <p:grpSpPr>
          <a:xfrm>
            <a:off x="3667161" y="2780928"/>
            <a:ext cx="7869506" cy="3916184"/>
            <a:chOff x="3667161" y="2780928"/>
            <a:chExt cx="7869506" cy="3916184"/>
          </a:xfrm>
        </p:grpSpPr>
        <p:sp>
          <p:nvSpPr>
            <p:cNvPr id="183" name="文本框 182"/>
            <p:cNvSpPr txBox="1"/>
            <p:nvPr/>
          </p:nvSpPr>
          <p:spPr>
            <a:xfrm>
              <a:off x="7978596" y="2780928"/>
              <a:ext cx="1098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boardSize</a:t>
              </a:r>
              <a:endParaRPr lang="zh-CN" altLang="en-US" dirty="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667161" y="3133388"/>
              <a:ext cx="7869506" cy="3563724"/>
              <a:chOff x="3667161" y="3133388"/>
              <a:chExt cx="7869506" cy="3563724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5793410" y="3791175"/>
                <a:ext cx="301686" cy="369332"/>
                <a:chOff x="2051973" y="3604374"/>
                <a:chExt cx="301686" cy="369332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5432493" y="3791175"/>
                <a:ext cx="288032" cy="369332"/>
                <a:chOff x="2051973" y="3604374"/>
                <a:chExt cx="288032" cy="369332"/>
              </a:xfrm>
            </p:grpSpPr>
            <p:sp>
              <p:nvSpPr>
                <p:cNvPr id="22" name="矩形 2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6167981" y="3791175"/>
                <a:ext cx="288032" cy="369332"/>
                <a:chOff x="2051973" y="3604374"/>
                <a:chExt cx="288032" cy="369332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5071576" y="3791175"/>
                <a:ext cx="288032" cy="369332"/>
                <a:chOff x="2051973" y="3604374"/>
                <a:chExt cx="288032" cy="369332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4710659" y="3791175"/>
                <a:ext cx="288032" cy="369332"/>
                <a:chOff x="2051973" y="3604374"/>
                <a:chExt cx="288032" cy="369332"/>
              </a:xfrm>
            </p:grpSpPr>
            <p:sp>
              <p:nvSpPr>
                <p:cNvPr id="31" name="矩形 3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4349742" y="3791175"/>
                <a:ext cx="288032" cy="369332"/>
                <a:chOff x="2051973" y="3604374"/>
                <a:chExt cx="288032" cy="369332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5076741" y="4203871"/>
                <a:ext cx="288032" cy="369332"/>
                <a:chOff x="2051973" y="3604374"/>
                <a:chExt cx="288032" cy="369332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715824" y="4203871"/>
                <a:ext cx="288032" cy="369332"/>
                <a:chOff x="2051973" y="3604374"/>
                <a:chExt cx="288032" cy="369332"/>
              </a:xfrm>
            </p:grpSpPr>
            <p:sp>
              <p:nvSpPr>
                <p:cNvPr id="40" name="矩形 3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4354907" y="4203871"/>
                <a:ext cx="301686" cy="369332"/>
                <a:chOff x="2051973" y="3604374"/>
                <a:chExt cx="301686" cy="369332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5071576" y="4578631"/>
                <a:ext cx="288032" cy="369332"/>
                <a:chOff x="2051973" y="3604374"/>
                <a:chExt cx="288032" cy="369332"/>
              </a:xfrm>
            </p:grpSpPr>
            <p:sp>
              <p:nvSpPr>
                <p:cNvPr id="46" name="矩形 4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4710659" y="4578631"/>
                <a:ext cx="288032" cy="369332"/>
                <a:chOff x="2051973" y="3604374"/>
                <a:chExt cx="288032" cy="369332"/>
              </a:xfrm>
            </p:grpSpPr>
            <p:sp>
              <p:nvSpPr>
                <p:cNvPr id="49" name="矩形 4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4349742" y="4578631"/>
                <a:ext cx="301686" cy="369332"/>
                <a:chOff x="2051973" y="3604374"/>
                <a:chExt cx="301686" cy="369332"/>
              </a:xfrm>
            </p:grpSpPr>
            <p:sp>
              <p:nvSpPr>
                <p:cNvPr id="53" name="矩形 5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</p:grpSp>
          <p:sp>
            <p:nvSpPr>
              <p:cNvPr id="55" name="文本框 54"/>
              <p:cNvSpPr txBox="1"/>
              <p:nvPr/>
            </p:nvSpPr>
            <p:spPr>
              <a:xfrm rot="5400000">
                <a:off x="4737297" y="4932979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5071576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57" name="矩形 5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59" name="组合 58"/>
              <p:cNvGrpSpPr/>
              <p:nvPr/>
            </p:nvGrpSpPr>
            <p:grpSpPr>
              <a:xfrm>
                <a:off x="4710659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60" name="矩形 5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4349742" y="5264336"/>
                <a:ext cx="301686" cy="369332"/>
                <a:chOff x="2051973" y="3604374"/>
                <a:chExt cx="301686" cy="369332"/>
              </a:xfrm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9</a:t>
                  </a:r>
                  <a:endParaRPr lang="zh-CN" altLang="en-US" dirty="0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066411" y="5639096"/>
                <a:ext cx="288032" cy="369332"/>
                <a:chOff x="2051973" y="3604374"/>
                <a:chExt cx="288032" cy="369332"/>
              </a:xfrm>
            </p:grpSpPr>
            <p:sp>
              <p:nvSpPr>
                <p:cNvPr id="66" name="矩形 6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4705494" y="5639096"/>
                <a:ext cx="301686" cy="369332"/>
                <a:chOff x="2051973" y="3604374"/>
                <a:chExt cx="301686" cy="369332"/>
              </a:xfrm>
            </p:grpSpPr>
            <p:sp>
              <p:nvSpPr>
                <p:cNvPr id="69" name="矩形 6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文本框 69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4344577" y="5639096"/>
                <a:ext cx="301686" cy="369332"/>
                <a:chOff x="2051973" y="3604374"/>
                <a:chExt cx="301686" cy="369332"/>
              </a:xfrm>
            </p:grpSpPr>
            <p:sp>
              <p:nvSpPr>
                <p:cNvPr id="72" name="矩形 7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文本框 72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5066411" y="6022893"/>
                <a:ext cx="288032" cy="369332"/>
                <a:chOff x="2051973" y="3604374"/>
                <a:chExt cx="288032" cy="369332"/>
              </a:xfrm>
            </p:grpSpPr>
            <p:sp>
              <p:nvSpPr>
                <p:cNvPr id="75" name="矩形 7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4705494" y="6022893"/>
                <a:ext cx="301686" cy="369332"/>
                <a:chOff x="2051973" y="3604374"/>
                <a:chExt cx="301686" cy="369332"/>
              </a:xfrm>
            </p:grpSpPr>
            <p:sp>
              <p:nvSpPr>
                <p:cNvPr id="78" name="矩形 7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文本框 78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4344577" y="6022893"/>
                <a:ext cx="301686" cy="369332"/>
                <a:chOff x="2051973" y="3604374"/>
                <a:chExt cx="301686" cy="369332"/>
              </a:xfrm>
            </p:grpSpPr>
            <p:sp>
              <p:nvSpPr>
                <p:cNvPr id="121" name="矩形 12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2" name="文本框 121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sp>
            <p:nvSpPr>
              <p:cNvPr id="123" name="文本框 122"/>
              <p:cNvSpPr txBox="1"/>
              <p:nvPr/>
            </p:nvSpPr>
            <p:spPr>
              <a:xfrm>
                <a:off x="7570002" y="372758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  <p:grpSp>
            <p:nvGrpSpPr>
              <p:cNvPr id="124" name="组合 123"/>
              <p:cNvGrpSpPr/>
              <p:nvPr/>
            </p:nvGrpSpPr>
            <p:grpSpPr>
              <a:xfrm>
                <a:off x="6916549" y="3792763"/>
                <a:ext cx="301686" cy="369332"/>
                <a:chOff x="2051973" y="3604374"/>
                <a:chExt cx="301686" cy="369332"/>
              </a:xfrm>
            </p:grpSpPr>
            <p:sp>
              <p:nvSpPr>
                <p:cNvPr id="125" name="矩形 12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文本框 125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</p:grpSp>
          <p:grpSp>
            <p:nvGrpSpPr>
              <p:cNvPr id="127" name="组合 126"/>
              <p:cNvGrpSpPr/>
              <p:nvPr/>
            </p:nvGrpSpPr>
            <p:grpSpPr>
              <a:xfrm>
                <a:off x="6555632" y="3792763"/>
                <a:ext cx="288032" cy="369332"/>
                <a:chOff x="2051973" y="3604374"/>
                <a:chExt cx="288032" cy="369332"/>
              </a:xfrm>
            </p:grpSpPr>
            <p:sp>
              <p:nvSpPr>
                <p:cNvPr id="128" name="矩形 12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9" name="文本框 12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7291120" y="3792763"/>
                <a:ext cx="288032" cy="369332"/>
                <a:chOff x="2051973" y="3604374"/>
                <a:chExt cx="288032" cy="369332"/>
              </a:xfrm>
            </p:grpSpPr>
            <p:sp>
              <p:nvSpPr>
                <p:cNvPr id="131" name="矩形 13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2" name="文本框 131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33" name="组合 132"/>
              <p:cNvGrpSpPr/>
              <p:nvPr/>
            </p:nvGrpSpPr>
            <p:grpSpPr>
              <a:xfrm>
                <a:off x="8271028" y="3789346"/>
                <a:ext cx="301686" cy="369332"/>
                <a:chOff x="2051973" y="3604374"/>
                <a:chExt cx="301686" cy="369332"/>
              </a:xfrm>
            </p:grpSpPr>
            <p:sp>
              <p:nvSpPr>
                <p:cNvPr id="134" name="矩形 13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5" name="文本框 134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9</a:t>
                  </a:r>
                  <a:endParaRPr lang="zh-CN" altLang="en-US" dirty="0"/>
                </a:p>
              </p:txBody>
            </p:sp>
          </p:grpSp>
          <p:grpSp>
            <p:nvGrpSpPr>
              <p:cNvPr id="136" name="组合 135"/>
              <p:cNvGrpSpPr/>
              <p:nvPr/>
            </p:nvGrpSpPr>
            <p:grpSpPr>
              <a:xfrm>
                <a:off x="7910111" y="3789346"/>
                <a:ext cx="288032" cy="369332"/>
                <a:chOff x="2051973" y="3604374"/>
                <a:chExt cx="288032" cy="369332"/>
              </a:xfrm>
            </p:grpSpPr>
            <p:sp>
              <p:nvSpPr>
                <p:cNvPr id="137" name="矩形 13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文本框 13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39" name="组合 138"/>
              <p:cNvGrpSpPr/>
              <p:nvPr/>
            </p:nvGrpSpPr>
            <p:grpSpPr>
              <a:xfrm>
                <a:off x="8645599" y="3789346"/>
                <a:ext cx="288032" cy="369332"/>
                <a:chOff x="2051973" y="3604374"/>
                <a:chExt cx="288032" cy="369332"/>
              </a:xfrm>
            </p:grpSpPr>
            <p:sp>
              <p:nvSpPr>
                <p:cNvPr id="140" name="矩形 13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1" name="文本框 14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sp>
            <p:nvSpPr>
              <p:cNvPr id="142" name="文本框 141"/>
              <p:cNvSpPr txBox="1"/>
              <p:nvPr/>
            </p:nvSpPr>
            <p:spPr>
              <a:xfrm rot="5400000">
                <a:off x="4720393" y="634076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  <p:sp>
            <p:nvSpPr>
              <p:cNvPr id="143" name="文本框 142"/>
              <p:cNvSpPr txBox="1"/>
              <p:nvPr/>
            </p:nvSpPr>
            <p:spPr>
              <a:xfrm>
                <a:off x="11193303" y="372758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  <p:grpSp>
            <p:nvGrpSpPr>
              <p:cNvPr id="144" name="组合 143"/>
              <p:cNvGrpSpPr/>
              <p:nvPr/>
            </p:nvGrpSpPr>
            <p:grpSpPr>
              <a:xfrm>
                <a:off x="9388214" y="3789346"/>
                <a:ext cx="301686" cy="369332"/>
                <a:chOff x="2051973" y="3604374"/>
                <a:chExt cx="301686" cy="369332"/>
              </a:xfrm>
            </p:grpSpPr>
            <p:sp>
              <p:nvSpPr>
                <p:cNvPr id="145" name="矩形 14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6" name="文本框 145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7" name="组合 146"/>
              <p:cNvGrpSpPr/>
              <p:nvPr/>
            </p:nvGrpSpPr>
            <p:grpSpPr>
              <a:xfrm>
                <a:off x="9027297" y="3789346"/>
                <a:ext cx="288032" cy="369332"/>
                <a:chOff x="2051973" y="3604374"/>
                <a:chExt cx="288032" cy="369332"/>
              </a:xfrm>
            </p:grpSpPr>
            <p:sp>
              <p:nvSpPr>
                <p:cNvPr id="148" name="矩形 14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9" name="文本框 14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50" name="组合 149"/>
              <p:cNvGrpSpPr/>
              <p:nvPr/>
            </p:nvGrpSpPr>
            <p:grpSpPr>
              <a:xfrm>
                <a:off x="9762785" y="3789346"/>
                <a:ext cx="301686" cy="369332"/>
                <a:chOff x="2051973" y="3604374"/>
                <a:chExt cx="301686" cy="369332"/>
              </a:xfrm>
            </p:grpSpPr>
            <p:sp>
              <p:nvSpPr>
                <p:cNvPr id="151" name="矩形 15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2" name="文本框 151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  <p:grpSp>
            <p:nvGrpSpPr>
              <p:cNvPr id="153" name="组合 152"/>
              <p:cNvGrpSpPr/>
              <p:nvPr/>
            </p:nvGrpSpPr>
            <p:grpSpPr>
              <a:xfrm>
                <a:off x="10517046" y="3789346"/>
                <a:ext cx="301686" cy="369332"/>
                <a:chOff x="2051973" y="3604374"/>
                <a:chExt cx="301686" cy="369332"/>
              </a:xfrm>
            </p:grpSpPr>
            <p:sp>
              <p:nvSpPr>
                <p:cNvPr id="154" name="矩形 15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5" name="文本框 154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56" name="组合 155"/>
              <p:cNvGrpSpPr/>
              <p:nvPr/>
            </p:nvGrpSpPr>
            <p:grpSpPr>
              <a:xfrm>
                <a:off x="10156129" y="3789346"/>
                <a:ext cx="288032" cy="369332"/>
                <a:chOff x="2051973" y="3604374"/>
                <a:chExt cx="288032" cy="369332"/>
              </a:xfrm>
            </p:grpSpPr>
            <p:sp>
              <p:nvSpPr>
                <p:cNvPr id="157" name="矩形 15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8" name="文本框 15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59" name="组合 158"/>
              <p:cNvGrpSpPr/>
              <p:nvPr/>
            </p:nvGrpSpPr>
            <p:grpSpPr>
              <a:xfrm>
                <a:off x="10891617" y="3789346"/>
                <a:ext cx="301686" cy="369332"/>
                <a:chOff x="2051973" y="3604374"/>
                <a:chExt cx="301686" cy="369332"/>
              </a:xfrm>
            </p:grpSpPr>
            <p:sp>
              <p:nvSpPr>
                <p:cNvPr id="160" name="矩形 15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cxnSp>
            <p:nvCxnSpPr>
              <p:cNvPr id="163" name="直接连接符 162"/>
              <p:cNvCxnSpPr/>
              <p:nvPr/>
            </p:nvCxnSpPr>
            <p:spPr>
              <a:xfrm>
                <a:off x="4236193" y="4172156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4236193" y="4573203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>
                <a:off x="4236193" y="5633668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4236193" y="6008428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flipH="1">
                <a:off x="5385268" y="3429000"/>
                <a:ext cx="6637" cy="318835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>
                <a:off x="6494153" y="3429000"/>
                <a:ext cx="8638" cy="319627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>
                <a:off x="7605195" y="3436503"/>
                <a:ext cx="10922" cy="318085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flipH="1">
                <a:off x="7864832" y="3429000"/>
                <a:ext cx="13881" cy="319627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flipH="1">
                <a:off x="8964834" y="3429000"/>
                <a:ext cx="3780" cy="318835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>
                <a:off x="10084358" y="3429000"/>
                <a:ext cx="14840" cy="319627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4236193" y="5231570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4236193" y="4976822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右大括号 180"/>
              <p:cNvSpPr/>
              <p:nvPr/>
            </p:nvSpPr>
            <p:spPr>
              <a:xfrm rot="16200000">
                <a:off x="8343133" y="228776"/>
                <a:ext cx="269989" cy="6079214"/>
              </a:xfrm>
              <a:prstGeom prst="rightBrace">
                <a:avLst/>
              </a:prstGeom>
              <a:ln w="12700">
                <a:solidFill>
                  <a:srgbClr val="223F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右大括号 181"/>
              <p:cNvSpPr/>
              <p:nvPr/>
            </p:nvSpPr>
            <p:spPr>
              <a:xfrm rot="10800000">
                <a:off x="4042635" y="4203869"/>
                <a:ext cx="152871" cy="2421402"/>
              </a:xfrm>
              <a:prstGeom prst="rightBrace">
                <a:avLst/>
              </a:prstGeom>
              <a:ln w="12700">
                <a:solidFill>
                  <a:srgbClr val="223F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文本框 183"/>
              <p:cNvSpPr txBox="1"/>
              <p:nvPr/>
            </p:nvSpPr>
            <p:spPr>
              <a:xfrm rot="16200000">
                <a:off x="3302798" y="5307422"/>
                <a:ext cx="109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/>
                  <a:t>boardSize</a:t>
                </a:r>
                <a:endParaRPr lang="zh-CN" altLang="en-US" dirty="0"/>
              </a:p>
            </p:txBody>
          </p:sp>
          <p:grpSp>
            <p:nvGrpSpPr>
              <p:cNvPr id="185" name="组合 184"/>
              <p:cNvGrpSpPr/>
              <p:nvPr/>
            </p:nvGrpSpPr>
            <p:grpSpPr>
              <a:xfrm>
                <a:off x="5796823" y="4197811"/>
                <a:ext cx="301686" cy="369332"/>
                <a:chOff x="2051973" y="3604374"/>
                <a:chExt cx="301686" cy="369332"/>
              </a:xfrm>
            </p:grpSpPr>
            <p:sp>
              <p:nvSpPr>
                <p:cNvPr id="186" name="矩形 18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7" name="文本框 186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188" name="组合 187"/>
              <p:cNvGrpSpPr/>
              <p:nvPr/>
            </p:nvGrpSpPr>
            <p:grpSpPr>
              <a:xfrm>
                <a:off x="5435906" y="4197811"/>
                <a:ext cx="288032" cy="369332"/>
                <a:chOff x="2051973" y="3604374"/>
                <a:chExt cx="288032" cy="369332"/>
              </a:xfrm>
            </p:grpSpPr>
            <p:sp>
              <p:nvSpPr>
                <p:cNvPr id="189" name="矩形 18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0" name="文本框 189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91" name="组合 190"/>
              <p:cNvGrpSpPr/>
              <p:nvPr/>
            </p:nvGrpSpPr>
            <p:grpSpPr>
              <a:xfrm>
                <a:off x="6171394" y="4197811"/>
                <a:ext cx="288032" cy="369332"/>
                <a:chOff x="2051973" y="3604374"/>
                <a:chExt cx="288032" cy="369332"/>
              </a:xfrm>
            </p:grpSpPr>
            <p:sp>
              <p:nvSpPr>
                <p:cNvPr id="192" name="矩形 19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3" name="文本框 192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94" name="组合 193"/>
              <p:cNvGrpSpPr/>
              <p:nvPr/>
            </p:nvGrpSpPr>
            <p:grpSpPr>
              <a:xfrm>
                <a:off x="6914528" y="4209208"/>
                <a:ext cx="301686" cy="369332"/>
                <a:chOff x="2051973" y="3604374"/>
                <a:chExt cx="301686" cy="369332"/>
              </a:xfrm>
            </p:grpSpPr>
            <p:sp>
              <p:nvSpPr>
                <p:cNvPr id="195" name="矩形 19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6" name="文本框 195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197" name="组合 196"/>
              <p:cNvGrpSpPr/>
              <p:nvPr/>
            </p:nvGrpSpPr>
            <p:grpSpPr>
              <a:xfrm>
                <a:off x="6553611" y="4209208"/>
                <a:ext cx="288032" cy="369332"/>
                <a:chOff x="2051973" y="3604374"/>
                <a:chExt cx="288032" cy="369332"/>
              </a:xfrm>
            </p:grpSpPr>
            <p:sp>
              <p:nvSpPr>
                <p:cNvPr id="198" name="矩形 19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9" name="文本框 19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00" name="组合 199"/>
              <p:cNvGrpSpPr/>
              <p:nvPr/>
            </p:nvGrpSpPr>
            <p:grpSpPr>
              <a:xfrm>
                <a:off x="7289099" y="4209208"/>
                <a:ext cx="288032" cy="369332"/>
                <a:chOff x="2051973" y="3604374"/>
                <a:chExt cx="288032" cy="369332"/>
              </a:xfrm>
            </p:grpSpPr>
            <p:sp>
              <p:nvSpPr>
                <p:cNvPr id="201" name="矩形 20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2" name="文本框 201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03" name="组合 202"/>
              <p:cNvGrpSpPr/>
              <p:nvPr/>
            </p:nvGrpSpPr>
            <p:grpSpPr>
              <a:xfrm>
                <a:off x="8274603" y="4213355"/>
                <a:ext cx="301686" cy="369332"/>
                <a:chOff x="2051973" y="3604374"/>
                <a:chExt cx="301686" cy="369332"/>
              </a:xfrm>
            </p:grpSpPr>
            <p:sp>
              <p:nvSpPr>
                <p:cNvPr id="204" name="矩形 20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5" name="文本框 204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06" name="组合 205"/>
              <p:cNvGrpSpPr/>
              <p:nvPr/>
            </p:nvGrpSpPr>
            <p:grpSpPr>
              <a:xfrm>
                <a:off x="7913686" y="4213355"/>
                <a:ext cx="288032" cy="369332"/>
                <a:chOff x="2051973" y="3604374"/>
                <a:chExt cx="288032" cy="369332"/>
              </a:xfrm>
            </p:grpSpPr>
            <p:sp>
              <p:nvSpPr>
                <p:cNvPr id="207" name="矩形 20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8" name="文本框 20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09" name="组合 208"/>
              <p:cNvGrpSpPr/>
              <p:nvPr/>
            </p:nvGrpSpPr>
            <p:grpSpPr>
              <a:xfrm>
                <a:off x="8649174" y="4213355"/>
                <a:ext cx="288032" cy="369332"/>
                <a:chOff x="2051973" y="3604374"/>
                <a:chExt cx="288032" cy="369332"/>
              </a:xfrm>
            </p:grpSpPr>
            <p:sp>
              <p:nvSpPr>
                <p:cNvPr id="210" name="矩形 20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1" name="文本框 21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12" name="组合 211"/>
              <p:cNvGrpSpPr/>
              <p:nvPr/>
            </p:nvGrpSpPr>
            <p:grpSpPr>
              <a:xfrm>
                <a:off x="9388214" y="4219948"/>
                <a:ext cx="336952" cy="369332"/>
                <a:chOff x="2051973" y="3604374"/>
                <a:chExt cx="336952" cy="369332"/>
              </a:xfrm>
            </p:grpSpPr>
            <p:sp>
              <p:nvSpPr>
                <p:cNvPr id="213" name="矩形 21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" name="文本框 213"/>
                <p:cNvSpPr txBox="1"/>
                <p:nvPr/>
              </p:nvSpPr>
              <p:spPr>
                <a:xfrm>
                  <a:off x="2051973" y="3604374"/>
                  <a:ext cx="3369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O</a:t>
                  </a:r>
                  <a:endParaRPr lang="zh-CN" altLang="en-US" dirty="0"/>
                </a:p>
              </p:txBody>
            </p:sp>
          </p:grpSp>
          <p:grpSp>
            <p:nvGrpSpPr>
              <p:cNvPr id="215" name="组合 214"/>
              <p:cNvGrpSpPr/>
              <p:nvPr/>
            </p:nvGrpSpPr>
            <p:grpSpPr>
              <a:xfrm>
                <a:off x="9027297" y="4219948"/>
                <a:ext cx="288032" cy="369332"/>
                <a:chOff x="2051973" y="3604374"/>
                <a:chExt cx="288032" cy="369332"/>
              </a:xfrm>
            </p:grpSpPr>
            <p:sp>
              <p:nvSpPr>
                <p:cNvPr id="216" name="矩形 21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7" name="文本框 216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18" name="组合 217"/>
              <p:cNvGrpSpPr/>
              <p:nvPr/>
            </p:nvGrpSpPr>
            <p:grpSpPr>
              <a:xfrm>
                <a:off x="9762785" y="4219948"/>
                <a:ext cx="288032" cy="369332"/>
                <a:chOff x="2051973" y="3604374"/>
                <a:chExt cx="288032" cy="369332"/>
              </a:xfrm>
            </p:grpSpPr>
            <p:sp>
              <p:nvSpPr>
                <p:cNvPr id="219" name="矩形 21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0" name="文本框 219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21" name="组合 220"/>
              <p:cNvGrpSpPr/>
              <p:nvPr/>
            </p:nvGrpSpPr>
            <p:grpSpPr>
              <a:xfrm>
                <a:off x="10516039" y="4208856"/>
                <a:ext cx="301686" cy="369332"/>
                <a:chOff x="2051973" y="3604374"/>
                <a:chExt cx="301686" cy="369332"/>
              </a:xfrm>
            </p:grpSpPr>
            <p:sp>
              <p:nvSpPr>
                <p:cNvPr id="222" name="矩形 22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3" name="文本框 222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24" name="组合 223"/>
              <p:cNvGrpSpPr/>
              <p:nvPr/>
            </p:nvGrpSpPr>
            <p:grpSpPr>
              <a:xfrm>
                <a:off x="10155122" y="4208856"/>
                <a:ext cx="288032" cy="369332"/>
                <a:chOff x="2051973" y="3604374"/>
                <a:chExt cx="288032" cy="369332"/>
              </a:xfrm>
            </p:grpSpPr>
            <p:sp>
              <p:nvSpPr>
                <p:cNvPr id="225" name="矩形 22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6" name="文本框 225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27" name="组合 226"/>
              <p:cNvGrpSpPr/>
              <p:nvPr/>
            </p:nvGrpSpPr>
            <p:grpSpPr>
              <a:xfrm>
                <a:off x="10890610" y="4208856"/>
                <a:ext cx="288032" cy="369332"/>
                <a:chOff x="2051973" y="3604374"/>
                <a:chExt cx="288032" cy="369332"/>
              </a:xfrm>
            </p:grpSpPr>
            <p:sp>
              <p:nvSpPr>
                <p:cNvPr id="228" name="矩形 22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文本框 22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30" name="组合 229"/>
              <p:cNvGrpSpPr/>
              <p:nvPr/>
            </p:nvGrpSpPr>
            <p:grpSpPr>
              <a:xfrm>
                <a:off x="5795974" y="4582687"/>
                <a:ext cx="301686" cy="369332"/>
                <a:chOff x="2051973" y="3604374"/>
                <a:chExt cx="301686" cy="369332"/>
              </a:xfrm>
            </p:grpSpPr>
            <p:sp>
              <p:nvSpPr>
                <p:cNvPr id="231" name="矩形 23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2" name="文本框 231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33" name="组合 232"/>
              <p:cNvGrpSpPr/>
              <p:nvPr/>
            </p:nvGrpSpPr>
            <p:grpSpPr>
              <a:xfrm>
                <a:off x="5435057" y="4582687"/>
                <a:ext cx="288032" cy="369332"/>
                <a:chOff x="2051973" y="3604374"/>
                <a:chExt cx="288032" cy="369332"/>
              </a:xfrm>
            </p:grpSpPr>
            <p:sp>
              <p:nvSpPr>
                <p:cNvPr id="234" name="矩形 23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5" name="文本框 234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36" name="组合 235"/>
              <p:cNvGrpSpPr/>
              <p:nvPr/>
            </p:nvGrpSpPr>
            <p:grpSpPr>
              <a:xfrm>
                <a:off x="6170545" y="4582687"/>
                <a:ext cx="288032" cy="369332"/>
                <a:chOff x="2051973" y="3604374"/>
                <a:chExt cx="288032" cy="369332"/>
              </a:xfrm>
            </p:grpSpPr>
            <p:sp>
              <p:nvSpPr>
                <p:cNvPr id="237" name="矩形 23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8" name="文本框 23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39" name="组合 238"/>
              <p:cNvGrpSpPr/>
              <p:nvPr/>
            </p:nvGrpSpPr>
            <p:grpSpPr>
              <a:xfrm>
                <a:off x="6919498" y="4593026"/>
                <a:ext cx="304892" cy="369332"/>
                <a:chOff x="2051973" y="3604374"/>
                <a:chExt cx="304892" cy="369332"/>
              </a:xfrm>
            </p:grpSpPr>
            <p:sp>
              <p:nvSpPr>
                <p:cNvPr id="240" name="矩形 23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1" name="文本框 240"/>
                <p:cNvSpPr txBox="1"/>
                <p:nvPr/>
              </p:nvSpPr>
              <p:spPr>
                <a:xfrm>
                  <a:off x="2051973" y="3604374"/>
                  <a:ext cx="3048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X</a:t>
                  </a:r>
                  <a:endParaRPr lang="zh-CN" altLang="en-US" dirty="0"/>
                </a:p>
              </p:txBody>
            </p:sp>
          </p:grpSp>
          <p:grpSp>
            <p:nvGrpSpPr>
              <p:cNvPr id="242" name="组合 241"/>
              <p:cNvGrpSpPr/>
              <p:nvPr/>
            </p:nvGrpSpPr>
            <p:grpSpPr>
              <a:xfrm>
                <a:off x="6558581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43" name="矩形 24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4" name="文本框 243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45" name="组合 244"/>
              <p:cNvGrpSpPr/>
              <p:nvPr/>
            </p:nvGrpSpPr>
            <p:grpSpPr>
              <a:xfrm>
                <a:off x="7294069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46" name="矩形 24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7" name="文本框 246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48" name="组合 247"/>
              <p:cNvGrpSpPr/>
              <p:nvPr/>
            </p:nvGrpSpPr>
            <p:grpSpPr>
              <a:xfrm>
                <a:off x="8276792" y="4593026"/>
                <a:ext cx="301686" cy="369332"/>
                <a:chOff x="2051973" y="3604374"/>
                <a:chExt cx="301686" cy="369332"/>
              </a:xfrm>
            </p:grpSpPr>
            <p:sp>
              <p:nvSpPr>
                <p:cNvPr id="249" name="矩形 24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0" name="文本框 249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51" name="组合 250"/>
              <p:cNvGrpSpPr/>
              <p:nvPr/>
            </p:nvGrpSpPr>
            <p:grpSpPr>
              <a:xfrm>
                <a:off x="7915875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52" name="矩形 25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3" name="文本框 252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54" name="组合 253"/>
              <p:cNvGrpSpPr/>
              <p:nvPr/>
            </p:nvGrpSpPr>
            <p:grpSpPr>
              <a:xfrm>
                <a:off x="8651363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55" name="矩形 25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6" name="文本框 255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57" name="组合 256"/>
              <p:cNvGrpSpPr/>
              <p:nvPr/>
            </p:nvGrpSpPr>
            <p:grpSpPr>
              <a:xfrm>
                <a:off x="9387757" y="4593026"/>
                <a:ext cx="301686" cy="369332"/>
                <a:chOff x="2051973" y="3604374"/>
                <a:chExt cx="301686" cy="369332"/>
              </a:xfrm>
            </p:grpSpPr>
            <p:sp>
              <p:nvSpPr>
                <p:cNvPr id="258" name="矩形 25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9" name="文本框 258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60" name="组合 259"/>
              <p:cNvGrpSpPr/>
              <p:nvPr/>
            </p:nvGrpSpPr>
            <p:grpSpPr>
              <a:xfrm>
                <a:off x="9026840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61" name="矩形 26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2" name="文本框 261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63" name="组合 262"/>
              <p:cNvGrpSpPr/>
              <p:nvPr/>
            </p:nvGrpSpPr>
            <p:grpSpPr>
              <a:xfrm>
                <a:off x="9762328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64" name="矩形 26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5" name="文本框 264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66" name="组合 265"/>
              <p:cNvGrpSpPr/>
              <p:nvPr/>
            </p:nvGrpSpPr>
            <p:grpSpPr>
              <a:xfrm>
                <a:off x="10526824" y="4593026"/>
                <a:ext cx="301686" cy="369332"/>
                <a:chOff x="2051973" y="3604374"/>
                <a:chExt cx="301686" cy="369332"/>
              </a:xfrm>
            </p:grpSpPr>
            <p:sp>
              <p:nvSpPr>
                <p:cNvPr id="267" name="矩形 26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8" name="文本框 267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69" name="组合 268"/>
              <p:cNvGrpSpPr/>
              <p:nvPr/>
            </p:nvGrpSpPr>
            <p:grpSpPr>
              <a:xfrm>
                <a:off x="10165907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70" name="矩形 26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1" name="文本框 27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72" name="组合 271"/>
              <p:cNvGrpSpPr/>
              <p:nvPr/>
            </p:nvGrpSpPr>
            <p:grpSpPr>
              <a:xfrm>
                <a:off x="10901395" y="4593026"/>
                <a:ext cx="288032" cy="369332"/>
                <a:chOff x="2051973" y="3604374"/>
                <a:chExt cx="288032" cy="369332"/>
              </a:xfrm>
            </p:grpSpPr>
            <p:sp>
              <p:nvSpPr>
                <p:cNvPr id="273" name="矩形 27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4" name="文本框 273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75" name="组合 274"/>
              <p:cNvGrpSpPr/>
              <p:nvPr/>
            </p:nvGrpSpPr>
            <p:grpSpPr>
              <a:xfrm>
                <a:off x="5789796" y="5266238"/>
                <a:ext cx="301686" cy="369332"/>
                <a:chOff x="2051973" y="3604374"/>
                <a:chExt cx="301686" cy="369332"/>
              </a:xfrm>
            </p:grpSpPr>
            <p:sp>
              <p:nvSpPr>
                <p:cNvPr id="276" name="矩形 27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7" name="文本框 276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78" name="组合 277"/>
              <p:cNvGrpSpPr/>
              <p:nvPr/>
            </p:nvGrpSpPr>
            <p:grpSpPr>
              <a:xfrm>
                <a:off x="5428879" y="5266238"/>
                <a:ext cx="288032" cy="369332"/>
                <a:chOff x="2051973" y="3604374"/>
                <a:chExt cx="288032" cy="369332"/>
              </a:xfrm>
            </p:grpSpPr>
            <p:sp>
              <p:nvSpPr>
                <p:cNvPr id="279" name="矩形 27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0" name="文本框 279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81" name="组合 280"/>
              <p:cNvGrpSpPr/>
              <p:nvPr/>
            </p:nvGrpSpPr>
            <p:grpSpPr>
              <a:xfrm>
                <a:off x="6164367" y="5266238"/>
                <a:ext cx="288032" cy="369332"/>
                <a:chOff x="2051973" y="3604374"/>
                <a:chExt cx="288032" cy="369332"/>
              </a:xfrm>
            </p:grpSpPr>
            <p:sp>
              <p:nvSpPr>
                <p:cNvPr id="282" name="矩形 28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3" name="文本框 282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84" name="组合 283"/>
              <p:cNvGrpSpPr/>
              <p:nvPr/>
            </p:nvGrpSpPr>
            <p:grpSpPr>
              <a:xfrm>
                <a:off x="6918331" y="5264336"/>
                <a:ext cx="301686" cy="369332"/>
                <a:chOff x="2051973" y="3604374"/>
                <a:chExt cx="301686" cy="369332"/>
              </a:xfrm>
            </p:grpSpPr>
            <p:sp>
              <p:nvSpPr>
                <p:cNvPr id="285" name="矩形 28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6" name="文本框 285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287" name="组合 286"/>
              <p:cNvGrpSpPr/>
              <p:nvPr/>
            </p:nvGrpSpPr>
            <p:grpSpPr>
              <a:xfrm>
                <a:off x="6557414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288" name="矩形 28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9" name="文本框 28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90" name="组合 289"/>
              <p:cNvGrpSpPr/>
              <p:nvPr/>
            </p:nvGrpSpPr>
            <p:grpSpPr>
              <a:xfrm>
                <a:off x="7292902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291" name="矩形 29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2" name="文本框 291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93" name="组合 292"/>
              <p:cNvGrpSpPr/>
              <p:nvPr/>
            </p:nvGrpSpPr>
            <p:grpSpPr>
              <a:xfrm>
                <a:off x="8272616" y="5264336"/>
                <a:ext cx="304892" cy="369332"/>
                <a:chOff x="2051973" y="3604374"/>
                <a:chExt cx="304892" cy="369332"/>
              </a:xfrm>
            </p:grpSpPr>
            <p:sp>
              <p:nvSpPr>
                <p:cNvPr id="294" name="矩形 29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5" name="文本框 294"/>
                <p:cNvSpPr txBox="1"/>
                <p:nvPr/>
              </p:nvSpPr>
              <p:spPr>
                <a:xfrm>
                  <a:off x="2051973" y="3604374"/>
                  <a:ext cx="3048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X</a:t>
                  </a:r>
                  <a:endParaRPr lang="zh-CN" altLang="en-US" dirty="0"/>
                </a:p>
              </p:txBody>
            </p:sp>
          </p:grpSp>
          <p:grpSp>
            <p:nvGrpSpPr>
              <p:cNvPr id="296" name="组合 295"/>
              <p:cNvGrpSpPr/>
              <p:nvPr/>
            </p:nvGrpSpPr>
            <p:grpSpPr>
              <a:xfrm>
                <a:off x="7911699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297" name="矩形 29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8" name="文本框 29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299" name="组合 298"/>
              <p:cNvGrpSpPr/>
              <p:nvPr/>
            </p:nvGrpSpPr>
            <p:grpSpPr>
              <a:xfrm>
                <a:off x="8647187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300" name="矩形 29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1" name="文本框 30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02" name="组合 301"/>
              <p:cNvGrpSpPr/>
              <p:nvPr/>
            </p:nvGrpSpPr>
            <p:grpSpPr>
              <a:xfrm>
                <a:off x="9383581" y="5264336"/>
                <a:ext cx="301686" cy="369332"/>
                <a:chOff x="2051973" y="3604374"/>
                <a:chExt cx="301686" cy="369332"/>
              </a:xfrm>
            </p:grpSpPr>
            <p:sp>
              <p:nvSpPr>
                <p:cNvPr id="303" name="矩形 30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4" name="文本框 303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05" name="组合 304"/>
              <p:cNvGrpSpPr/>
              <p:nvPr/>
            </p:nvGrpSpPr>
            <p:grpSpPr>
              <a:xfrm>
                <a:off x="9022664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306" name="矩形 30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7" name="文本框 306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08" name="组合 307"/>
              <p:cNvGrpSpPr/>
              <p:nvPr/>
            </p:nvGrpSpPr>
            <p:grpSpPr>
              <a:xfrm>
                <a:off x="9758152" y="5264336"/>
                <a:ext cx="288032" cy="369332"/>
                <a:chOff x="2051973" y="3604374"/>
                <a:chExt cx="288032" cy="369332"/>
              </a:xfrm>
            </p:grpSpPr>
            <p:sp>
              <p:nvSpPr>
                <p:cNvPr id="309" name="矩形 30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0" name="文本框 309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11" name="组合 310"/>
              <p:cNvGrpSpPr/>
              <p:nvPr/>
            </p:nvGrpSpPr>
            <p:grpSpPr>
              <a:xfrm>
                <a:off x="10520704" y="5266552"/>
                <a:ext cx="301686" cy="369332"/>
                <a:chOff x="2051973" y="3604374"/>
                <a:chExt cx="301686" cy="369332"/>
              </a:xfrm>
            </p:grpSpPr>
            <p:sp>
              <p:nvSpPr>
                <p:cNvPr id="312" name="矩形 31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3" name="文本框 312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14" name="组合 313"/>
              <p:cNvGrpSpPr/>
              <p:nvPr/>
            </p:nvGrpSpPr>
            <p:grpSpPr>
              <a:xfrm>
                <a:off x="10159787" y="5266552"/>
                <a:ext cx="288032" cy="369332"/>
                <a:chOff x="2051973" y="3604374"/>
                <a:chExt cx="288032" cy="369332"/>
              </a:xfrm>
            </p:grpSpPr>
            <p:sp>
              <p:nvSpPr>
                <p:cNvPr id="315" name="矩形 31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6" name="文本框 315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17" name="组合 316"/>
              <p:cNvGrpSpPr/>
              <p:nvPr/>
            </p:nvGrpSpPr>
            <p:grpSpPr>
              <a:xfrm>
                <a:off x="10895275" y="5266552"/>
                <a:ext cx="288032" cy="369332"/>
                <a:chOff x="2051973" y="3604374"/>
                <a:chExt cx="288032" cy="369332"/>
              </a:xfrm>
            </p:grpSpPr>
            <p:sp>
              <p:nvSpPr>
                <p:cNvPr id="318" name="矩形 31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9" name="文本框 31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20" name="组合 319"/>
              <p:cNvGrpSpPr/>
              <p:nvPr/>
            </p:nvGrpSpPr>
            <p:grpSpPr>
              <a:xfrm>
                <a:off x="5789796" y="5639096"/>
                <a:ext cx="301686" cy="369332"/>
                <a:chOff x="2051973" y="3604374"/>
                <a:chExt cx="301686" cy="369332"/>
              </a:xfrm>
            </p:grpSpPr>
            <p:sp>
              <p:nvSpPr>
                <p:cNvPr id="321" name="矩形 32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2" name="文本框 321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23" name="组合 322"/>
              <p:cNvGrpSpPr/>
              <p:nvPr/>
            </p:nvGrpSpPr>
            <p:grpSpPr>
              <a:xfrm>
                <a:off x="5428879" y="5639096"/>
                <a:ext cx="288032" cy="369332"/>
                <a:chOff x="2051973" y="3604374"/>
                <a:chExt cx="288032" cy="369332"/>
              </a:xfrm>
            </p:grpSpPr>
            <p:sp>
              <p:nvSpPr>
                <p:cNvPr id="324" name="矩形 32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5" name="文本框 324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26" name="组合 325"/>
              <p:cNvGrpSpPr/>
              <p:nvPr/>
            </p:nvGrpSpPr>
            <p:grpSpPr>
              <a:xfrm>
                <a:off x="6164367" y="5639096"/>
                <a:ext cx="288032" cy="369332"/>
                <a:chOff x="2051973" y="3604374"/>
                <a:chExt cx="288032" cy="369332"/>
              </a:xfrm>
            </p:grpSpPr>
            <p:sp>
              <p:nvSpPr>
                <p:cNvPr id="327" name="矩形 32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8" name="文本框 32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29" name="组合 328"/>
              <p:cNvGrpSpPr/>
              <p:nvPr/>
            </p:nvGrpSpPr>
            <p:grpSpPr>
              <a:xfrm>
                <a:off x="6918331" y="5639096"/>
                <a:ext cx="301686" cy="369332"/>
                <a:chOff x="2051973" y="3604374"/>
                <a:chExt cx="301686" cy="369332"/>
              </a:xfrm>
            </p:grpSpPr>
            <p:sp>
              <p:nvSpPr>
                <p:cNvPr id="330" name="矩形 32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1" name="文本框 330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32" name="组合 331"/>
              <p:cNvGrpSpPr/>
              <p:nvPr/>
            </p:nvGrpSpPr>
            <p:grpSpPr>
              <a:xfrm>
                <a:off x="6557414" y="5639096"/>
                <a:ext cx="288032" cy="369332"/>
                <a:chOff x="2051973" y="3604374"/>
                <a:chExt cx="288032" cy="369332"/>
              </a:xfrm>
            </p:grpSpPr>
            <p:sp>
              <p:nvSpPr>
                <p:cNvPr id="333" name="矩形 33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4" name="文本框 333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35" name="组合 334"/>
              <p:cNvGrpSpPr/>
              <p:nvPr/>
            </p:nvGrpSpPr>
            <p:grpSpPr>
              <a:xfrm>
                <a:off x="7292902" y="5639096"/>
                <a:ext cx="288032" cy="369332"/>
                <a:chOff x="2051973" y="3604374"/>
                <a:chExt cx="288032" cy="369332"/>
              </a:xfrm>
            </p:grpSpPr>
            <p:sp>
              <p:nvSpPr>
                <p:cNvPr id="336" name="矩形 33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7" name="文本框 336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38" name="组合 337"/>
              <p:cNvGrpSpPr/>
              <p:nvPr/>
            </p:nvGrpSpPr>
            <p:grpSpPr>
              <a:xfrm>
                <a:off x="8265213" y="5646414"/>
                <a:ext cx="301686" cy="369332"/>
                <a:chOff x="2051973" y="3604374"/>
                <a:chExt cx="301686" cy="369332"/>
              </a:xfrm>
            </p:grpSpPr>
            <p:sp>
              <p:nvSpPr>
                <p:cNvPr id="339" name="矩形 33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0" name="文本框 339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41" name="组合 340"/>
              <p:cNvGrpSpPr/>
              <p:nvPr/>
            </p:nvGrpSpPr>
            <p:grpSpPr>
              <a:xfrm>
                <a:off x="7904296" y="5646414"/>
                <a:ext cx="288032" cy="369332"/>
                <a:chOff x="2051973" y="3604374"/>
                <a:chExt cx="288032" cy="369332"/>
              </a:xfrm>
            </p:grpSpPr>
            <p:sp>
              <p:nvSpPr>
                <p:cNvPr id="342" name="矩形 34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3" name="文本框 342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44" name="组合 343"/>
              <p:cNvGrpSpPr/>
              <p:nvPr/>
            </p:nvGrpSpPr>
            <p:grpSpPr>
              <a:xfrm>
                <a:off x="8639784" y="5646414"/>
                <a:ext cx="288032" cy="369332"/>
                <a:chOff x="2051973" y="3604374"/>
                <a:chExt cx="288032" cy="369332"/>
              </a:xfrm>
            </p:grpSpPr>
            <p:sp>
              <p:nvSpPr>
                <p:cNvPr id="345" name="矩形 34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6" name="文本框 345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47" name="组合 346"/>
              <p:cNvGrpSpPr/>
              <p:nvPr/>
            </p:nvGrpSpPr>
            <p:grpSpPr>
              <a:xfrm>
                <a:off x="9383581" y="5646414"/>
                <a:ext cx="301686" cy="369332"/>
                <a:chOff x="2051973" y="3604374"/>
                <a:chExt cx="301686" cy="369332"/>
              </a:xfrm>
            </p:grpSpPr>
            <p:sp>
              <p:nvSpPr>
                <p:cNvPr id="348" name="矩形 34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9" name="文本框 348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50" name="组合 349"/>
              <p:cNvGrpSpPr/>
              <p:nvPr/>
            </p:nvGrpSpPr>
            <p:grpSpPr>
              <a:xfrm>
                <a:off x="9022664" y="5646414"/>
                <a:ext cx="288032" cy="369332"/>
                <a:chOff x="2051973" y="3604374"/>
                <a:chExt cx="288032" cy="369332"/>
              </a:xfrm>
            </p:grpSpPr>
            <p:sp>
              <p:nvSpPr>
                <p:cNvPr id="351" name="矩形 35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2" name="文本框 351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53" name="组合 352"/>
              <p:cNvGrpSpPr/>
              <p:nvPr/>
            </p:nvGrpSpPr>
            <p:grpSpPr>
              <a:xfrm>
                <a:off x="9758152" y="5646414"/>
                <a:ext cx="288032" cy="369332"/>
                <a:chOff x="2051973" y="3604374"/>
                <a:chExt cx="288032" cy="369332"/>
              </a:xfrm>
            </p:grpSpPr>
            <p:sp>
              <p:nvSpPr>
                <p:cNvPr id="354" name="矩形 35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5" name="文本框 354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56" name="组合 355"/>
              <p:cNvGrpSpPr/>
              <p:nvPr/>
            </p:nvGrpSpPr>
            <p:grpSpPr>
              <a:xfrm>
                <a:off x="10520704" y="5635601"/>
                <a:ext cx="301686" cy="369332"/>
                <a:chOff x="2051973" y="3604374"/>
                <a:chExt cx="301686" cy="369332"/>
              </a:xfrm>
            </p:grpSpPr>
            <p:sp>
              <p:nvSpPr>
                <p:cNvPr id="357" name="矩形 35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8" name="文本框 357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59" name="组合 358"/>
              <p:cNvGrpSpPr/>
              <p:nvPr/>
            </p:nvGrpSpPr>
            <p:grpSpPr>
              <a:xfrm>
                <a:off x="10159787" y="5635601"/>
                <a:ext cx="288032" cy="369332"/>
                <a:chOff x="2051973" y="3604374"/>
                <a:chExt cx="288032" cy="369332"/>
              </a:xfrm>
            </p:grpSpPr>
            <p:sp>
              <p:nvSpPr>
                <p:cNvPr id="360" name="矩形 35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1" name="文本框 36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62" name="组合 361"/>
              <p:cNvGrpSpPr/>
              <p:nvPr/>
            </p:nvGrpSpPr>
            <p:grpSpPr>
              <a:xfrm>
                <a:off x="10895275" y="5635601"/>
                <a:ext cx="288032" cy="369332"/>
                <a:chOff x="2051973" y="3604374"/>
                <a:chExt cx="288032" cy="369332"/>
              </a:xfrm>
            </p:grpSpPr>
            <p:sp>
              <p:nvSpPr>
                <p:cNvPr id="363" name="矩形 36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4" name="文本框 363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65" name="组合 364"/>
              <p:cNvGrpSpPr/>
              <p:nvPr/>
            </p:nvGrpSpPr>
            <p:grpSpPr>
              <a:xfrm>
                <a:off x="5796823" y="6026287"/>
                <a:ext cx="301686" cy="369332"/>
                <a:chOff x="2051973" y="3604374"/>
                <a:chExt cx="301686" cy="369332"/>
              </a:xfrm>
            </p:grpSpPr>
            <p:sp>
              <p:nvSpPr>
                <p:cNvPr id="366" name="矩形 36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7" name="文本框 366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68" name="组合 367"/>
              <p:cNvGrpSpPr/>
              <p:nvPr/>
            </p:nvGrpSpPr>
            <p:grpSpPr>
              <a:xfrm>
                <a:off x="5435906" y="6026287"/>
                <a:ext cx="288032" cy="369332"/>
                <a:chOff x="2051973" y="3604374"/>
                <a:chExt cx="288032" cy="369332"/>
              </a:xfrm>
            </p:grpSpPr>
            <p:sp>
              <p:nvSpPr>
                <p:cNvPr id="369" name="矩形 36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0" name="文本框 369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71" name="组合 370"/>
              <p:cNvGrpSpPr/>
              <p:nvPr/>
            </p:nvGrpSpPr>
            <p:grpSpPr>
              <a:xfrm>
                <a:off x="6171394" y="6026287"/>
                <a:ext cx="288032" cy="369332"/>
                <a:chOff x="2051973" y="3604374"/>
                <a:chExt cx="288032" cy="369332"/>
              </a:xfrm>
            </p:grpSpPr>
            <p:sp>
              <p:nvSpPr>
                <p:cNvPr id="372" name="矩形 37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3" name="文本框 372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74" name="组合 373"/>
              <p:cNvGrpSpPr/>
              <p:nvPr/>
            </p:nvGrpSpPr>
            <p:grpSpPr>
              <a:xfrm>
                <a:off x="6919462" y="6026287"/>
                <a:ext cx="301686" cy="369332"/>
                <a:chOff x="2051973" y="3604374"/>
                <a:chExt cx="301686" cy="369332"/>
              </a:xfrm>
            </p:grpSpPr>
            <p:sp>
              <p:nvSpPr>
                <p:cNvPr id="375" name="矩形 37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6" name="文本框 375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77" name="组合 376"/>
              <p:cNvGrpSpPr/>
              <p:nvPr/>
            </p:nvGrpSpPr>
            <p:grpSpPr>
              <a:xfrm>
                <a:off x="6558545" y="6026287"/>
                <a:ext cx="288032" cy="369332"/>
                <a:chOff x="2051973" y="3604374"/>
                <a:chExt cx="288032" cy="369332"/>
              </a:xfrm>
            </p:grpSpPr>
            <p:sp>
              <p:nvSpPr>
                <p:cNvPr id="378" name="矩形 37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9" name="文本框 37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80" name="组合 379"/>
              <p:cNvGrpSpPr/>
              <p:nvPr/>
            </p:nvGrpSpPr>
            <p:grpSpPr>
              <a:xfrm>
                <a:off x="7294033" y="6026287"/>
                <a:ext cx="288032" cy="369332"/>
                <a:chOff x="2051973" y="3604374"/>
                <a:chExt cx="288032" cy="369332"/>
              </a:xfrm>
            </p:grpSpPr>
            <p:sp>
              <p:nvSpPr>
                <p:cNvPr id="381" name="矩形 38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2" name="文本框 381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83" name="组合 382"/>
              <p:cNvGrpSpPr/>
              <p:nvPr/>
            </p:nvGrpSpPr>
            <p:grpSpPr>
              <a:xfrm>
                <a:off x="8271028" y="6026287"/>
                <a:ext cx="301686" cy="369332"/>
                <a:chOff x="2051973" y="3604374"/>
                <a:chExt cx="301686" cy="369332"/>
              </a:xfrm>
            </p:grpSpPr>
            <p:sp>
              <p:nvSpPr>
                <p:cNvPr id="384" name="矩形 38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5" name="文本框 384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86" name="组合 385"/>
              <p:cNvGrpSpPr/>
              <p:nvPr/>
            </p:nvGrpSpPr>
            <p:grpSpPr>
              <a:xfrm>
                <a:off x="7910111" y="6026287"/>
                <a:ext cx="288032" cy="369332"/>
                <a:chOff x="2051973" y="3604374"/>
                <a:chExt cx="288032" cy="369332"/>
              </a:xfrm>
            </p:grpSpPr>
            <p:sp>
              <p:nvSpPr>
                <p:cNvPr id="387" name="矩形 38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8" name="文本框 387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89" name="组合 388"/>
              <p:cNvGrpSpPr/>
              <p:nvPr/>
            </p:nvGrpSpPr>
            <p:grpSpPr>
              <a:xfrm>
                <a:off x="8645599" y="6026287"/>
                <a:ext cx="288032" cy="369332"/>
                <a:chOff x="2051973" y="3604374"/>
                <a:chExt cx="288032" cy="369332"/>
              </a:xfrm>
            </p:grpSpPr>
            <p:sp>
              <p:nvSpPr>
                <p:cNvPr id="390" name="矩形 38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1" name="文本框 390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92" name="组合 391"/>
              <p:cNvGrpSpPr/>
              <p:nvPr/>
            </p:nvGrpSpPr>
            <p:grpSpPr>
              <a:xfrm>
                <a:off x="9383581" y="6033919"/>
                <a:ext cx="301686" cy="369332"/>
                <a:chOff x="2051973" y="3604374"/>
                <a:chExt cx="301686" cy="369332"/>
              </a:xfrm>
            </p:grpSpPr>
            <p:sp>
              <p:nvSpPr>
                <p:cNvPr id="393" name="矩形 39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4" name="文本框 393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395" name="组合 394"/>
              <p:cNvGrpSpPr/>
              <p:nvPr/>
            </p:nvGrpSpPr>
            <p:grpSpPr>
              <a:xfrm>
                <a:off x="9022664" y="6033919"/>
                <a:ext cx="288032" cy="369332"/>
                <a:chOff x="2051973" y="3604374"/>
                <a:chExt cx="288032" cy="369332"/>
              </a:xfrm>
            </p:grpSpPr>
            <p:sp>
              <p:nvSpPr>
                <p:cNvPr id="396" name="矩形 39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7" name="文本框 396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398" name="组合 397"/>
              <p:cNvGrpSpPr/>
              <p:nvPr/>
            </p:nvGrpSpPr>
            <p:grpSpPr>
              <a:xfrm>
                <a:off x="9758152" y="6033919"/>
                <a:ext cx="288032" cy="369332"/>
                <a:chOff x="2051973" y="3604374"/>
                <a:chExt cx="288032" cy="369332"/>
              </a:xfrm>
            </p:grpSpPr>
            <p:sp>
              <p:nvSpPr>
                <p:cNvPr id="399" name="矩形 39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0" name="文本框 399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01" name="组合 400"/>
              <p:cNvGrpSpPr/>
              <p:nvPr/>
            </p:nvGrpSpPr>
            <p:grpSpPr>
              <a:xfrm>
                <a:off x="10524007" y="6050001"/>
                <a:ext cx="301686" cy="369332"/>
                <a:chOff x="2051973" y="3604374"/>
                <a:chExt cx="301686" cy="369332"/>
              </a:xfrm>
            </p:grpSpPr>
            <p:sp>
              <p:nvSpPr>
                <p:cNvPr id="402" name="矩形 40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3" name="文本框 402"/>
                <p:cNvSpPr txBox="1"/>
                <p:nvPr/>
              </p:nvSpPr>
              <p:spPr>
                <a:xfrm>
                  <a:off x="2051973" y="36043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</p:grpSp>
          <p:grpSp>
            <p:nvGrpSpPr>
              <p:cNvPr id="404" name="组合 403"/>
              <p:cNvGrpSpPr/>
              <p:nvPr/>
            </p:nvGrpSpPr>
            <p:grpSpPr>
              <a:xfrm>
                <a:off x="10163090" y="6050001"/>
                <a:ext cx="288032" cy="369332"/>
                <a:chOff x="2051973" y="3604374"/>
                <a:chExt cx="288032" cy="369332"/>
              </a:xfrm>
            </p:grpSpPr>
            <p:sp>
              <p:nvSpPr>
                <p:cNvPr id="405" name="矩形 40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6" name="文本框 405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07" name="组合 406"/>
              <p:cNvGrpSpPr/>
              <p:nvPr/>
            </p:nvGrpSpPr>
            <p:grpSpPr>
              <a:xfrm>
                <a:off x="10898578" y="6050001"/>
                <a:ext cx="288032" cy="369332"/>
                <a:chOff x="2051973" y="3604374"/>
                <a:chExt cx="288032" cy="369332"/>
              </a:xfrm>
            </p:grpSpPr>
            <p:sp>
              <p:nvSpPr>
                <p:cNvPr id="408" name="矩形 40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9" name="文本框 408"/>
                <p:cNvSpPr txBox="1"/>
                <p:nvPr/>
              </p:nvSpPr>
              <p:spPr>
                <a:xfrm>
                  <a:off x="2051973" y="36043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13" name="组合 412"/>
              <p:cNvGrpSpPr/>
              <p:nvPr/>
            </p:nvGrpSpPr>
            <p:grpSpPr>
              <a:xfrm>
                <a:off x="5789566" y="3434915"/>
                <a:ext cx="288032" cy="369332"/>
                <a:chOff x="2051973" y="3604374"/>
                <a:chExt cx="288032" cy="369332"/>
              </a:xfrm>
            </p:grpSpPr>
            <p:sp>
              <p:nvSpPr>
                <p:cNvPr id="414" name="矩形 41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5" name="文本框 414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16" name="组合 415"/>
              <p:cNvGrpSpPr/>
              <p:nvPr/>
            </p:nvGrpSpPr>
            <p:grpSpPr>
              <a:xfrm>
                <a:off x="5428649" y="3434915"/>
                <a:ext cx="288032" cy="369332"/>
                <a:chOff x="2051973" y="3604374"/>
                <a:chExt cx="288032" cy="369332"/>
              </a:xfrm>
            </p:grpSpPr>
            <p:sp>
              <p:nvSpPr>
                <p:cNvPr id="417" name="矩形 41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8" name="文本框 417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19" name="组合 418"/>
              <p:cNvGrpSpPr/>
              <p:nvPr/>
            </p:nvGrpSpPr>
            <p:grpSpPr>
              <a:xfrm>
                <a:off x="6164137" y="3434915"/>
                <a:ext cx="288032" cy="369332"/>
                <a:chOff x="2051973" y="3604374"/>
                <a:chExt cx="288032" cy="369332"/>
              </a:xfrm>
            </p:grpSpPr>
            <p:sp>
              <p:nvSpPr>
                <p:cNvPr id="420" name="矩形 41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1" name="文本框 420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22" name="组合 421"/>
              <p:cNvGrpSpPr/>
              <p:nvPr/>
            </p:nvGrpSpPr>
            <p:grpSpPr>
              <a:xfrm>
                <a:off x="5067732" y="3434915"/>
                <a:ext cx="288032" cy="369332"/>
                <a:chOff x="2051973" y="3604374"/>
                <a:chExt cx="288032" cy="369332"/>
              </a:xfrm>
            </p:grpSpPr>
            <p:sp>
              <p:nvSpPr>
                <p:cNvPr id="423" name="矩形 42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4" name="文本框 423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25" name="组合 424"/>
              <p:cNvGrpSpPr/>
              <p:nvPr/>
            </p:nvGrpSpPr>
            <p:grpSpPr>
              <a:xfrm>
                <a:off x="4706815" y="3434915"/>
                <a:ext cx="288032" cy="369332"/>
                <a:chOff x="2051973" y="3604374"/>
                <a:chExt cx="288032" cy="369332"/>
              </a:xfrm>
            </p:grpSpPr>
            <p:sp>
              <p:nvSpPr>
                <p:cNvPr id="426" name="矩形 42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7" name="文本框 426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28" name="组合 427"/>
              <p:cNvGrpSpPr/>
              <p:nvPr/>
            </p:nvGrpSpPr>
            <p:grpSpPr>
              <a:xfrm>
                <a:off x="4345898" y="3434915"/>
                <a:ext cx="288032" cy="369332"/>
                <a:chOff x="2051973" y="3604374"/>
                <a:chExt cx="288032" cy="369332"/>
              </a:xfrm>
            </p:grpSpPr>
            <p:sp>
              <p:nvSpPr>
                <p:cNvPr id="429" name="矩形 42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0" name="文本框 429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sp>
            <p:nvSpPr>
              <p:cNvPr id="431" name="文本框 430"/>
              <p:cNvSpPr txBox="1"/>
              <p:nvPr/>
            </p:nvSpPr>
            <p:spPr>
              <a:xfrm>
                <a:off x="7566158" y="337132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  <p:grpSp>
            <p:nvGrpSpPr>
              <p:cNvPr id="432" name="组合 431"/>
              <p:cNvGrpSpPr/>
              <p:nvPr/>
            </p:nvGrpSpPr>
            <p:grpSpPr>
              <a:xfrm>
                <a:off x="6912705" y="3436503"/>
                <a:ext cx="288032" cy="369332"/>
                <a:chOff x="2051973" y="3604374"/>
                <a:chExt cx="288032" cy="369332"/>
              </a:xfrm>
            </p:grpSpPr>
            <p:sp>
              <p:nvSpPr>
                <p:cNvPr id="433" name="矩形 43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4" name="文本框 433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35" name="组合 434"/>
              <p:cNvGrpSpPr/>
              <p:nvPr/>
            </p:nvGrpSpPr>
            <p:grpSpPr>
              <a:xfrm>
                <a:off x="6551788" y="3436503"/>
                <a:ext cx="288032" cy="369332"/>
                <a:chOff x="2051973" y="3604374"/>
                <a:chExt cx="288032" cy="369332"/>
              </a:xfrm>
            </p:grpSpPr>
            <p:sp>
              <p:nvSpPr>
                <p:cNvPr id="436" name="矩形 43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7" name="文本框 436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38" name="组合 437"/>
              <p:cNvGrpSpPr/>
              <p:nvPr/>
            </p:nvGrpSpPr>
            <p:grpSpPr>
              <a:xfrm>
                <a:off x="7287276" y="3436503"/>
                <a:ext cx="288032" cy="369332"/>
                <a:chOff x="2051973" y="3604374"/>
                <a:chExt cx="288032" cy="369332"/>
              </a:xfrm>
            </p:grpSpPr>
            <p:sp>
              <p:nvSpPr>
                <p:cNvPr id="439" name="矩形 43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0" name="文本框 439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41" name="组合 440"/>
              <p:cNvGrpSpPr/>
              <p:nvPr/>
            </p:nvGrpSpPr>
            <p:grpSpPr>
              <a:xfrm>
                <a:off x="8267184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42" name="矩形 44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3" name="文本框 442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44" name="组合 443"/>
              <p:cNvGrpSpPr/>
              <p:nvPr/>
            </p:nvGrpSpPr>
            <p:grpSpPr>
              <a:xfrm>
                <a:off x="7906267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45" name="矩形 44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6" name="文本框 445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47" name="组合 446"/>
              <p:cNvGrpSpPr/>
              <p:nvPr/>
            </p:nvGrpSpPr>
            <p:grpSpPr>
              <a:xfrm>
                <a:off x="8641755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48" name="矩形 44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9" name="文本框 448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sp>
            <p:nvSpPr>
              <p:cNvPr id="450" name="文本框 449"/>
              <p:cNvSpPr txBox="1"/>
              <p:nvPr/>
            </p:nvSpPr>
            <p:spPr>
              <a:xfrm>
                <a:off x="11189459" y="337132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  <p:grpSp>
            <p:nvGrpSpPr>
              <p:cNvPr id="451" name="组合 450"/>
              <p:cNvGrpSpPr/>
              <p:nvPr/>
            </p:nvGrpSpPr>
            <p:grpSpPr>
              <a:xfrm>
                <a:off x="9384370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52" name="矩形 45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3" name="文本框 452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54" name="组合 453"/>
              <p:cNvGrpSpPr/>
              <p:nvPr/>
            </p:nvGrpSpPr>
            <p:grpSpPr>
              <a:xfrm>
                <a:off x="9023453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55" name="矩形 45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6" name="文本框 455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57" name="组合 456"/>
              <p:cNvGrpSpPr/>
              <p:nvPr/>
            </p:nvGrpSpPr>
            <p:grpSpPr>
              <a:xfrm>
                <a:off x="9758941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58" name="矩形 45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9" name="文本框 458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60" name="组合 459"/>
              <p:cNvGrpSpPr/>
              <p:nvPr/>
            </p:nvGrpSpPr>
            <p:grpSpPr>
              <a:xfrm>
                <a:off x="10513202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2" name="文本框 461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63" name="组合 462"/>
              <p:cNvGrpSpPr/>
              <p:nvPr/>
            </p:nvGrpSpPr>
            <p:grpSpPr>
              <a:xfrm>
                <a:off x="10152285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64" name="矩形 46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5" name="文本框 464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grpSp>
            <p:nvGrpSpPr>
              <p:cNvPr id="466" name="组合 465"/>
              <p:cNvGrpSpPr/>
              <p:nvPr/>
            </p:nvGrpSpPr>
            <p:grpSpPr>
              <a:xfrm>
                <a:off x="10887773" y="3433086"/>
                <a:ext cx="288032" cy="369332"/>
                <a:chOff x="2051973" y="3604374"/>
                <a:chExt cx="288032" cy="369332"/>
              </a:xfrm>
            </p:grpSpPr>
            <p:sp>
              <p:nvSpPr>
                <p:cNvPr id="467" name="矩形 46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8" name="文本框 467"/>
                <p:cNvSpPr txBox="1"/>
                <p:nvPr/>
              </p:nvSpPr>
              <p:spPr>
                <a:xfrm>
                  <a:off x="2051973" y="3604374"/>
                  <a:ext cx="2551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-</a:t>
                  </a:r>
                  <a:endParaRPr lang="zh-CN" altLang="en-US" dirty="0"/>
                </a:p>
              </p:txBody>
            </p:sp>
          </p:grpSp>
          <p:cxnSp>
            <p:nvCxnSpPr>
              <p:cNvPr id="469" name="直接连接符 468"/>
              <p:cNvCxnSpPr/>
              <p:nvPr/>
            </p:nvCxnSpPr>
            <p:spPr>
              <a:xfrm>
                <a:off x="4232349" y="3815896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0" name="文本框 469"/>
          <p:cNvSpPr txBox="1"/>
          <p:nvPr/>
        </p:nvSpPr>
        <p:spPr>
          <a:xfrm>
            <a:off x="291623" y="3304883"/>
            <a:ext cx="359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It’s a good training for rendering calculation,</a:t>
            </a:r>
            <a:r>
              <a:rPr lang="zh-CN" altLang="en-US" dirty="0"/>
              <a:t> </a:t>
            </a:r>
            <a:r>
              <a:rPr lang="en-US" altLang="zh-CN" dirty="0"/>
              <a:t>helpful</a:t>
            </a:r>
            <a:r>
              <a:rPr lang="zh-CN" altLang="en-US" dirty="0"/>
              <a:t> </a:t>
            </a:r>
            <a:r>
              <a:rPr lang="en-US" altLang="zh-CN" dirty="0"/>
              <a:t>for the</a:t>
            </a:r>
            <a:r>
              <a:rPr lang="zh-CN" altLang="en-US" dirty="0"/>
              <a:t> </a:t>
            </a:r>
            <a:r>
              <a:rPr lang="en-US" altLang="zh-CN" dirty="0"/>
              <a:t>GUI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endParaRPr lang="zh-CN" altLang="en-US" dirty="0"/>
          </a:p>
        </p:txBody>
      </p:sp>
      <p:sp>
        <p:nvSpPr>
          <p:cNvPr id="2" name="箭头: 右 1"/>
          <p:cNvSpPr/>
          <p:nvPr/>
        </p:nvSpPr>
        <p:spPr>
          <a:xfrm>
            <a:off x="3267250" y="4443332"/>
            <a:ext cx="415743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标题 4"/>
              <p:cNvSpPr txBox="1"/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</p:spPr>
            <p:txBody>
              <a:bodyPr vert="horz" lIns="91440" tIns="45720" rIns="91440" bIns="45720" anchor="ctr">
                <a:normAutofit/>
              </a:bodyPr>
              <a:lstStyle>
                <a:lvl1pPr lvl="0" algn="l" defTabSz="914400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Iteration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/>
                  <a:t> Implement &amp; Improve</a:t>
                </a:r>
                <a:endParaRPr lang="zh-CN" sz="3200" dirty="0"/>
              </a:p>
            </p:txBody>
          </p:sp>
        </mc:Choice>
        <mc:Fallback>
          <p:sp>
            <p:nvSpPr>
              <p:cNvPr id="50" name="标题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246901" y="1117917"/>
            <a:ext cx="11289766" cy="1896145"/>
            <a:chOff x="246901" y="1117917"/>
            <a:chExt cx="11289766" cy="1896145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0" y="1117917"/>
              <a:ext cx="11201307" cy="1896145"/>
              <a:chOff x="335360" y="1117917"/>
              <a:chExt cx="11201307" cy="1896145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335360" y="1117917"/>
                <a:ext cx="11201307" cy="1200329"/>
                <a:chOff x="335360" y="1117917"/>
                <a:chExt cx="11201307" cy="1200329"/>
              </a:xfrm>
            </p:grpSpPr>
            <p:sp>
              <p:nvSpPr>
                <p:cNvPr id="6" name="Rounded Rectangle 17"/>
                <p:cNvSpPr/>
                <p:nvPr/>
              </p:nvSpPr>
              <p:spPr>
                <a:xfrm>
                  <a:off x="335360" y="1196752"/>
                  <a:ext cx="1860629" cy="504056"/>
                </a:xfrm>
                <a:prstGeom prst="roundRect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" name="TextBox 18"/>
                <p:cNvSpPr txBox="1"/>
                <p:nvPr/>
              </p:nvSpPr>
              <p:spPr>
                <a:xfrm>
                  <a:off x="426213" y="1264114"/>
                  <a:ext cx="9575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  <a:effectLst/>
                    </a:rPr>
                    <a:t>render</a:t>
                  </a:r>
                  <a:r>
                    <a:rPr lang="en-US" dirty="0">
                      <a:solidFill>
                        <a:srgbClr val="0070C0"/>
                      </a:solidFill>
                    </a:rPr>
                    <a:t>()</a:t>
                  </a:r>
                  <a:endParaRPr lang="en-US" dirty="0">
                    <a:solidFill>
                      <a:srgbClr val="0070C0"/>
                    </a:solidFill>
                    <a:effectLst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639616" y="1117917"/>
                  <a:ext cx="8897051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Better show the row and column number as numerical input is used</a:t>
                  </a:r>
                  <a:endParaRPr lang="en-US" altLang="zh-C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Denote “+” for some unused position, “X” for the black stone, and “O” for the white stone</a:t>
                  </a:r>
                  <a:endParaRPr lang="en-US" altLang="zh-C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Loop over the rows and columns to print all those required things</a:t>
                  </a:r>
                  <a:endParaRPr lang="en-US" altLang="zh-C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Alignment should be considered</a:t>
                  </a:r>
                  <a:endParaRPr lang="en-US" altLang="zh-CN" dirty="0"/>
                </a:p>
              </p:txBody>
            </p:sp>
          </p:grpSp>
          <p:sp>
            <p:nvSpPr>
              <p:cNvPr id="5" name="文本框 4"/>
              <p:cNvSpPr txBox="1"/>
              <p:nvPr/>
            </p:nvSpPr>
            <p:spPr>
              <a:xfrm>
                <a:off x="760575" y="2275398"/>
                <a:ext cx="10643042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Note: actually the whole render() function is </a:t>
                </a:r>
                <a:r>
                  <a:rPr lang="en-US" altLang="zh-CN" sz="1400" b="1" dirty="0"/>
                  <a:t>optional</a:t>
                </a:r>
                <a:r>
                  <a:rPr lang="en-US" altLang="zh-CN" sz="1400" dirty="0"/>
                  <a:t> as we’d use JavaFX for rendering in the future, but we need such function for the whole</a:t>
                </a:r>
                <a:endParaRPr lang="en-US" altLang="zh-CN" sz="1400" dirty="0"/>
              </a:p>
              <a:p>
                <a:r>
                  <a:rPr lang="en-US" altLang="zh-CN" sz="1400" dirty="0"/>
                  <a:t>           program to be “complete” so that we can make some tests and ensure that our core components work properly, to avoid messing up with</a:t>
                </a:r>
                <a:endParaRPr lang="en-US" altLang="zh-CN" sz="1400" dirty="0"/>
              </a:p>
              <a:p>
                <a:r>
                  <a:rPr lang="en-US" altLang="zh-CN" sz="1400" dirty="0"/>
                  <a:t>           those future GUI codes.</a:t>
                </a:r>
                <a:endParaRPr lang="en-US" altLang="zh-CN" sz="1400" dirty="0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246901" y="1906066"/>
              <a:ext cx="2273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(A Quick Review Here)</a:t>
              </a:r>
              <a:endParaRPr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581362" y="3140968"/>
            <a:ext cx="6176335" cy="3076663"/>
            <a:chOff x="3674914" y="2780928"/>
            <a:chExt cx="7889417" cy="3930013"/>
          </a:xfrm>
        </p:grpSpPr>
        <p:sp>
          <p:nvSpPr>
            <p:cNvPr id="183" name="文本框 182"/>
            <p:cNvSpPr txBox="1"/>
            <p:nvPr/>
          </p:nvSpPr>
          <p:spPr>
            <a:xfrm>
              <a:off x="7978595" y="2780928"/>
              <a:ext cx="1010949" cy="353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boardSize</a:t>
              </a:r>
              <a:endParaRPr lang="zh-CN" altLang="en-US" sz="1200" dirty="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674914" y="3133388"/>
              <a:ext cx="7889417" cy="3577553"/>
              <a:chOff x="3674914" y="3133388"/>
              <a:chExt cx="7889417" cy="3577553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5793410" y="3791175"/>
                <a:ext cx="336219" cy="353829"/>
                <a:chOff x="2051973" y="3604374"/>
                <a:chExt cx="336219" cy="353829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5432493" y="3791175"/>
                <a:ext cx="288032" cy="353829"/>
                <a:chOff x="2051973" y="3604374"/>
                <a:chExt cx="288032" cy="353829"/>
              </a:xfrm>
            </p:grpSpPr>
            <p:sp>
              <p:nvSpPr>
                <p:cNvPr id="22" name="矩形 2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6167981" y="3791175"/>
                <a:ext cx="288032" cy="353829"/>
                <a:chOff x="2051973" y="3604374"/>
                <a:chExt cx="288032" cy="353829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5071576" y="3791175"/>
                <a:ext cx="288032" cy="353829"/>
                <a:chOff x="2051973" y="3604374"/>
                <a:chExt cx="288032" cy="353829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4710659" y="3791175"/>
                <a:ext cx="288032" cy="353829"/>
                <a:chOff x="2051973" y="3604374"/>
                <a:chExt cx="288032" cy="353829"/>
              </a:xfrm>
            </p:grpSpPr>
            <p:sp>
              <p:nvSpPr>
                <p:cNvPr id="31" name="矩形 3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4349742" y="3791175"/>
                <a:ext cx="288032" cy="353829"/>
                <a:chOff x="2051973" y="3604374"/>
                <a:chExt cx="288032" cy="353829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5076741" y="4203871"/>
                <a:ext cx="288032" cy="353829"/>
                <a:chOff x="2051973" y="3604374"/>
                <a:chExt cx="288032" cy="353829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715824" y="4203871"/>
                <a:ext cx="288032" cy="353829"/>
                <a:chOff x="2051973" y="3604374"/>
                <a:chExt cx="288032" cy="353829"/>
              </a:xfrm>
            </p:grpSpPr>
            <p:sp>
              <p:nvSpPr>
                <p:cNvPr id="40" name="矩形 3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4354907" y="4203871"/>
                <a:ext cx="336219" cy="353829"/>
                <a:chOff x="2051973" y="3604374"/>
                <a:chExt cx="336219" cy="353829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5071576" y="4578631"/>
                <a:ext cx="288032" cy="353829"/>
                <a:chOff x="2051973" y="3604374"/>
                <a:chExt cx="288032" cy="353829"/>
              </a:xfrm>
            </p:grpSpPr>
            <p:sp>
              <p:nvSpPr>
                <p:cNvPr id="46" name="矩形 4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4710659" y="4578631"/>
                <a:ext cx="288032" cy="353829"/>
                <a:chOff x="2051973" y="3604374"/>
                <a:chExt cx="288032" cy="353829"/>
              </a:xfrm>
            </p:grpSpPr>
            <p:sp>
              <p:nvSpPr>
                <p:cNvPr id="49" name="矩形 4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4349742" y="4578631"/>
                <a:ext cx="336219" cy="353829"/>
                <a:chOff x="2051973" y="3604374"/>
                <a:chExt cx="336219" cy="353829"/>
              </a:xfrm>
            </p:grpSpPr>
            <p:sp>
              <p:nvSpPr>
                <p:cNvPr id="53" name="矩形 5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2</a:t>
                  </a:r>
                  <a:endParaRPr lang="zh-CN" altLang="en-US" sz="1200" dirty="0"/>
                </a:p>
              </p:txBody>
            </p:sp>
          </p:grpSp>
          <p:sp>
            <p:nvSpPr>
              <p:cNvPr id="55" name="文本框 54"/>
              <p:cNvSpPr txBox="1"/>
              <p:nvPr/>
            </p:nvSpPr>
            <p:spPr>
              <a:xfrm rot="5400000">
                <a:off x="4723465" y="4940731"/>
                <a:ext cx="371028" cy="35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…</a:t>
                </a:r>
                <a:endParaRPr lang="zh-CN" altLang="en-US" sz="1200" dirty="0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5071576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57" name="矩形 5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59" name="组合 58"/>
              <p:cNvGrpSpPr/>
              <p:nvPr/>
            </p:nvGrpSpPr>
            <p:grpSpPr>
              <a:xfrm>
                <a:off x="4710659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60" name="矩形 5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4349742" y="5264336"/>
                <a:ext cx="336219" cy="353829"/>
                <a:chOff x="2051973" y="3604374"/>
                <a:chExt cx="336219" cy="353829"/>
              </a:xfrm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9</a:t>
                  </a:r>
                  <a:endParaRPr lang="zh-CN" altLang="en-US" sz="1200" dirty="0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066411" y="5639096"/>
                <a:ext cx="288032" cy="353829"/>
                <a:chOff x="2051973" y="3604374"/>
                <a:chExt cx="288032" cy="353829"/>
              </a:xfrm>
            </p:grpSpPr>
            <p:sp>
              <p:nvSpPr>
                <p:cNvPr id="66" name="矩形 6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4705494" y="5639096"/>
                <a:ext cx="336219" cy="353829"/>
                <a:chOff x="2051973" y="3604374"/>
                <a:chExt cx="336219" cy="353829"/>
              </a:xfrm>
            </p:grpSpPr>
            <p:sp>
              <p:nvSpPr>
                <p:cNvPr id="69" name="矩形 6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70" name="文本框 69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0</a:t>
                  </a:r>
                  <a:endParaRPr lang="zh-CN" altLang="en-US" sz="1200" dirty="0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4344577" y="5639096"/>
                <a:ext cx="336219" cy="353829"/>
                <a:chOff x="2051973" y="3604374"/>
                <a:chExt cx="336219" cy="353829"/>
              </a:xfrm>
            </p:grpSpPr>
            <p:sp>
              <p:nvSpPr>
                <p:cNvPr id="72" name="矩形 7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73" name="文本框 72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5066411" y="6022893"/>
                <a:ext cx="288032" cy="353829"/>
                <a:chOff x="2051973" y="3604374"/>
                <a:chExt cx="288032" cy="353829"/>
              </a:xfrm>
            </p:grpSpPr>
            <p:sp>
              <p:nvSpPr>
                <p:cNvPr id="75" name="矩形 7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4705494" y="6022893"/>
                <a:ext cx="336219" cy="353829"/>
                <a:chOff x="2051973" y="3604374"/>
                <a:chExt cx="336219" cy="353829"/>
              </a:xfrm>
            </p:grpSpPr>
            <p:sp>
              <p:nvSpPr>
                <p:cNvPr id="78" name="矩形 7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79" name="文本框 78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4344577" y="6022893"/>
                <a:ext cx="336219" cy="353829"/>
                <a:chOff x="2051973" y="3604374"/>
                <a:chExt cx="336219" cy="353829"/>
              </a:xfrm>
            </p:grpSpPr>
            <p:sp>
              <p:nvSpPr>
                <p:cNvPr id="121" name="矩形 12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22" name="文本框 121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sp>
            <p:nvSpPr>
              <p:cNvPr id="123" name="文本框 122"/>
              <p:cNvSpPr txBox="1"/>
              <p:nvPr/>
            </p:nvSpPr>
            <p:spPr>
              <a:xfrm>
                <a:off x="7570002" y="3727584"/>
                <a:ext cx="371028" cy="35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…</a:t>
                </a:r>
                <a:endParaRPr lang="zh-CN" altLang="en-US" sz="1200" dirty="0"/>
              </a:p>
            </p:txBody>
          </p:sp>
          <p:grpSp>
            <p:nvGrpSpPr>
              <p:cNvPr id="124" name="组合 123"/>
              <p:cNvGrpSpPr/>
              <p:nvPr/>
            </p:nvGrpSpPr>
            <p:grpSpPr>
              <a:xfrm>
                <a:off x="6916549" y="3792763"/>
                <a:ext cx="336219" cy="353829"/>
                <a:chOff x="2051973" y="3604374"/>
                <a:chExt cx="336219" cy="353829"/>
              </a:xfrm>
            </p:grpSpPr>
            <p:sp>
              <p:nvSpPr>
                <p:cNvPr id="125" name="矩形 12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26" name="文本框 125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2</a:t>
                  </a:r>
                  <a:endParaRPr lang="zh-CN" altLang="en-US" sz="1200" dirty="0"/>
                </a:p>
              </p:txBody>
            </p:sp>
          </p:grpSp>
          <p:grpSp>
            <p:nvGrpSpPr>
              <p:cNvPr id="127" name="组合 126"/>
              <p:cNvGrpSpPr/>
              <p:nvPr/>
            </p:nvGrpSpPr>
            <p:grpSpPr>
              <a:xfrm>
                <a:off x="6555632" y="3792763"/>
                <a:ext cx="288032" cy="353829"/>
                <a:chOff x="2051973" y="3604374"/>
                <a:chExt cx="288032" cy="353829"/>
              </a:xfrm>
            </p:grpSpPr>
            <p:sp>
              <p:nvSpPr>
                <p:cNvPr id="128" name="矩形 12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29" name="文本框 12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7291120" y="3792763"/>
                <a:ext cx="288032" cy="353829"/>
                <a:chOff x="2051973" y="3604374"/>
                <a:chExt cx="288032" cy="353829"/>
              </a:xfrm>
            </p:grpSpPr>
            <p:sp>
              <p:nvSpPr>
                <p:cNvPr id="131" name="矩形 13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32" name="文本框 131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33" name="组合 132"/>
              <p:cNvGrpSpPr/>
              <p:nvPr/>
            </p:nvGrpSpPr>
            <p:grpSpPr>
              <a:xfrm>
                <a:off x="8271028" y="3789346"/>
                <a:ext cx="336219" cy="353829"/>
                <a:chOff x="2051973" y="3604374"/>
                <a:chExt cx="336219" cy="353829"/>
              </a:xfrm>
            </p:grpSpPr>
            <p:sp>
              <p:nvSpPr>
                <p:cNvPr id="134" name="矩形 13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35" name="文本框 134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9</a:t>
                  </a:r>
                  <a:endParaRPr lang="zh-CN" altLang="en-US" sz="1200" dirty="0"/>
                </a:p>
              </p:txBody>
            </p:sp>
          </p:grpSp>
          <p:grpSp>
            <p:nvGrpSpPr>
              <p:cNvPr id="136" name="组合 135"/>
              <p:cNvGrpSpPr/>
              <p:nvPr/>
            </p:nvGrpSpPr>
            <p:grpSpPr>
              <a:xfrm>
                <a:off x="7910111" y="3789346"/>
                <a:ext cx="288032" cy="353829"/>
                <a:chOff x="2051973" y="3604374"/>
                <a:chExt cx="288032" cy="353829"/>
              </a:xfrm>
            </p:grpSpPr>
            <p:sp>
              <p:nvSpPr>
                <p:cNvPr id="137" name="矩形 13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38" name="文本框 13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39" name="组合 138"/>
              <p:cNvGrpSpPr/>
              <p:nvPr/>
            </p:nvGrpSpPr>
            <p:grpSpPr>
              <a:xfrm>
                <a:off x="8645599" y="3789346"/>
                <a:ext cx="288032" cy="353829"/>
                <a:chOff x="2051973" y="3604374"/>
                <a:chExt cx="288032" cy="353829"/>
              </a:xfrm>
            </p:grpSpPr>
            <p:sp>
              <p:nvSpPr>
                <p:cNvPr id="140" name="矩形 13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41" name="文本框 14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sp>
            <p:nvSpPr>
              <p:cNvPr id="142" name="文本框 141"/>
              <p:cNvSpPr txBox="1"/>
              <p:nvPr/>
            </p:nvSpPr>
            <p:spPr>
              <a:xfrm rot="5400000">
                <a:off x="4706562" y="6348513"/>
                <a:ext cx="371028" cy="35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…</a:t>
                </a:r>
                <a:endParaRPr lang="zh-CN" altLang="en-US" sz="1200" dirty="0"/>
              </a:p>
            </p:txBody>
          </p:sp>
          <p:sp>
            <p:nvSpPr>
              <p:cNvPr id="143" name="文本框 142"/>
              <p:cNvSpPr txBox="1"/>
              <p:nvPr/>
            </p:nvSpPr>
            <p:spPr>
              <a:xfrm>
                <a:off x="11193303" y="3727584"/>
                <a:ext cx="371028" cy="35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…</a:t>
                </a:r>
                <a:endParaRPr lang="zh-CN" altLang="en-US" sz="1200" dirty="0"/>
              </a:p>
            </p:txBody>
          </p:sp>
          <p:grpSp>
            <p:nvGrpSpPr>
              <p:cNvPr id="144" name="组合 143"/>
              <p:cNvGrpSpPr/>
              <p:nvPr/>
            </p:nvGrpSpPr>
            <p:grpSpPr>
              <a:xfrm>
                <a:off x="9388214" y="3789346"/>
                <a:ext cx="336219" cy="353829"/>
                <a:chOff x="2051973" y="3604374"/>
                <a:chExt cx="336219" cy="353829"/>
              </a:xfrm>
            </p:grpSpPr>
            <p:sp>
              <p:nvSpPr>
                <p:cNvPr id="145" name="矩形 14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46" name="文本框 145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grpSp>
            <p:nvGrpSpPr>
              <p:cNvPr id="147" name="组合 146"/>
              <p:cNvGrpSpPr/>
              <p:nvPr/>
            </p:nvGrpSpPr>
            <p:grpSpPr>
              <a:xfrm>
                <a:off x="9027297" y="3789346"/>
                <a:ext cx="288032" cy="353829"/>
                <a:chOff x="2051973" y="3604374"/>
                <a:chExt cx="288032" cy="353829"/>
              </a:xfrm>
            </p:grpSpPr>
            <p:sp>
              <p:nvSpPr>
                <p:cNvPr id="148" name="矩形 14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49" name="文本框 14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50" name="组合 149"/>
              <p:cNvGrpSpPr/>
              <p:nvPr/>
            </p:nvGrpSpPr>
            <p:grpSpPr>
              <a:xfrm>
                <a:off x="9762785" y="3789346"/>
                <a:ext cx="336219" cy="353829"/>
                <a:chOff x="2051973" y="3604374"/>
                <a:chExt cx="336219" cy="353829"/>
              </a:xfrm>
            </p:grpSpPr>
            <p:sp>
              <p:nvSpPr>
                <p:cNvPr id="151" name="矩形 15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52" name="文本框 151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0</a:t>
                  </a:r>
                  <a:endParaRPr lang="zh-CN" altLang="en-US" sz="1200" dirty="0"/>
                </a:p>
              </p:txBody>
            </p:sp>
          </p:grpSp>
          <p:grpSp>
            <p:nvGrpSpPr>
              <p:cNvPr id="153" name="组合 152"/>
              <p:cNvGrpSpPr/>
              <p:nvPr/>
            </p:nvGrpSpPr>
            <p:grpSpPr>
              <a:xfrm>
                <a:off x="10517046" y="3789346"/>
                <a:ext cx="336219" cy="353829"/>
                <a:chOff x="2051973" y="3604374"/>
                <a:chExt cx="336219" cy="353829"/>
              </a:xfrm>
            </p:grpSpPr>
            <p:sp>
              <p:nvSpPr>
                <p:cNvPr id="154" name="矩形 15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55" name="文本框 154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grpSp>
            <p:nvGrpSpPr>
              <p:cNvPr id="156" name="组合 155"/>
              <p:cNvGrpSpPr/>
              <p:nvPr/>
            </p:nvGrpSpPr>
            <p:grpSpPr>
              <a:xfrm>
                <a:off x="10156129" y="3789346"/>
                <a:ext cx="288032" cy="353829"/>
                <a:chOff x="2051973" y="3604374"/>
                <a:chExt cx="288032" cy="353829"/>
              </a:xfrm>
            </p:grpSpPr>
            <p:sp>
              <p:nvSpPr>
                <p:cNvPr id="157" name="矩形 15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58" name="文本框 15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59" name="组合 158"/>
              <p:cNvGrpSpPr/>
              <p:nvPr/>
            </p:nvGrpSpPr>
            <p:grpSpPr>
              <a:xfrm>
                <a:off x="10891617" y="3789346"/>
                <a:ext cx="336219" cy="353829"/>
                <a:chOff x="2051973" y="3604374"/>
                <a:chExt cx="336219" cy="353829"/>
              </a:xfrm>
            </p:grpSpPr>
            <p:sp>
              <p:nvSpPr>
                <p:cNvPr id="160" name="矩形 15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2051973" y="3604374"/>
                  <a:ext cx="336219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</a:t>
                  </a:r>
                  <a:endParaRPr lang="zh-CN" altLang="en-US" sz="1200" dirty="0"/>
                </a:p>
              </p:txBody>
            </p:sp>
          </p:grpSp>
          <p:cxnSp>
            <p:nvCxnSpPr>
              <p:cNvPr id="163" name="直接连接符 162"/>
              <p:cNvCxnSpPr/>
              <p:nvPr/>
            </p:nvCxnSpPr>
            <p:spPr>
              <a:xfrm>
                <a:off x="4236193" y="4172156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4236193" y="4573203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>
                <a:off x="4236193" y="5633668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4236193" y="6008428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flipH="1">
                <a:off x="5385268" y="3429000"/>
                <a:ext cx="6637" cy="318835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>
                <a:off x="6494153" y="3429000"/>
                <a:ext cx="8638" cy="319627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>
                <a:off x="7605195" y="3436503"/>
                <a:ext cx="10922" cy="318085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flipH="1">
                <a:off x="7864832" y="3429000"/>
                <a:ext cx="13881" cy="319627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flipH="1">
                <a:off x="8964834" y="3429000"/>
                <a:ext cx="3780" cy="318835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>
                <a:off x="10084358" y="3429000"/>
                <a:ext cx="14840" cy="319627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4236193" y="5231570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4236193" y="4976822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右大括号 180"/>
              <p:cNvSpPr/>
              <p:nvPr/>
            </p:nvSpPr>
            <p:spPr>
              <a:xfrm rot="16200000">
                <a:off x="8343133" y="228776"/>
                <a:ext cx="269989" cy="6079214"/>
              </a:xfrm>
              <a:prstGeom prst="rightBrace">
                <a:avLst/>
              </a:prstGeom>
              <a:ln w="12700">
                <a:solidFill>
                  <a:srgbClr val="223F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182" name="右大括号 181"/>
              <p:cNvSpPr/>
              <p:nvPr/>
            </p:nvSpPr>
            <p:spPr>
              <a:xfrm rot="10800000">
                <a:off x="4042635" y="4203869"/>
                <a:ext cx="152871" cy="2421402"/>
              </a:xfrm>
              <a:prstGeom prst="rightBrace">
                <a:avLst/>
              </a:prstGeom>
              <a:ln w="12700">
                <a:solidFill>
                  <a:srgbClr val="223F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184" name="文本框 183"/>
              <p:cNvSpPr txBox="1"/>
              <p:nvPr/>
            </p:nvSpPr>
            <p:spPr>
              <a:xfrm rot="16200000">
                <a:off x="3346353" y="5315172"/>
                <a:ext cx="1010949" cy="35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/>
                  <a:t>boardSize</a:t>
                </a:r>
                <a:endParaRPr lang="zh-CN" altLang="en-US" sz="1200" dirty="0"/>
              </a:p>
            </p:txBody>
          </p:sp>
          <p:grpSp>
            <p:nvGrpSpPr>
              <p:cNvPr id="185" name="组合 184"/>
              <p:cNvGrpSpPr/>
              <p:nvPr/>
            </p:nvGrpSpPr>
            <p:grpSpPr>
              <a:xfrm>
                <a:off x="5796823" y="4197811"/>
                <a:ext cx="334170" cy="353829"/>
                <a:chOff x="2051973" y="3604374"/>
                <a:chExt cx="334170" cy="353829"/>
              </a:xfrm>
            </p:grpSpPr>
            <p:sp>
              <p:nvSpPr>
                <p:cNvPr id="186" name="矩形 18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87" name="文本框 186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188" name="组合 187"/>
              <p:cNvGrpSpPr/>
              <p:nvPr/>
            </p:nvGrpSpPr>
            <p:grpSpPr>
              <a:xfrm>
                <a:off x="5435906" y="4197811"/>
                <a:ext cx="288032" cy="353829"/>
                <a:chOff x="2051973" y="3604374"/>
                <a:chExt cx="288032" cy="353829"/>
              </a:xfrm>
            </p:grpSpPr>
            <p:sp>
              <p:nvSpPr>
                <p:cNvPr id="189" name="矩形 18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90" name="文本框 189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91" name="组合 190"/>
              <p:cNvGrpSpPr/>
              <p:nvPr/>
            </p:nvGrpSpPr>
            <p:grpSpPr>
              <a:xfrm>
                <a:off x="6171394" y="4197811"/>
                <a:ext cx="288032" cy="353829"/>
                <a:chOff x="2051973" y="3604374"/>
                <a:chExt cx="288032" cy="353829"/>
              </a:xfrm>
            </p:grpSpPr>
            <p:sp>
              <p:nvSpPr>
                <p:cNvPr id="192" name="矩形 19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93" name="文本框 192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94" name="组合 193"/>
              <p:cNvGrpSpPr/>
              <p:nvPr/>
            </p:nvGrpSpPr>
            <p:grpSpPr>
              <a:xfrm>
                <a:off x="6914528" y="4209208"/>
                <a:ext cx="334170" cy="353829"/>
                <a:chOff x="2051973" y="3604374"/>
                <a:chExt cx="334170" cy="353829"/>
              </a:xfrm>
            </p:grpSpPr>
            <p:sp>
              <p:nvSpPr>
                <p:cNvPr id="195" name="矩形 19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96" name="文本框 195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197" name="组合 196"/>
              <p:cNvGrpSpPr/>
              <p:nvPr/>
            </p:nvGrpSpPr>
            <p:grpSpPr>
              <a:xfrm>
                <a:off x="6553611" y="4209208"/>
                <a:ext cx="288032" cy="353829"/>
                <a:chOff x="2051973" y="3604374"/>
                <a:chExt cx="288032" cy="353829"/>
              </a:xfrm>
            </p:grpSpPr>
            <p:sp>
              <p:nvSpPr>
                <p:cNvPr id="198" name="矩形 19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199" name="文本框 19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00" name="组合 199"/>
              <p:cNvGrpSpPr/>
              <p:nvPr/>
            </p:nvGrpSpPr>
            <p:grpSpPr>
              <a:xfrm>
                <a:off x="7289099" y="4209208"/>
                <a:ext cx="288032" cy="353829"/>
                <a:chOff x="2051973" y="3604374"/>
                <a:chExt cx="288032" cy="353829"/>
              </a:xfrm>
            </p:grpSpPr>
            <p:sp>
              <p:nvSpPr>
                <p:cNvPr id="201" name="矩形 20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02" name="文本框 201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03" name="组合 202"/>
              <p:cNvGrpSpPr/>
              <p:nvPr/>
            </p:nvGrpSpPr>
            <p:grpSpPr>
              <a:xfrm>
                <a:off x="8274603" y="4213355"/>
                <a:ext cx="334170" cy="353829"/>
                <a:chOff x="2051973" y="3604374"/>
                <a:chExt cx="334170" cy="353829"/>
              </a:xfrm>
            </p:grpSpPr>
            <p:sp>
              <p:nvSpPr>
                <p:cNvPr id="204" name="矩形 20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05" name="文本框 204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06" name="组合 205"/>
              <p:cNvGrpSpPr/>
              <p:nvPr/>
            </p:nvGrpSpPr>
            <p:grpSpPr>
              <a:xfrm>
                <a:off x="7913686" y="4213355"/>
                <a:ext cx="288032" cy="353829"/>
                <a:chOff x="2051973" y="3604374"/>
                <a:chExt cx="288032" cy="353829"/>
              </a:xfrm>
            </p:grpSpPr>
            <p:sp>
              <p:nvSpPr>
                <p:cNvPr id="207" name="矩形 20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08" name="文本框 20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09" name="组合 208"/>
              <p:cNvGrpSpPr/>
              <p:nvPr/>
            </p:nvGrpSpPr>
            <p:grpSpPr>
              <a:xfrm>
                <a:off x="8649174" y="4213355"/>
                <a:ext cx="288032" cy="353829"/>
                <a:chOff x="2051973" y="3604374"/>
                <a:chExt cx="288032" cy="353829"/>
              </a:xfrm>
            </p:grpSpPr>
            <p:sp>
              <p:nvSpPr>
                <p:cNvPr id="210" name="矩形 20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11" name="文本框 21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12" name="组合 211"/>
              <p:cNvGrpSpPr/>
              <p:nvPr/>
            </p:nvGrpSpPr>
            <p:grpSpPr>
              <a:xfrm>
                <a:off x="9388214" y="4219948"/>
                <a:ext cx="366933" cy="353829"/>
                <a:chOff x="2051973" y="3604374"/>
                <a:chExt cx="366933" cy="353829"/>
              </a:xfrm>
            </p:grpSpPr>
            <p:sp>
              <p:nvSpPr>
                <p:cNvPr id="213" name="矩形 21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14" name="文本框 213"/>
                <p:cNvSpPr txBox="1"/>
                <p:nvPr/>
              </p:nvSpPr>
              <p:spPr>
                <a:xfrm>
                  <a:off x="2051973" y="3604374"/>
                  <a:ext cx="366933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O</a:t>
                  </a:r>
                  <a:endParaRPr lang="zh-CN" altLang="en-US" sz="1200" dirty="0"/>
                </a:p>
              </p:txBody>
            </p:sp>
          </p:grpSp>
          <p:grpSp>
            <p:nvGrpSpPr>
              <p:cNvPr id="215" name="组合 214"/>
              <p:cNvGrpSpPr/>
              <p:nvPr/>
            </p:nvGrpSpPr>
            <p:grpSpPr>
              <a:xfrm>
                <a:off x="9027297" y="4219948"/>
                <a:ext cx="288032" cy="353829"/>
                <a:chOff x="2051973" y="3604374"/>
                <a:chExt cx="288032" cy="353829"/>
              </a:xfrm>
            </p:grpSpPr>
            <p:sp>
              <p:nvSpPr>
                <p:cNvPr id="216" name="矩形 21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17" name="文本框 216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18" name="组合 217"/>
              <p:cNvGrpSpPr/>
              <p:nvPr/>
            </p:nvGrpSpPr>
            <p:grpSpPr>
              <a:xfrm>
                <a:off x="9762785" y="4219948"/>
                <a:ext cx="288032" cy="353829"/>
                <a:chOff x="2051973" y="3604374"/>
                <a:chExt cx="288032" cy="353829"/>
              </a:xfrm>
            </p:grpSpPr>
            <p:sp>
              <p:nvSpPr>
                <p:cNvPr id="219" name="矩形 21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20" name="文本框 219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21" name="组合 220"/>
              <p:cNvGrpSpPr/>
              <p:nvPr/>
            </p:nvGrpSpPr>
            <p:grpSpPr>
              <a:xfrm>
                <a:off x="10516039" y="4208856"/>
                <a:ext cx="334170" cy="353829"/>
                <a:chOff x="2051973" y="3604374"/>
                <a:chExt cx="334170" cy="353829"/>
              </a:xfrm>
            </p:grpSpPr>
            <p:sp>
              <p:nvSpPr>
                <p:cNvPr id="222" name="矩形 22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23" name="文本框 222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24" name="组合 223"/>
              <p:cNvGrpSpPr/>
              <p:nvPr/>
            </p:nvGrpSpPr>
            <p:grpSpPr>
              <a:xfrm>
                <a:off x="10155122" y="4208856"/>
                <a:ext cx="288032" cy="353829"/>
                <a:chOff x="2051973" y="3604374"/>
                <a:chExt cx="288032" cy="353829"/>
              </a:xfrm>
            </p:grpSpPr>
            <p:sp>
              <p:nvSpPr>
                <p:cNvPr id="225" name="矩形 22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26" name="文本框 225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27" name="组合 226"/>
              <p:cNvGrpSpPr/>
              <p:nvPr/>
            </p:nvGrpSpPr>
            <p:grpSpPr>
              <a:xfrm>
                <a:off x="10890610" y="4208856"/>
                <a:ext cx="288032" cy="353829"/>
                <a:chOff x="2051973" y="3604374"/>
                <a:chExt cx="288032" cy="353829"/>
              </a:xfrm>
            </p:grpSpPr>
            <p:sp>
              <p:nvSpPr>
                <p:cNvPr id="228" name="矩形 22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29" name="文本框 22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30" name="组合 229"/>
              <p:cNvGrpSpPr/>
              <p:nvPr/>
            </p:nvGrpSpPr>
            <p:grpSpPr>
              <a:xfrm>
                <a:off x="5795974" y="4582687"/>
                <a:ext cx="334170" cy="353829"/>
                <a:chOff x="2051973" y="3604374"/>
                <a:chExt cx="334170" cy="353829"/>
              </a:xfrm>
            </p:grpSpPr>
            <p:sp>
              <p:nvSpPr>
                <p:cNvPr id="231" name="矩形 23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32" name="文本框 231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33" name="组合 232"/>
              <p:cNvGrpSpPr/>
              <p:nvPr/>
            </p:nvGrpSpPr>
            <p:grpSpPr>
              <a:xfrm>
                <a:off x="5435057" y="4582687"/>
                <a:ext cx="288032" cy="353829"/>
                <a:chOff x="2051973" y="3604374"/>
                <a:chExt cx="288032" cy="353829"/>
              </a:xfrm>
            </p:grpSpPr>
            <p:sp>
              <p:nvSpPr>
                <p:cNvPr id="234" name="矩形 23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35" name="文本框 234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36" name="组合 235"/>
              <p:cNvGrpSpPr/>
              <p:nvPr/>
            </p:nvGrpSpPr>
            <p:grpSpPr>
              <a:xfrm>
                <a:off x="6170545" y="4582687"/>
                <a:ext cx="288032" cy="353829"/>
                <a:chOff x="2051973" y="3604374"/>
                <a:chExt cx="288032" cy="353829"/>
              </a:xfrm>
            </p:grpSpPr>
            <p:sp>
              <p:nvSpPr>
                <p:cNvPr id="237" name="矩形 23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38" name="文本框 23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39" name="组合 238"/>
              <p:cNvGrpSpPr/>
              <p:nvPr/>
            </p:nvGrpSpPr>
            <p:grpSpPr>
              <a:xfrm>
                <a:off x="6919498" y="4593026"/>
                <a:ext cx="338266" cy="353829"/>
                <a:chOff x="2051973" y="3604374"/>
                <a:chExt cx="338266" cy="353829"/>
              </a:xfrm>
            </p:grpSpPr>
            <p:sp>
              <p:nvSpPr>
                <p:cNvPr id="240" name="矩形 23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41" name="文本框 240"/>
                <p:cNvSpPr txBox="1"/>
                <p:nvPr/>
              </p:nvSpPr>
              <p:spPr>
                <a:xfrm>
                  <a:off x="2051973" y="3604374"/>
                  <a:ext cx="338266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X</a:t>
                  </a:r>
                  <a:endParaRPr lang="zh-CN" altLang="en-US" sz="1200" dirty="0"/>
                </a:p>
              </p:txBody>
            </p:sp>
          </p:grpSp>
          <p:grpSp>
            <p:nvGrpSpPr>
              <p:cNvPr id="242" name="组合 241"/>
              <p:cNvGrpSpPr/>
              <p:nvPr/>
            </p:nvGrpSpPr>
            <p:grpSpPr>
              <a:xfrm>
                <a:off x="6558581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43" name="矩形 24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44" name="文本框 243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45" name="组合 244"/>
              <p:cNvGrpSpPr/>
              <p:nvPr/>
            </p:nvGrpSpPr>
            <p:grpSpPr>
              <a:xfrm>
                <a:off x="7294069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46" name="矩形 24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47" name="文本框 246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48" name="组合 247"/>
              <p:cNvGrpSpPr/>
              <p:nvPr/>
            </p:nvGrpSpPr>
            <p:grpSpPr>
              <a:xfrm>
                <a:off x="8276792" y="4593026"/>
                <a:ext cx="334170" cy="353829"/>
                <a:chOff x="2051973" y="3604374"/>
                <a:chExt cx="334170" cy="353829"/>
              </a:xfrm>
            </p:grpSpPr>
            <p:sp>
              <p:nvSpPr>
                <p:cNvPr id="249" name="矩形 24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50" name="文本框 249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51" name="组合 250"/>
              <p:cNvGrpSpPr/>
              <p:nvPr/>
            </p:nvGrpSpPr>
            <p:grpSpPr>
              <a:xfrm>
                <a:off x="7915875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52" name="矩形 25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53" name="文本框 252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54" name="组合 253"/>
              <p:cNvGrpSpPr/>
              <p:nvPr/>
            </p:nvGrpSpPr>
            <p:grpSpPr>
              <a:xfrm>
                <a:off x="8651363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55" name="矩形 25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56" name="文本框 255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57" name="组合 256"/>
              <p:cNvGrpSpPr/>
              <p:nvPr/>
            </p:nvGrpSpPr>
            <p:grpSpPr>
              <a:xfrm>
                <a:off x="9387757" y="4593026"/>
                <a:ext cx="334170" cy="353829"/>
                <a:chOff x="2051973" y="3604374"/>
                <a:chExt cx="334170" cy="353829"/>
              </a:xfrm>
            </p:grpSpPr>
            <p:sp>
              <p:nvSpPr>
                <p:cNvPr id="258" name="矩形 25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59" name="文本框 258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60" name="组合 259"/>
              <p:cNvGrpSpPr/>
              <p:nvPr/>
            </p:nvGrpSpPr>
            <p:grpSpPr>
              <a:xfrm>
                <a:off x="9026840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61" name="矩形 26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62" name="文本框 261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63" name="组合 262"/>
              <p:cNvGrpSpPr/>
              <p:nvPr/>
            </p:nvGrpSpPr>
            <p:grpSpPr>
              <a:xfrm>
                <a:off x="9762328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64" name="矩形 26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65" name="文本框 264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66" name="组合 265"/>
              <p:cNvGrpSpPr/>
              <p:nvPr/>
            </p:nvGrpSpPr>
            <p:grpSpPr>
              <a:xfrm>
                <a:off x="10526824" y="4593026"/>
                <a:ext cx="334170" cy="353829"/>
                <a:chOff x="2051973" y="3604374"/>
                <a:chExt cx="334170" cy="353829"/>
              </a:xfrm>
            </p:grpSpPr>
            <p:sp>
              <p:nvSpPr>
                <p:cNvPr id="267" name="矩形 26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68" name="文本框 267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69" name="组合 268"/>
              <p:cNvGrpSpPr/>
              <p:nvPr/>
            </p:nvGrpSpPr>
            <p:grpSpPr>
              <a:xfrm>
                <a:off x="10165907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70" name="矩形 26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71" name="文本框 27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72" name="组合 271"/>
              <p:cNvGrpSpPr/>
              <p:nvPr/>
            </p:nvGrpSpPr>
            <p:grpSpPr>
              <a:xfrm>
                <a:off x="10901395" y="4593026"/>
                <a:ext cx="288032" cy="353829"/>
                <a:chOff x="2051973" y="3604374"/>
                <a:chExt cx="288032" cy="353829"/>
              </a:xfrm>
            </p:grpSpPr>
            <p:sp>
              <p:nvSpPr>
                <p:cNvPr id="273" name="矩形 27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74" name="文本框 273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75" name="组合 274"/>
              <p:cNvGrpSpPr/>
              <p:nvPr/>
            </p:nvGrpSpPr>
            <p:grpSpPr>
              <a:xfrm>
                <a:off x="5789796" y="5266238"/>
                <a:ext cx="334170" cy="353829"/>
                <a:chOff x="2051973" y="3604374"/>
                <a:chExt cx="334170" cy="353829"/>
              </a:xfrm>
            </p:grpSpPr>
            <p:sp>
              <p:nvSpPr>
                <p:cNvPr id="276" name="矩形 27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77" name="文本框 276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78" name="组合 277"/>
              <p:cNvGrpSpPr/>
              <p:nvPr/>
            </p:nvGrpSpPr>
            <p:grpSpPr>
              <a:xfrm>
                <a:off x="5428879" y="5266238"/>
                <a:ext cx="288032" cy="353829"/>
                <a:chOff x="2051973" y="3604374"/>
                <a:chExt cx="288032" cy="353829"/>
              </a:xfrm>
            </p:grpSpPr>
            <p:sp>
              <p:nvSpPr>
                <p:cNvPr id="279" name="矩形 27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80" name="文本框 279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81" name="组合 280"/>
              <p:cNvGrpSpPr/>
              <p:nvPr/>
            </p:nvGrpSpPr>
            <p:grpSpPr>
              <a:xfrm>
                <a:off x="6164367" y="5266238"/>
                <a:ext cx="288032" cy="353829"/>
                <a:chOff x="2051973" y="3604374"/>
                <a:chExt cx="288032" cy="353829"/>
              </a:xfrm>
            </p:grpSpPr>
            <p:sp>
              <p:nvSpPr>
                <p:cNvPr id="282" name="矩形 28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83" name="文本框 282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84" name="组合 283"/>
              <p:cNvGrpSpPr/>
              <p:nvPr/>
            </p:nvGrpSpPr>
            <p:grpSpPr>
              <a:xfrm>
                <a:off x="6918331" y="5264336"/>
                <a:ext cx="334170" cy="353829"/>
                <a:chOff x="2051973" y="3604374"/>
                <a:chExt cx="334170" cy="353829"/>
              </a:xfrm>
            </p:grpSpPr>
            <p:sp>
              <p:nvSpPr>
                <p:cNvPr id="285" name="矩形 28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86" name="文本框 285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287" name="组合 286"/>
              <p:cNvGrpSpPr/>
              <p:nvPr/>
            </p:nvGrpSpPr>
            <p:grpSpPr>
              <a:xfrm>
                <a:off x="6557414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288" name="矩形 28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89" name="文本框 28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90" name="组合 289"/>
              <p:cNvGrpSpPr/>
              <p:nvPr/>
            </p:nvGrpSpPr>
            <p:grpSpPr>
              <a:xfrm>
                <a:off x="7292902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291" name="矩形 29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92" name="文本框 291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93" name="组合 292"/>
              <p:cNvGrpSpPr/>
              <p:nvPr/>
            </p:nvGrpSpPr>
            <p:grpSpPr>
              <a:xfrm>
                <a:off x="8272616" y="5264336"/>
                <a:ext cx="338266" cy="353829"/>
                <a:chOff x="2051973" y="3604374"/>
                <a:chExt cx="338266" cy="353829"/>
              </a:xfrm>
            </p:grpSpPr>
            <p:sp>
              <p:nvSpPr>
                <p:cNvPr id="294" name="矩形 29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95" name="文本框 294"/>
                <p:cNvSpPr txBox="1"/>
                <p:nvPr/>
              </p:nvSpPr>
              <p:spPr>
                <a:xfrm>
                  <a:off x="2051973" y="3604374"/>
                  <a:ext cx="338266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X</a:t>
                  </a:r>
                  <a:endParaRPr lang="zh-CN" altLang="en-US" sz="1200" dirty="0"/>
                </a:p>
              </p:txBody>
            </p:sp>
          </p:grpSp>
          <p:grpSp>
            <p:nvGrpSpPr>
              <p:cNvPr id="296" name="组合 295"/>
              <p:cNvGrpSpPr/>
              <p:nvPr/>
            </p:nvGrpSpPr>
            <p:grpSpPr>
              <a:xfrm>
                <a:off x="7911699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297" name="矩形 29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98" name="文本框 29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299" name="组合 298"/>
              <p:cNvGrpSpPr/>
              <p:nvPr/>
            </p:nvGrpSpPr>
            <p:grpSpPr>
              <a:xfrm>
                <a:off x="8647187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300" name="矩形 29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01" name="文本框 30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02" name="组合 301"/>
              <p:cNvGrpSpPr/>
              <p:nvPr/>
            </p:nvGrpSpPr>
            <p:grpSpPr>
              <a:xfrm>
                <a:off x="9383581" y="5264336"/>
                <a:ext cx="334170" cy="353829"/>
                <a:chOff x="2051973" y="3604374"/>
                <a:chExt cx="334170" cy="353829"/>
              </a:xfrm>
            </p:grpSpPr>
            <p:sp>
              <p:nvSpPr>
                <p:cNvPr id="303" name="矩形 30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04" name="文本框 303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05" name="组合 304"/>
              <p:cNvGrpSpPr/>
              <p:nvPr/>
            </p:nvGrpSpPr>
            <p:grpSpPr>
              <a:xfrm>
                <a:off x="9022664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306" name="矩形 30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07" name="文本框 306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08" name="组合 307"/>
              <p:cNvGrpSpPr/>
              <p:nvPr/>
            </p:nvGrpSpPr>
            <p:grpSpPr>
              <a:xfrm>
                <a:off x="9758152" y="5264336"/>
                <a:ext cx="288032" cy="353829"/>
                <a:chOff x="2051973" y="3604374"/>
                <a:chExt cx="288032" cy="353829"/>
              </a:xfrm>
            </p:grpSpPr>
            <p:sp>
              <p:nvSpPr>
                <p:cNvPr id="309" name="矩形 30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10" name="文本框 309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11" name="组合 310"/>
              <p:cNvGrpSpPr/>
              <p:nvPr/>
            </p:nvGrpSpPr>
            <p:grpSpPr>
              <a:xfrm>
                <a:off x="10520704" y="5266552"/>
                <a:ext cx="334170" cy="353829"/>
                <a:chOff x="2051973" y="3604374"/>
                <a:chExt cx="334170" cy="353829"/>
              </a:xfrm>
            </p:grpSpPr>
            <p:sp>
              <p:nvSpPr>
                <p:cNvPr id="312" name="矩形 31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13" name="文本框 312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14" name="组合 313"/>
              <p:cNvGrpSpPr/>
              <p:nvPr/>
            </p:nvGrpSpPr>
            <p:grpSpPr>
              <a:xfrm>
                <a:off x="10159787" y="5266552"/>
                <a:ext cx="288032" cy="353829"/>
                <a:chOff x="2051973" y="3604374"/>
                <a:chExt cx="288032" cy="353829"/>
              </a:xfrm>
            </p:grpSpPr>
            <p:sp>
              <p:nvSpPr>
                <p:cNvPr id="315" name="矩形 31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16" name="文本框 315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17" name="组合 316"/>
              <p:cNvGrpSpPr/>
              <p:nvPr/>
            </p:nvGrpSpPr>
            <p:grpSpPr>
              <a:xfrm>
                <a:off x="10895275" y="5266552"/>
                <a:ext cx="288032" cy="353829"/>
                <a:chOff x="2051973" y="3604374"/>
                <a:chExt cx="288032" cy="353829"/>
              </a:xfrm>
            </p:grpSpPr>
            <p:sp>
              <p:nvSpPr>
                <p:cNvPr id="318" name="矩形 31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19" name="文本框 31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20" name="组合 319"/>
              <p:cNvGrpSpPr/>
              <p:nvPr/>
            </p:nvGrpSpPr>
            <p:grpSpPr>
              <a:xfrm>
                <a:off x="5789796" y="5639096"/>
                <a:ext cx="334170" cy="353829"/>
                <a:chOff x="2051973" y="3604374"/>
                <a:chExt cx="334170" cy="353829"/>
              </a:xfrm>
            </p:grpSpPr>
            <p:sp>
              <p:nvSpPr>
                <p:cNvPr id="321" name="矩形 32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22" name="文本框 321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23" name="组合 322"/>
              <p:cNvGrpSpPr/>
              <p:nvPr/>
            </p:nvGrpSpPr>
            <p:grpSpPr>
              <a:xfrm>
                <a:off x="5428879" y="5639096"/>
                <a:ext cx="288032" cy="353829"/>
                <a:chOff x="2051973" y="3604374"/>
                <a:chExt cx="288032" cy="353829"/>
              </a:xfrm>
            </p:grpSpPr>
            <p:sp>
              <p:nvSpPr>
                <p:cNvPr id="324" name="矩形 32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25" name="文本框 324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26" name="组合 325"/>
              <p:cNvGrpSpPr/>
              <p:nvPr/>
            </p:nvGrpSpPr>
            <p:grpSpPr>
              <a:xfrm>
                <a:off x="6164367" y="5639096"/>
                <a:ext cx="288032" cy="353829"/>
                <a:chOff x="2051973" y="3604374"/>
                <a:chExt cx="288032" cy="353829"/>
              </a:xfrm>
            </p:grpSpPr>
            <p:sp>
              <p:nvSpPr>
                <p:cNvPr id="327" name="矩形 32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28" name="文本框 32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29" name="组合 328"/>
              <p:cNvGrpSpPr/>
              <p:nvPr/>
            </p:nvGrpSpPr>
            <p:grpSpPr>
              <a:xfrm>
                <a:off x="6918331" y="5639096"/>
                <a:ext cx="334170" cy="353829"/>
                <a:chOff x="2051973" y="3604374"/>
                <a:chExt cx="334170" cy="353829"/>
              </a:xfrm>
            </p:grpSpPr>
            <p:sp>
              <p:nvSpPr>
                <p:cNvPr id="330" name="矩形 32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31" name="文本框 330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32" name="组合 331"/>
              <p:cNvGrpSpPr/>
              <p:nvPr/>
            </p:nvGrpSpPr>
            <p:grpSpPr>
              <a:xfrm>
                <a:off x="6557414" y="5639096"/>
                <a:ext cx="288032" cy="353829"/>
                <a:chOff x="2051973" y="3604374"/>
                <a:chExt cx="288032" cy="353829"/>
              </a:xfrm>
            </p:grpSpPr>
            <p:sp>
              <p:nvSpPr>
                <p:cNvPr id="333" name="矩形 33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34" name="文本框 333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35" name="组合 334"/>
              <p:cNvGrpSpPr/>
              <p:nvPr/>
            </p:nvGrpSpPr>
            <p:grpSpPr>
              <a:xfrm>
                <a:off x="7292902" y="5639096"/>
                <a:ext cx="288032" cy="353829"/>
                <a:chOff x="2051973" y="3604374"/>
                <a:chExt cx="288032" cy="353829"/>
              </a:xfrm>
            </p:grpSpPr>
            <p:sp>
              <p:nvSpPr>
                <p:cNvPr id="336" name="矩形 33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37" name="文本框 336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38" name="组合 337"/>
              <p:cNvGrpSpPr/>
              <p:nvPr/>
            </p:nvGrpSpPr>
            <p:grpSpPr>
              <a:xfrm>
                <a:off x="8265213" y="5646414"/>
                <a:ext cx="334170" cy="353829"/>
                <a:chOff x="2051973" y="3604374"/>
                <a:chExt cx="334170" cy="353829"/>
              </a:xfrm>
            </p:grpSpPr>
            <p:sp>
              <p:nvSpPr>
                <p:cNvPr id="339" name="矩形 33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40" name="文本框 339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41" name="组合 340"/>
              <p:cNvGrpSpPr/>
              <p:nvPr/>
            </p:nvGrpSpPr>
            <p:grpSpPr>
              <a:xfrm>
                <a:off x="7904296" y="5646414"/>
                <a:ext cx="288032" cy="353829"/>
                <a:chOff x="2051973" y="3604374"/>
                <a:chExt cx="288032" cy="353829"/>
              </a:xfrm>
            </p:grpSpPr>
            <p:sp>
              <p:nvSpPr>
                <p:cNvPr id="342" name="矩形 34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43" name="文本框 342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44" name="组合 343"/>
              <p:cNvGrpSpPr/>
              <p:nvPr/>
            </p:nvGrpSpPr>
            <p:grpSpPr>
              <a:xfrm>
                <a:off x="8639784" y="5646414"/>
                <a:ext cx="288032" cy="353829"/>
                <a:chOff x="2051973" y="3604374"/>
                <a:chExt cx="288032" cy="353829"/>
              </a:xfrm>
            </p:grpSpPr>
            <p:sp>
              <p:nvSpPr>
                <p:cNvPr id="345" name="矩形 34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46" name="文本框 345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47" name="组合 346"/>
              <p:cNvGrpSpPr/>
              <p:nvPr/>
            </p:nvGrpSpPr>
            <p:grpSpPr>
              <a:xfrm>
                <a:off x="9383581" y="5646414"/>
                <a:ext cx="334170" cy="353829"/>
                <a:chOff x="2051973" y="3604374"/>
                <a:chExt cx="334170" cy="353829"/>
              </a:xfrm>
            </p:grpSpPr>
            <p:sp>
              <p:nvSpPr>
                <p:cNvPr id="348" name="矩形 34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49" name="文本框 348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50" name="组合 349"/>
              <p:cNvGrpSpPr/>
              <p:nvPr/>
            </p:nvGrpSpPr>
            <p:grpSpPr>
              <a:xfrm>
                <a:off x="9022664" y="5646414"/>
                <a:ext cx="288032" cy="353829"/>
                <a:chOff x="2051973" y="3604374"/>
                <a:chExt cx="288032" cy="353829"/>
              </a:xfrm>
            </p:grpSpPr>
            <p:sp>
              <p:nvSpPr>
                <p:cNvPr id="351" name="矩形 35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52" name="文本框 351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53" name="组合 352"/>
              <p:cNvGrpSpPr/>
              <p:nvPr/>
            </p:nvGrpSpPr>
            <p:grpSpPr>
              <a:xfrm>
                <a:off x="9758152" y="5646414"/>
                <a:ext cx="288032" cy="353829"/>
                <a:chOff x="2051973" y="3604374"/>
                <a:chExt cx="288032" cy="353829"/>
              </a:xfrm>
            </p:grpSpPr>
            <p:sp>
              <p:nvSpPr>
                <p:cNvPr id="354" name="矩形 35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55" name="文本框 354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56" name="组合 355"/>
              <p:cNvGrpSpPr/>
              <p:nvPr/>
            </p:nvGrpSpPr>
            <p:grpSpPr>
              <a:xfrm>
                <a:off x="10520704" y="5635601"/>
                <a:ext cx="334170" cy="353829"/>
                <a:chOff x="2051973" y="3604374"/>
                <a:chExt cx="334170" cy="353829"/>
              </a:xfrm>
            </p:grpSpPr>
            <p:sp>
              <p:nvSpPr>
                <p:cNvPr id="357" name="矩形 35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58" name="文本框 357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59" name="组合 358"/>
              <p:cNvGrpSpPr/>
              <p:nvPr/>
            </p:nvGrpSpPr>
            <p:grpSpPr>
              <a:xfrm>
                <a:off x="10159787" y="5635601"/>
                <a:ext cx="288032" cy="353829"/>
                <a:chOff x="2051973" y="3604374"/>
                <a:chExt cx="288032" cy="353829"/>
              </a:xfrm>
            </p:grpSpPr>
            <p:sp>
              <p:nvSpPr>
                <p:cNvPr id="360" name="矩形 35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61" name="文本框 36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62" name="组合 361"/>
              <p:cNvGrpSpPr/>
              <p:nvPr/>
            </p:nvGrpSpPr>
            <p:grpSpPr>
              <a:xfrm>
                <a:off x="10895275" y="5635601"/>
                <a:ext cx="288032" cy="353829"/>
                <a:chOff x="2051973" y="3604374"/>
                <a:chExt cx="288032" cy="353829"/>
              </a:xfrm>
            </p:grpSpPr>
            <p:sp>
              <p:nvSpPr>
                <p:cNvPr id="363" name="矩形 36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64" name="文本框 363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65" name="组合 364"/>
              <p:cNvGrpSpPr/>
              <p:nvPr/>
            </p:nvGrpSpPr>
            <p:grpSpPr>
              <a:xfrm>
                <a:off x="5796823" y="6026287"/>
                <a:ext cx="334170" cy="353829"/>
                <a:chOff x="2051973" y="3604374"/>
                <a:chExt cx="334170" cy="353829"/>
              </a:xfrm>
            </p:grpSpPr>
            <p:sp>
              <p:nvSpPr>
                <p:cNvPr id="366" name="矩形 36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67" name="文本框 366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68" name="组合 367"/>
              <p:cNvGrpSpPr/>
              <p:nvPr/>
            </p:nvGrpSpPr>
            <p:grpSpPr>
              <a:xfrm>
                <a:off x="5435906" y="6026287"/>
                <a:ext cx="288032" cy="353829"/>
                <a:chOff x="2051973" y="3604374"/>
                <a:chExt cx="288032" cy="353829"/>
              </a:xfrm>
            </p:grpSpPr>
            <p:sp>
              <p:nvSpPr>
                <p:cNvPr id="369" name="矩形 36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70" name="文本框 369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71" name="组合 370"/>
              <p:cNvGrpSpPr/>
              <p:nvPr/>
            </p:nvGrpSpPr>
            <p:grpSpPr>
              <a:xfrm>
                <a:off x="6171394" y="6026287"/>
                <a:ext cx="288032" cy="353829"/>
                <a:chOff x="2051973" y="3604374"/>
                <a:chExt cx="288032" cy="353829"/>
              </a:xfrm>
            </p:grpSpPr>
            <p:sp>
              <p:nvSpPr>
                <p:cNvPr id="372" name="矩形 37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73" name="文本框 372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74" name="组合 373"/>
              <p:cNvGrpSpPr/>
              <p:nvPr/>
            </p:nvGrpSpPr>
            <p:grpSpPr>
              <a:xfrm>
                <a:off x="6919462" y="6026287"/>
                <a:ext cx="334170" cy="353829"/>
                <a:chOff x="2051973" y="3604374"/>
                <a:chExt cx="334170" cy="353829"/>
              </a:xfrm>
            </p:grpSpPr>
            <p:sp>
              <p:nvSpPr>
                <p:cNvPr id="375" name="矩形 37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76" name="文本框 375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77" name="组合 376"/>
              <p:cNvGrpSpPr/>
              <p:nvPr/>
            </p:nvGrpSpPr>
            <p:grpSpPr>
              <a:xfrm>
                <a:off x="6558545" y="6026287"/>
                <a:ext cx="288032" cy="353829"/>
                <a:chOff x="2051973" y="3604374"/>
                <a:chExt cx="288032" cy="353829"/>
              </a:xfrm>
            </p:grpSpPr>
            <p:sp>
              <p:nvSpPr>
                <p:cNvPr id="378" name="矩形 37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79" name="文本框 37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80" name="组合 379"/>
              <p:cNvGrpSpPr/>
              <p:nvPr/>
            </p:nvGrpSpPr>
            <p:grpSpPr>
              <a:xfrm>
                <a:off x="7294033" y="6026287"/>
                <a:ext cx="288032" cy="353829"/>
                <a:chOff x="2051973" y="3604374"/>
                <a:chExt cx="288032" cy="353829"/>
              </a:xfrm>
            </p:grpSpPr>
            <p:sp>
              <p:nvSpPr>
                <p:cNvPr id="381" name="矩形 38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82" name="文本框 381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83" name="组合 382"/>
              <p:cNvGrpSpPr/>
              <p:nvPr/>
            </p:nvGrpSpPr>
            <p:grpSpPr>
              <a:xfrm>
                <a:off x="8271028" y="6026287"/>
                <a:ext cx="334170" cy="353829"/>
                <a:chOff x="2051973" y="3604374"/>
                <a:chExt cx="334170" cy="353829"/>
              </a:xfrm>
            </p:grpSpPr>
            <p:sp>
              <p:nvSpPr>
                <p:cNvPr id="384" name="矩形 38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85" name="文本框 384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86" name="组合 385"/>
              <p:cNvGrpSpPr/>
              <p:nvPr/>
            </p:nvGrpSpPr>
            <p:grpSpPr>
              <a:xfrm>
                <a:off x="7910111" y="6026287"/>
                <a:ext cx="288032" cy="353829"/>
                <a:chOff x="2051973" y="3604374"/>
                <a:chExt cx="288032" cy="353829"/>
              </a:xfrm>
            </p:grpSpPr>
            <p:sp>
              <p:nvSpPr>
                <p:cNvPr id="387" name="矩形 38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88" name="文本框 387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89" name="组合 388"/>
              <p:cNvGrpSpPr/>
              <p:nvPr/>
            </p:nvGrpSpPr>
            <p:grpSpPr>
              <a:xfrm>
                <a:off x="8645599" y="6026287"/>
                <a:ext cx="288032" cy="353829"/>
                <a:chOff x="2051973" y="3604374"/>
                <a:chExt cx="288032" cy="353829"/>
              </a:xfrm>
            </p:grpSpPr>
            <p:sp>
              <p:nvSpPr>
                <p:cNvPr id="390" name="矩形 38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91" name="文本框 390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92" name="组合 391"/>
              <p:cNvGrpSpPr/>
              <p:nvPr/>
            </p:nvGrpSpPr>
            <p:grpSpPr>
              <a:xfrm>
                <a:off x="9383581" y="6033919"/>
                <a:ext cx="334170" cy="353829"/>
                <a:chOff x="2051973" y="3604374"/>
                <a:chExt cx="334170" cy="353829"/>
              </a:xfrm>
            </p:grpSpPr>
            <p:sp>
              <p:nvSpPr>
                <p:cNvPr id="393" name="矩形 39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94" name="文本框 393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395" name="组合 394"/>
              <p:cNvGrpSpPr/>
              <p:nvPr/>
            </p:nvGrpSpPr>
            <p:grpSpPr>
              <a:xfrm>
                <a:off x="9022664" y="6033919"/>
                <a:ext cx="288032" cy="353829"/>
                <a:chOff x="2051973" y="3604374"/>
                <a:chExt cx="288032" cy="353829"/>
              </a:xfrm>
            </p:grpSpPr>
            <p:sp>
              <p:nvSpPr>
                <p:cNvPr id="396" name="矩形 39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97" name="文本框 396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398" name="组合 397"/>
              <p:cNvGrpSpPr/>
              <p:nvPr/>
            </p:nvGrpSpPr>
            <p:grpSpPr>
              <a:xfrm>
                <a:off x="9758152" y="6033919"/>
                <a:ext cx="288032" cy="353829"/>
                <a:chOff x="2051973" y="3604374"/>
                <a:chExt cx="288032" cy="353829"/>
              </a:xfrm>
            </p:grpSpPr>
            <p:sp>
              <p:nvSpPr>
                <p:cNvPr id="399" name="矩形 39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00" name="文本框 399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401" name="组合 400"/>
              <p:cNvGrpSpPr/>
              <p:nvPr/>
            </p:nvGrpSpPr>
            <p:grpSpPr>
              <a:xfrm>
                <a:off x="10524007" y="6050001"/>
                <a:ext cx="334170" cy="353829"/>
                <a:chOff x="2051973" y="3604374"/>
                <a:chExt cx="334170" cy="353829"/>
              </a:xfrm>
            </p:grpSpPr>
            <p:sp>
              <p:nvSpPr>
                <p:cNvPr id="402" name="矩形 40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03" name="文本框 402"/>
                <p:cNvSpPr txBox="1"/>
                <p:nvPr/>
              </p:nvSpPr>
              <p:spPr>
                <a:xfrm>
                  <a:off x="2051973" y="3604374"/>
                  <a:ext cx="334170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+</a:t>
                  </a:r>
                  <a:endParaRPr lang="zh-CN" altLang="en-US" sz="1200" dirty="0"/>
                </a:p>
              </p:txBody>
            </p:sp>
          </p:grpSp>
          <p:grpSp>
            <p:nvGrpSpPr>
              <p:cNvPr id="404" name="组合 403"/>
              <p:cNvGrpSpPr/>
              <p:nvPr/>
            </p:nvGrpSpPr>
            <p:grpSpPr>
              <a:xfrm>
                <a:off x="10163090" y="6050001"/>
                <a:ext cx="288032" cy="353829"/>
                <a:chOff x="2051973" y="3604374"/>
                <a:chExt cx="288032" cy="353829"/>
              </a:xfrm>
            </p:grpSpPr>
            <p:sp>
              <p:nvSpPr>
                <p:cNvPr id="405" name="矩形 40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06" name="文本框 405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407" name="组合 406"/>
              <p:cNvGrpSpPr/>
              <p:nvPr/>
            </p:nvGrpSpPr>
            <p:grpSpPr>
              <a:xfrm>
                <a:off x="10898578" y="6050001"/>
                <a:ext cx="288032" cy="353829"/>
                <a:chOff x="2051973" y="3604374"/>
                <a:chExt cx="288032" cy="353829"/>
              </a:xfrm>
            </p:grpSpPr>
            <p:sp>
              <p:nvSpPr>
                <p:cNvPr id="408" name="矩形 40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09" name="文本框 408"/>
                <p:cNvSpPr txBox="1"/>
                <p:nvPr/>
              </p:nvSpPr>
              <p:spPr>
                <a:xfrm>
                  <a:off x="2051973" y="3604374"/>
                  <a:ext cx="235968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413" name="组合 412"/>
              <p:cNvGrpSpPr/>
              <p:nvPr/>
            </p:nvGrpSpPr>
            <p:grpSpPr>
              <a:xfrm>
                <a:off x="5789566" y="3434915"/>
                <a:ext cx="295267" cy="353829"/>
                <a:chOff x="2051973" y="3604374"/>
                <a:chExt cx="295267" cy="353829"/>
              </a:xfrm>
            </p:grpSpPr>
            <p:sp>
              <p:nvSpPr>
                <p:cNvPr id="414" name="矩形 41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15" name="文本框 414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16" name="组合 415"/>
              <p:cNvGrpSpPr/>
              <p:nvPr/>
            </p:nvGrpSpPr>
            <p:grpSpPr>
              <a:xfrm>
                <a:off x="5428649" y="3434915"/>
                <a:ext cx="295267" cy="353829"/>
                <a:chOff x="2051973" y="3604374"/>
                <a:chExt cx="295267" cy="353829"/>
              </a:xfrm>
            </p:grpSpPr>
            <p:sp>
              <p:nvSpPr>
                <p:cNvPr id="417" name="矩形 41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18" name="文本框 417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19" name="组合 418"/>
              <p:cNvGrpSpPr/>
              <p:nvPr/>
            </p:nvGrpSpPr>
            <p:grpSpPr>
              <a:xfrm>
                <a:off x="6164137" y="3434915"/>
                <a:ext cx="295267" cy="353829"/>
                <a:chOff x="2051973" y="3604374"/>
                <a:chExt cx="295267" cy="353829"/>
              </a:xfrm>
            </p:grpSpPr>
            <p:sp>
              <p:nvSpPr>
                <p:cNvPr id="420" name="矩形 419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21" name="文本框 420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22" name="组合 421"/>
              <p:cNvGrpSpPr/>
              <p:nvPr/>
            </p:nvGrpSpPr>
            <p:grpSpPr>
              <a:xfrm>
                <a:off x="5067732" y="3434915"/>
                <a:ext cx="295267" cy="353829"/>
                <a:chOff x="2051973" y="3604374"/>
                <a:chExt cx="295267" cy="353829"/>
              </a:xfrm>
            </p:grpSpPr>
            <p:sp>
              <p:nvSpPr>
                <p:cNvPr id="423" name="矩形 42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24" name="文本框 423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25" name="组合 424"/>
              <p:cNvGrpSpPr/>
              <p:nvPr/>
            </p:nvGrpSpPr>
            <p:grpSpPr>
              <a:xfrm>
                <a:off x="4706815" y="3434915"/>
                <a:ext cx="295267" cy="353829"/>
                <a:chOff x="2051973" y="3604374"/>
                <a:chExt cx="295267" cy="353829"/>
              </a:xfrm>
            </p:grpSpPr>
            <p:sp>
              <p:nvSpPr>
                <p:cNvPr id="426" name="矩形 42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27" name="文本框 426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28" name="组合 427"/>
              <p:cNvGrpSpPr/>
              <p:nvPr/>
            </p:nvGrpSpPr>
            <p:grpSpPr>
              <a:xfrm>
                <a:off x="4345898" y="3434915"/>
                <a:ext cx="295267" cy="353829"/>
                <a:chOff x="2051973" y="3604374"/>
                <a:chExt cx="295267" cy="353829"/>
              </a:xfrm>
            </p:grpSpPr>
            <p:sp>
              <p:nvSpPr>
                <p:cNvPr id="429" name="矩形 42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30" name="文本框 429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sp>
            <p:nvSpPr>
              <p:cNvPr id="431" name="文本框 430"/>
              <p:cNvSpPr txBox="1"/>
              <p:nvPr/>
            </p:nvSpPr>
            <p:spPr>
              <a:xfrm>
                <a:off x="7566156" y="3371324"/>
                <a:ext cx="371028" cy="35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…</a:t>
                </a:r>
                <a:endParaRPr lang="zh-CN" altLang="en-US" sz="1200" dirty="0"/>
              </a:p>
            </p:txBody>
          </p:sp>
          <p:grpSp>
            <p:nvGrpSpPr>
              <p:cNvPr id="432" name="组合 431"/>
              <p:cNvGrpSpPr/>
              <p:nvPr/>
            </p:nvGrpSpPr>
            <p:grpSpPr>
              <a:xfrm>
                <a:off x="6912705" y="3436503"/>
                <a:ext cx="295267" cy="353829"/>
                <a:chOff x="2051973" y="3604374"/>
                <a:chExt cx="295267" cy="353829"/>
              </a:xfrm>
            </p:grpSpPr>
            <p:sp>
              <p:nvSpPr>
                <p:cNvPr id="433" name="矩形 432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34" name="文本框 433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35" name="组合 434"/>
              <p:cNvGrpSpPr/>
              <p:nvPr/>
            </p:nvGrpSpPr>
            <p:grpSpPr>
              <a:xfrm>
                <a:off x="6551788" y="3436503"/>
                <a:ext cx="295267" cy="353829"/>
                <a:chOff x="2051973" y="3604374"/>
                <a:chExt cx="295267" cy="353829"/>
              </a:xfrm>
            </p:grpSpPr>
            <p:sp>
              <p:nvSpPr>
                <p:cNvPr id="436" name="矩形 435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37" name="文本框 436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38" name="组合 437"/>
              <p:cNvGrpSpPr/>
              <p:nvPr/>
            </p:nvGrpSpPr>
            <p:grpSpPr>
              <a:xfrm>
                <a:off x="7287276" y="3436503"/>
                <a:ext cx="295267" cy="353829"/>
                <a:chOff x="2051973" y="3604374"/>
                <a:chExt cx="295267" cy="353829"/>
              </a:xfrm>
            </p:grpSpPr>
            <p:sp>
              <p:nvSpPr>
                <p:cNvPr id="439" name="矩形 438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40" name="文本框 439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41" name="组合 440"/>
              <p:cNvGrpSpPr/>
              <p:nvPr/>
            </p:nvGrpSpPr>
            <p:grpSpPr>
              <a:xfrm>
                <a:off x="8267184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42" name="矩形 44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43" name="文本框 442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44" name="组合 443"/>
              <p:cNvGrpSpPr/>
              <p:nvPr/>
            </p:nvGrpSpPr>
            <p:grpSpPr>
              <a:xfrm>
                <a:off x="7906267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45" name="矩形 44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46" name="文本框 445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47" name="组合 446"/>
              <p:cNvGrpSpPr/>
              <p:nvPr/>
            </p:nvGrpSpPr>
            <p:grpSpPr>
              <a:xfrm>
                <a:off x="8641755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48" name="矩形 44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49" name="文本框 448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sp>
            <p:nvSpPr>
              <p:cNvPr id="450" name="文本框 449"/>
              <p:cNvSpPr txBox="1"/>
              <p:nvPr/>
            </p:nvSpPr>
            <p:spPr>
              <a:xfrm>
                <a:off x="11189459" y="3371324"/>
                <a:ext cx="371028" cy="35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…</a:t>
                </a:r>
                <a:endParaRPr lang="zh-CN" altLang="en-US" sz="1200" dirty="0"/>
              </a:p>
            </p:txBody>
          </p:sp>
          <p:grpSp>
            <p:nvGrpSpPr>
              <p:cNvPr id="451" name="组合 450"/>
              <p:cNvGrpSpPr/>
              <p:nvPr/>
            </p:nvGrpSpPr>
            <p:grpSpPr>
              <a:xfrm>
                <a:off x="9384370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52" name="矩形 451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53" name="文本框 452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54" name="组合 453"/>
              <p:cNvGrpSpPr/>
              <p:nvPr/>
            </p:nvGrpSpPr>
            <p:grpSpPr>
              <a:xfrm>
                <a:off x="9023453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55" name="矩形 454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56" name="文本框 455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57" name="组合 456"/>
              <p:cNvGrpSpPr/>
              <p:nvPr/>
            </p:nvGrpSpPr>
            <p:grpSpPr>
              <a:xfrm>
                <a:off x="9758941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58" name="矩形 457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59" name="文本框 458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60" name="组合 459"/>
              <p:cNvGrpSpPr/>
              <p:nvPr/>
            </p:nvGrpSpPr>
            <p:grpSpPr>
              <a:xfrm>
                <a:off x="10513202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62" name="文本框 461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63" name="组合 462"/>
              <p:cNvGrpSpPr/>
              <p:nvPr/>
            </p:nvGrpSpPr>
            <p:grpSpPr>
              <a:xfrm>
                <a:off x="10152285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64" name="矩形 463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65" name="文本框 464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grpSp>
            <p:nvGrpSpPr>
              <p:cNvPr id="466" name="组合 465"/>
              <p:cNvGrpSpPr/>
              <p:nvPr/>
            </p:nvGrpSpPr>
            <p:grpSpPr>
              <a:xfrm>
                <a:off x="10887773" y="3433086"/>
                <a:ext cx="295267" cy="353829"/>
                <a:chOff x="2051973" y="3604374"/>
                <a:chExt cx="295267" cy="353829"/>
              </a:xfrm>
            </p:grpSpPr>
            <p:sp>
              <p:nvSpPr>
                <p:cNvPr id="467" name="矩形 466"/>
                <p:cNvSpPr/>
                <p:nvPr/>
              </p:nvSpPr>
              <p:spPr>
                <a:xfrm>
                  <a:off x="2051973" y="3647738"/>
                  <a:ext cx="288032" cy="2880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68" name="文本框 467"/>
                <p:cNvSpPr txBox="1"/>
                <p:nvPr/>
              </p:nvSpPr>
              <p:spPr>
                <a:xfrm>
                  <a:off x="2051973" y="3604374"/>
                  <a:ext cx="295267" cy="3538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-</a:t>
                  </a:r>
                  <a:endParaRPr lang="zh-CN" altLang="en-US" sz="1200" dirty="0"/>
                </a:p>
              </p:txBody>
            </p:sp>
          </p:grpSp>
          <p:cxnSp>
            <p:nvCxnSpPr>
              <p:cNvPr id="469" name="直接连接符 468"/>
              <p:cNvCxnSpPr/>
              <p:nvPr/>
            </p:nvCxnSpPr>
            <p:spPr>
              <a:xfrm>
                <a:off x="4232349" y="3815896"/>
                <a:ext cx="71287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6" y="3187295"/>
            <a:ext cx="5310042" cy="3208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/>
        </p:nvGrpSpPr>
        <p:grpSpPr>
          <a:xfrm>
            <a:off x="623392" y="973277"/>
            <a:ext cx="10403738" cy="2374329"/>
            <a:chOff x="343785" y="4194863"/>
            <a:chExt cx="10403738" cy="2374329"/>
          </a:xfrm>
        </p:grpSpPr>
        <p:grpSp>
          <p:nvGrpSpPr>
            <p:cNvPr id="39" name="组合 38"/>
            <p:cNvGrpSpPr/>
            <p:nvPr/>
          </p:nvGrpSpPr>
          <p:grpSpPr>
            <a:xfrm>
              <a:off x="343785" y="4537867"/>
              <a:ext cx="8978391" cy="2031325"/>
              <a:chOff x="335360" y="1117917"/>
              <a:chExt cx="8978391" cy="2031325"/>
            </a:xfrm>
          </p:grpSpPr>
          <p:sp>
            <p:nvSpPr>
              <p:cNvPr id="40" name="Rounded Rectangle 17"/>
              <p:cNvSpPr/>
              <p:nvPr/>
            </p:nvSpPr>
            <p:spPr>
              <a:xfrm>
                <a:off x="335360" y="1196752"/>
                <a:ext cx="1860629" cy="504056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TextBox 18"/>
              <p:cNvSpPr txBox="1"/>
              <p:nvPr/>
            </p:nvSpPr>
            <p:spPr>
              <a:xfrm>
                <a:off x="426213" y="1264114"/>
                <a:ext cx="1162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  <a:effectLst/>
                  </a:rPr>
                  <a:t>move</a:t>
                </a:r>
                <a:r>
                  <a:rPr lang="en-US" dirty="0">
                    <a:solidFill>
                      <a:srgbClr val="0070C0"/>
                    </a:solidFill>
                  </a:rPr>
                  <a:t>(x, y)</a:t>
                </a:r>
                <a:endParaRPr lang="en-US" dirty="0">
                  <a:solidFill>
                    <a:srgbClr val="0070C0"/>
                  </a:solidFill>
                  <a:effectLst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2639616" y="1117917"/>
                <a:ext cx="6674135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Not allow to place if the game is over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Not allow to place if the position is out of boarder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Not allow to place if the position is used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Update the position to be used by current player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Update </a:t>
                </a:r>
                <a:r>
                  <a:rPr lang="en-US" altLang="zh-CN" dirty="0" err="1"/>
                  <a:t>gameOver</a:t>
                </a:r>
                <a:r>
                  <a:rPr lang="en-US" altLang="zh-CN" dirty="0"/>
                  <a:t> and winner if the game is over with </a:t>
                </a:r>
                <a:r>
                  <a:rPr lang="en-US" altLang="zh-CN" b="1" dirty="0" err="1"/>
                  <a:t>checkWin</a:t>
                </a:r>
                <a:r>
                  <a:rPr lang="en-US" altLang="zh-CN" b="1" dirty="0"/>
                  <a:t>()</a:t>
                </a:r>
                <a:endParaRPr lang="en-US" altLang="zh-CN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For the point above, also consider the draw of a game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Switch the current user</a:t>
                </a:r>
                <a:endParaRPr lang="en-US" altLang="zh-CN" dirty="0"/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415793" y="5153420"/>
              <a:ext cx="18790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i.e. the place() function</a:t>
              </a:r>
              <a:endParaRPr lang="en-US" altLang="zh-CN" sz="1400" dirty="0"/>
            </a:p>
          </p:txBody>
        </p:sp>
        <p:sp>
          <p:nvSpPr>
            <p:cNvPr id="47" name="箭头: 右 46"/>
            <p:cNvSpPr/>
            <p:nvPr/>
          </p:nvSpPr>
          <p:spPr>
            <a:xfrm rot="9573556">
              <a:off x="7047001" y="4548464"/>
              <a:ext cx="551414" cy="1364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623142" y="4194863"/>
              <a:ext cx="31243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Maybe the most proper name should be</a:t>
              </a:r>
              <a:endParaRPr lang="en-US" altLang="zh-CN" sz="1400" dirty="0"/>
            </a:p>
            <a:p>
              <a:r>
                <a:rPr lang="en-US" altLang="zh-CN" sz="1400" dirty="0"/>
                <a:t>“</a:t>
              </a:r>
              <a:r>
                <a:rPr lang="en-US" altLang="zh-CN" sz="1400" dirty="0" err="1"/>
                <a:t>placeAStoneAt</a:t>
              </a:r>
              <a:r>
                <a:rPr lang="en-US" altLang="zh-CN" sz="1400" dirty="0"/>
                <a:t>(</a:t>
              </a:r>
              <a:r>
                <a:rPr lang="en-US" altLang="zh-CN" sz="1400" dirty="0" err="1"/>
                <a:t>x,y</a:t>
              </a:r>
              <a:r>
                <a:rPr lang="en-US" altLang="zh-CN" sz="1400" dirty="0"/>
                <a:t>)”</a:t>
              </a:r>
              <a:endParaRPr lang="zh-CN" altLang="en-US" sz="1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4"/>
              <p:cNvSpPr txBox="1"/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</p:spPr>
            <p:txBody>
              <a:bodyPr vert="horz" lIns="91440" tIns="45720" rIns="91440" bIns="45720" anchor="ctr">
                <a:normAutofit/>
              </a:bodyPr>
              <a:lstStyle>
                <a:lvl1pPr lvl="0" algn="l" defTabSz="914400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Iteration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/>
                  <a:t> Implement &amp; Improve</a:t>
                </a:r>
                <a:endParaRPr lang="zh-CN" sz="3200" dirty="0"/>
              </a:p>
            </p:txBody>
          </p:sp>
        </mc:Choice>
        <mc:Fallback>
          <p:sp>
            <p:nvSpPr>
              <p:cNvPr id="2" name="标题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3510394"/>
            <a:ext cx="6192688" cy="3088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344" y="1139535"/>
            <a:ext cx="1094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Recall</a:t>
            </a:r>
            <a:r>
              <a:rPr lang="en-US" altLang="zh-CN" dirty="0"/>
              <a:t> </a:t>
            </a:r>
            <a:r>
              <a:rPr lang="en-US" altLang="zh-CN" b="1" dirty="0"/>
              <a:t>– How to efficiently check the “draw of the game”: </a:t>
            </a:r>
            <a:r>
              <a:rPr lang="en-US" altLang="zh-CN" dirty="0"/>
              <a:t>Maintain the total number of moves and check whether it reaches the maximum limits is more efficient than checking the whole board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1384" y="2348880"/>
            <a:ext cx="5184576" cy="263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Maintain the total number of moves and the maximum allowed number of steps based on board size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Increase the record for total number of moves each time there is some feasible move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Set the game to be over if there isn’t any winning condition encountered and the total number of moves reaches the limit</a:t>
            </a:r>
            <a:endParaRPr lang="zh-CN" alt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4"/>
              <p:cNvSpPr txBox="1"/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</p:spPr>
            <p:txBody>
              <a:bodyPr vert="horz" lIns="91440" tIns="45720" rIns="91440" bIns="45720" anchor="ctr">
                <a:normAutofit/>
              </a:bodyPr>
              <a:lstStyle>
                <a:lvl1pPr lvl="0" algn="l" defTabSz="914400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Iteration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/>
                  <a:t> Implement &amp; Improve</a:t>
                </a:r>
                <a:endParaRPr lang="zh-CN" sz="3200" dirty="0"/>
              </a:p>
            </p:txBody>
          </p:sp>
        </mc:Choice>
        <mc:Fallback>
          <p:sp>
            <p:nvSpPr>
              <p:cNvPr id="7" name="标题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008" y="2060848"/>
            <a:ext cx="2098725" cy="4977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2852936"/>
            <a:ext cx="5489912" cy="20162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箭头: 左 13"/>
          <p:cNvSpPr/>
          <p:nvPr/>
        </p:nvSpPr>
        <p:spPr>
          <a:xfrm>
            <a:off x="8472264" y="2237711"/>
            <a:ext cx="288032" cy="1440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776823" y="2097162"/>
            <a:ext cx="21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new fields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6384032" y="3645024"/>
            <a:ext cx="223224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/>
          <p:cNvSpPr/>
          <p:nvPr/>
        </p:nvSpPr>
        <p:spPr>
          <a:xfrm>
            <a:off x="8770091" y="3706555"/>
            <a:ext cx="288032" cy="1440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104239" y="3593897"/>
            <a:ext cx="2076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Init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new fields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6" y="5085184"/>
            <a:ext cx="6696744" cy="15845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箭头: 左 20"/>
          <p:cNvSpPr/>
          <p:nvPr/>
        </p:nvSpPr>
        <p:spPr>
          <a:xfrm>
            <a:off x="7519633" y="5381338"/>
            <a:ext cx="288032" cy="1440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824192" y="5240789"/>
            <a:ext cx="2026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Update total moves</a:t>
            </a:r>
            <a:endParaRPr lang="zh-CN" altLang="en-US" dirty="0"/>
          </a:p>
        </p:txBody>
      </p:sp>
      <p:sp>
        <p:nvSpPr>
          <p:cNvPr id="23" name="箭头: 左 22"/>
          <p:cNvSpPr/>
          <p:nvPr/>
        </p:nvSpPr>
        <p:spPr>
          <a:xfrm>
            <a:off x="7536160" y="5785900"/>
            <a:ext cx="288032" cy="1440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840719" y="5645351"/>
            <a:ext cx="191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Use it for checking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4" grpId="0" animBg="1"/>
      <p:bldP spid="15" grpId="0"/>
      <p:bldP spid="16" grpId="0" animBg="1"/>
      <p:bldP spid="17" grpId="0" animBg="1"/>
      <p:bldP spid="18" grpId="0"/>
      <p:bldP spid="21" grpId="0" animBg="1"/>
      <p:bldP spid="22" grpId="0"/>
      <p:bldP spid="23" grpId="0" animBg="1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263352" y="1052736"/>
            <a:ext cx="1860629" cy="504056"/>
            <a:chOff x="335360" y="1196752"/>
            <a:chExt cx="1860629" cy="504056"/>
          </a:xfrm>
        </p:grpSpPr>
        <p:sp>
          <p:nvSpPr>
            <p:cNvPr id="40" name="Rounded Rectangle 17"/>
            <p:cNvSpPr/>
            <p:nvPr/>
          </p:nvSpPr>
          <p:spPr>
            <a:xfrm>
              <a:off x="335360" y="1196752"/>
              <a:ext cx="1860629" cy="504056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18"/>
            <p:cNvSpPr txBox="1"/>
            <p:nvPr/>
          </p:nvSpPr>
          <p:spPr>
            <a:xfrm>
              <a:off x="426213" y="1264114"/>
              <a:ext cx="1162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effectLst/>
                </a:rPr>
                <a:t>move</a:t>
              </a:r>
              <a:r>
                <a:rPr lang="en-US" dirty="0">
                  <a:solidFill>
                    <a:srgbClr val="0070C0"/>
                  </a:solidFill>
                </a:rPr>
                <a:t>(x, y)</a:t>
              </a:r>
              <a:endParaRPr lang="en-US" dirty="0">
                <a:solidFill>
                  <a:srgbClr val="0070C0"/>
                </a:solidFill>
                <a:effectLst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327048" y="1624154"/>
            <a:ext cx="1879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i.e. the place() function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4"/>
              <p:cNvSpPr txBox="1"/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</p:spPr>
            <p:txBody>
              <a:bodyPr vert="horz" lIns="91440" tIns="45720" rIns="91440" bIns="45720" anchor="ctr">
                <a:normAutofit/>
              </a:bodyPr>
              <a:lstStyle>
                <a:lvl1pPr lvl="0" algn="l" defTabSz="914400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Iteration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/>
                  <a:t> Implement &amp; Improve</a:t>
                </a:r>
                <a:endParaRPr lang="zh-CN" sz="3200" dirty="0"/>
              </a:p>
            </p:txBody>
          </p:sp>
        </mc:Choice>
        <mc:Fallback>
          <p:sp>
            <p:nvSpPr>
              <p:cNvPr id="2" name="标题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83" y="2060848"/>
            <a:ext cx="5014739" cy="440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组合 13"/>
          <p:cNvGrpSpPr/>
          <p:nvPr/>
        </p:nvGrpSpPr>
        <p:grpSpPr>
          <a:xfrm>
            <a:off x="2495600" y="1103744"/>
            <a:ext cx="9101293" cy="629454"/>
            <a:chOff x="2495600" y="1103744"/>
            <a:chExt cx="9101293" cy="62945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5600" y="1103744"/>
              <a:ext cx="4885531" cy="62945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箭头: 左 11"/>
            <p:cNvSpPr/>
            <p:nvPr/>
          </p:nvSpPr>
          <p:spPr>
            <a:xfrm>
              <a:off x="7591641" y="1328009"/>
              <a:ext cx="288032" cy="144016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896200" y="1187460"/>
              <a:ext cx="3700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Or say “</a:t>
              </a:r>
              <a:r>
                <a:rPr lang="en-US" altLang="zh-CN" dirty="0" err="1"/>
                <a:t>isOutOfBoundary</a:t>
              </a:r>
              <a:r>
                <a:rPr lang="en-US" altLang="zh-CN" dirty="0"/>
                <a:t>(int x, int y)”</a:t>
              </a:r>
              <a:endParaRPr lang="zh-CN" altLang="en-US" dirty="0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096000" y="2283819"/>
            <a:ext cx="4778809" cy="3470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Not allow to place if the game is over</a:t>
            </a:r>
            <a:endParaRPr lang="en-US" altLang="zh-CN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Not allow to place if the position is out of boarder</a:t>
            </a:r>
            <a:endParaRPr lang="en-US" altLang="zh-CN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Not allow to place if the position is used</a:t>
            </a:r>
            <a:endParaRPr lang="en-US" altLang="zh-CN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Update the position to be used by current player</a:t>
            </a:r>
            <a:endParaRPr lang="en-US" altLang="zh-CN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Update </a:t>
            </a:r>
            <a:r>
              <a:rPr lang="en-US" altLang="zh-CN" sz="1600" dirty="0" err="1"/>
              <a:t>gameOver</a:t>
            </a:r>
            <a:r>
              <a:rPr lang="en-US" altLang="zh-CN" sz="1600" dirty="0"/>
              <a:t> and winner if the game is a draw,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altLang="zh-CN" sz="1600" dirty="0"/>
              <a:t>       or is over with </a:t>
            </a:r>
            <a:r>
              <a:rPr lang="en-US" altLang="zh-CN" sz="1600" b="1" dirty="0" err="1"/>
              <a:t>checkWin</a:t>
            </a:r>
            <a:r>
              <a:rPr lang="en-US" altLang="zh-CN" sz="1600" b="1" dirty="0"/>
              <a:t>()</a:t>
            </a:r>
            <a:endParaRPr lang="en-US" altLang="zh-CN" sz="1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Switch the current user</a:t>
            </a:r>
            <a:endParaRPr lang="en-US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34600" y="991080"/>
            <a:ext cx="94526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1" dirty="0"/>
              <a:t>Recall - How to efficiently check whether some player wins</a:t>
            </a:r>
            <a:r>
              <a:rPr lang="en-US" altLang="zh-CN" dirty="0"/>
              <a:t>: Do not check each state, or say the whole board, as it would be complex to traverse the board and check whether there exists some five-stones-in-one-line; instead, as long as </a:t>
            </a:r>
            <a:r>
              <a:rPr lang="en-US" altLang="zh-CN" b="1" dirty="0"/>
              <a:t>each time </a:t>
            </a:r>
            <a:r>
              <a:rPr lang="en-US" altLang="zh-CN" dirty="0"/>
              <a:t>when some stone is placed, the 8 directions </a:t>
            </a:r>
            <a:r>
              <a:rPr lang="en-US" altLang="zh-CN" b="1" dirty="0"/>
              <a:t>starting from </a:t>
            </a:r>
            <a:r>
              <a:rPr lang="en-US" altLang="zh-CN" dirty="0"/>
              <a:t>such stone is checked, there wouldn’t be any winning condition missed, and the computational cost each time is low </a:t>
            </a:r>
            <a:r>
              <a:rPr lang="en-US" altLang="zh-CN" sz="2000" b="1" dirty="0">
                <a:solidFill>
                  <a:srgbClr val="FF0000"/>
                </a:solidFill>
              </a:rPr>
              <a:t>[Error: this is some incomplete implementation].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箭头: 下 27"/>
          <p:cNvSpPr/>
          <p:nvPr/>
        </p:nvSpPr>
        <p:spPr>
          <a:xfrm rot="10800000">
            <a:off x="2462660" y="3933184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下 28"/>
          <p:cNvSpPr/>
          <p:nvPr/>
        </p:nvSpPr>
        <p:spPr>
          <a:xfrm>
            <a:off x="2462660" y="4394020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下 29"/>
          <p:cNvSpPr/>
          <p:nvPr/>
        </p:nvSpPr>
        <p:spPr>
          <a:xfrm rot="5400000">
            <a:off x="2188068" y="4167652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下 30"/>
          <p:cNvSpPr/>
          <p:nvPr/>
        </p:nvSpPr>
        <p:spPr>
          <a:xfrm rot="16200000">
            <a:off x="2708202" y="4164556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下 31"/>
          <p:cNvSpPr/>
          <p:nvPr/>
        </p:nvSpPr>
        <p:spPr>
          <a:xfrm rot="13580819">
            <a:off x="2682144" y="3950795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下 32"/>
          <p:cNvSpPr/>
          <p:nvPr/>
        </p:nvSpPr>
        <p:spPr>
          <a:xfrm rot="7578087">
            <a:off x="2243119" y="3950794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下 33"/>
          <p:cNvSpPr/>
          <p:nvPr/>
        </p:nvSpPr>
        <p:spPr>
          <a:xfrm rot="2999689">
            <a:off x="2239688" y="4372917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下 34"/>
          <p:cNvSpPr/>
          <p:nvPr/>
        </p:nvSpPr>
        <p:spPr>
          <a:xfrm rot="18639172">
            <a:off x="2694539" y="4380589"/>
            <a:ext cx="144016" cy="22271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2972097" y="2674921"/>
            <a:ext cx="1054521" cy="991216"/>
            <a:chOff x="3503712" y="3284984"/>
            <a:chExt cx="1054521" cy="991216"/>
          </a:xfrm>
        </p:grpSpPr>
        <p:grpSp>
          <p:nvGrpSpPr>
            <p:cNvPr id="4" name="组合 3"/>
            <p:cNvGrpSpPr/>
            <p:nvPr/>
          </p:nvGrpSpPr>
          <p:grpSpPr>
            <a:xfrm>
              <a:off x="3503712" y="3284984"/>
              <a:ext cx="1054521" cy="991216"/>
              <a:chOff x="1317988" y="4005064"/>
              <a:chExt cx="2144992" cy="201622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48611" name="图片 104861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87488" y="4005064"/>
                <a:ext cx="1975492" cy="2016224"/>
              </a:xfrm>
              <a:prstGeom prst="rect">
                <a:avLst/>
              </a:prstGeom>
            </p:spPr>
          </p:pic>
          <p:sp>
            <p:nvSpPr>
              <p:cNvPr id="3" name="矩形 2"/>
              <p:cNvSpPr/>
              <p:nvPr/>
            </p:nvSpPr>
            <p:spPr>
              <a:xfrm rot="8200477">
                <a:off x="1317988" y="4670985"/>
                <a:ext cx="2075567" cy="33863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3641376" y="3933057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988929" y="3933184"/>
            <a:ext cx="1109516" cy="630001"/>
            <a:chOff x="3520544" y="4543247"/>
            <a:chExt cx="1109516" cy="630001"/>
          </a:xfrm>
        </p:grpSpPr>
        <p:grpSp>
          <p:nvGrpSpPr>
            <p:cNvPr id="16" name="组合 15"/>
            <p:cNvGrpSpPr/>
            <p:nvPr/>
          </p:nvGrpSpPr>
          <p:grpSpPr>
            <a:xfrm>
              <a:off x="3520544" y="4543247"/>
              <a:ext cx="1109516" cy="630001"/>
              <a:chOff x="3897566" y="1980335"/>
              <a:chExt cx="2409498" cy="136815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97566" y="1980335"/>
                <a:ext cx="2409498" cy="1368152"/>
              </a:xfrm>
              <a:prstGeom prst="rect">
                <a:avLst/>
              </a:prstGeom>
            </p:spPr>
          </p:pic>
          <p:sp>
            <p:nvSpPr>
              <p:cNvPr id="18" name="矩形 17"/>
              <p:cNvSpPr/>
              <p:nvPr/>
            </p:nvSpPr>
            <p:spPr>
              <a:xfrm>
                <a:off x="4320432" y="2644989"/>
                <a:ext cx="1728192" cy="34061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矩形 36"/>
            <p:cNvSpPr/>
            <p:nvPr/>
          </p:nvSpPr>
          <p:spPr>
            <a:xfrm>
              <a:off x="3730852" y="4852265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938005" y="4775927"/>
            <a:ext cx="997756" cy="991216"/>
            <a:chOff x="3469620" y="5385990"/>
            <a:chExt cx="997756" cy="991216"/>
          </a:xfrm>
        </p:grpSpPr>
        <p:grpSp>
          <p:nvGrpSpPr>
            <p:cNvPr id="13" name="组合 12"/>
            <p:cNvGrpSpPr/>
            <p:nvPr/>
          </p:nvGrpSpPr>
          <p:grpSpPr>
            <a:xfrm>
              <a:off x="3469620" y="5385990"/>
              <a:ext cx="997756" cy="991216"/>
              <a:chOff x="3796364" y="3708527"/>
              <a:chExt cx="2029528" cy="201622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5785" y="3708527"/>
                <a:ext cx="1910107" cy="2016224"/>
              </a:xfrm>
              <a:prstGeom prst="rect">
                <a:avLst/>
              </a:prstGeom>
            </p:spPr>
          </p:pic>
          <p:sp>
            <p:nvSpPr>
              <p:cNvPr id="10" name="矩形 9"/>
              <p:cNvSpPr/>
              <p:nvPr/>
            </p:nvSpPr>
            <p:spPr>
              <a:xfrm rot="2641072">
                <a:off x="3796364" y="4657248"/>
                <a:ext cx="1972671" cy="30216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3597099" y="5575166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252017" y="4775926"/>
            <a:ext cx="555510" cy="997811"/>
            <a:chOff x="2783632" y="5385989"/>
            <a:chExt cx="555510" cy="997811"/>
          </a:xfrm>
        </p:grpSpPr>
        <p:grpSp>
          <p:nvGrpSpPr>
            <p:cNvPr id="15" name="组合 14"/>
            <p:cNvGrpSpPr/>
            <p:nvPr/>
          </p:nvGrpSpPr>
          <p:grpSpPr>
            <a:xfrm>
              <a:off x="2783632" y="5385989"/>
              <a:ext cx="555510" cy="997811"/>
              <a:chOff x="6729930" y="1980335"/>
              <a:chExt cx="1355246" cy="24343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9930" y="1980335"/>
                <a:ext cx="1355246" cy="2434304"/>
              </a:xfrm>
              <a:prstGeom prst="rect">
                <a:avLst/>
              </a:prstGeom>
            </p:spPr>
          </p:pic>
          <p:sp>
            <p:nvSpPr>
              <p:cNvPr id="12" name="矩形 11"/>
              <p:cNvSpPr/>
              <p:nvPr/>
            </p:nvSpPr>
            <p:spPr>
              <a:xfrm rot="5400000">
                <a:off x="6244360" y="2990614"/>
                <a:ext cx="1942279" cy="38845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矩形 38"/>
            <p:cNvSpPr/>
            <p:nvPr/>
          </p:nvSpPr>
          <p:spPr>
            <a:xfrm>
              <a:off x="2910657" y="5481645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66220" y="4775927"/>
            <a:ext cx="1054521" cy="991216"/>
            <a:chOff x="1497835" y="5385990"/>
            <a:chExt cx="1054521" cy="991216"/>
          </a:xfrm>
        </p:grpSpPr>
        <p:grpSp>
          <p:nvGrpSpPr>
            <p:cNvPr id="19" name="组合 18"/>
            <p:cNvGrpSpPr/>
            <p:nvPr/>
          </p:nvGrpSpPr>
          <p:grpSpPr>
            <a:xfrm>
              <a:off x="1497835" y="5385990"/>
              <a:ext cx="1054521" cy="991216"/>
              <a:chOff x="1317988" y="4005064"/>
              <a:chExt cx="2144992" cy="201622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87488" y="4005064"/>
                <a:ext cx="1975492" cy="2016224"/>
              </a:xfrm>
              <a:prstGeom prst="rect">
                <a:avLst/>
              </a:prstGeom>
            </p:spPr>
          </p:pic>
          <p:sp>
            <p:nvSpPr>
              <p:cNvPr id="21" name="矩形 20"/>
              <p:cNvSpPr/>
              <p:nvPr/>
            </p:nvSpPr>
            <p:spPr>
              <a:xfrm rot="8200477">
                <a:off x="1317988" y="4670985"/>
                <a:ext cx="2075567" cy="33863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0" name="矩形 39"/>
            <p:cNvSpPr/>
            <p:nvPr/>
          </p:nvSpPr>
          <p:spPr>
            <a:xfrm>
              <a:off x="2234559" y="5433226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11424" y="3972954"/>
            <a:ext cx="1109516" cy="630001"/>
            <a:chOff x="1443039" y="4583017"/>
            <a:chExt cx="1109516" cy="630001"/>
          </a:xfrm>
        </p:grpSpPr>
        <p:grpSp>
          <p:nvGrpSpPr>
            <p:cNvPr id="14" name="组合 13"/>
            <p:cNvGrpSpPr/>
            <p:nvPr/>
          </p:nvGrpSpPr>
          <p:grpSpPr>
            <a:xfrm>
              <a:off x="1443039" y="4583017"/>
              <a:ext cx="1109516" cy="630001"/>
              <a:chOff x="3897566" y="1980335"/>
              <a:chExt cx="2409498" cy="136815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97566" y="1980335"/>
                <a:ext cx="2409498" cy="1368152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>
                <a:off x="4320432" y="2644989"/>
                <a:ext cx="1728192" cy="34061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" name="矩形 40"/>
            <p:cNvSpPr/>
            <p:nvPr/>
          </p:nvSpPr>
          <p:spPr>
            <a:xfrm>
              <a:off x="2265603" y="4895489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38958" y="2700248"/>
            <a:ext cx="997756" cy="991216"/>
            <a:chOff x="1570573" y="3310311"/>
            <a:chExt cx="997756" cy="991216"/>
          </a:xfrm>
        </p:grpSpPr>
        <p:grpSp>
          <p:nvGrpSpPr>
            <p:cNvPr id="25" name="组合 24"/>
            <p:cNvGrpSpPr/>
            <p:nvPr/>
          </p:nvGrpSpPr>
          <p:grpSpPr>
            <a:xfrm>
              <a:off x="1570573" y="3310311"/>
              <a:ext cx="997756" cy="991216"/>
              <a:chOff x="3796364" y="3708527"/>
              <a:chExt cx="2029528" cy="201622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6" name="图片 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5785" y="3708527"/>
                <a:ext cx="1910107" cy="2016224"/>
              </a:xfrm>
              <a:prstGeom prst="rect">
                <a:avLst/>
              </a:prstGeom>
            </p:spPr>
          </p:pic>
          <p:sp>
            <p:nvSpPr>
              <p:cNvPr id="27" name="矩形 26"/>
              <p:cNvSpPr/>
              <p:nvPr/>
            </p:nvSpPr>
            <p:spPr>
              <a:xfrm rot="2641072">
                <a:off x="3796364" y="4657248"/>
                <a:ext cx="1972671" cy="30216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" name="矩形 41"/>
            <p:cNvSpPr/>
            <p:nvPr/>
          </p:nvSpPr>
          <p:spPr>
            <a:xfrm>
              <a:off x="2265603" y="4071300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2328921" y="2671001"/>
            <a:ext cx="555510" cy="997811"/>
            <a:chOff x="2860536" y="3281064"/>
            <a:chExt cx="555510" cy="997811"/>
          </a:xfrm>
        </p:grpSpPr>
        <p:grpSp>
          <p:nvGrpSpPr>
            <p:cNvPr id="22" name="组合 21"/>
            <p:cNvGrpSpPr/>
            <p:nvPr/>
          </p:nvGrpSpPr>
          <p:grpSpPr>
            <a:xfrm>
              <a:off x="2860536" y="3281064"/>
              <a:ext cx="555510" cy="997811"/>
              <a:chOff x="6729930" y="1980335"/>
              <a:chExt cx="1355246" cy="24343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9930" y="1980335"/>
                <a:ext cx="1355246" cy="2434304"/>
              </a:xfrm>
              <a:prstGeom prst="rect">
                <a:avLst/>
              </a:prstGeom>
            </p:spPr>
          </p:pic>
          <p:sp>
            <p:nvSpPr>
              <p:cNvPr id="24" name="矩形 23"/>
              <p:cNvSpPr/>
              <p:nvPr/>
            </p:nvSpPr>
            <p:spPr>
              <a:xfrm rot="5400000">
                <a:off x="6244360" y="2990614"/>
                <a:ext cx="1942279" cy="38845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" name="矩形 42"/>
            <p:cNvSpPr/>
            <p:nvPr/>
          </p:nvSpPr>
          <p:spPr>
            <a:xfrm>
              <a:off x="2994275" y="4010761"/>
              <a:ext cx="144016" cy="144015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1211938" y="5979885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{0, 1, -1} </a:t>
            </a:r>
            <a:r>
              <a:rPr lang="en-US" altLang="zh-CN" sz="1800" dirty="0"/>
              <a:t>×</a:t>
            </a:r>
            <a:r>
              <a:rPr lang="en-US" altLang="zh-CN" dirty="0"/>
              <a:t> {0, 1, -1} / (0,0)</a:t>
            </a:r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1572736" y="6411377"/>
            <a:ext cx="1779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 directions in all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标题 4"/>
              <p:cNvSpPr txBox="1"/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</p:spPr>
            <p:txBody>
              <a:bodyPr vert="horz" lIns="91440" tIns="45720" rIns="91440" bIns="45720" anchor="ctr">
                <a:normAutofit/>
              </a:bodyPr>
              <a:lstStyle>
                <a:lvl1pPr lvl="0" algn="l" defTabSz="914400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Iteration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/>
                  <a:t> Implement &amp; Improve</a:t>
                </a:r>
                <a:endParaRPr lang="zh-CN" sz="3200" dirty="0"/>
              </a:p>
            </p:txBody>
          </p:sp>
        </mc:Choice>
        <mc:Fallback>
          <p:sp>
            <p:nvSpPr>
              <p:cNvPr id="55" name="标题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  <a:blipFill rotWithShape="1">
                <a:blip r:embed="rId5"/>
                <a:stretch>
                  <a:fillRect l="-3" t="-50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/>
          <p:cNvGrpSpPr/>
          <p:nvPr/>
        </p:nvGrpSpPr>
        <p:grpSpPr>
          <a:xfrm>
            <a:off x="526691" y="1138972"/>
            <a:ext cx="1242648" cy="375749"/>
            <a:chOff x="521390" y="1070341"/>
            <a:chExt cx="1242648" cy="375749"/>
          </a:xfrm>
        </p:grpSpPr>
        <p:sp>
          <p:nvSpPr>
            <p:cNvPr id="56" name="Rounded Rectangle 17"/>
            <p:cNvSpPr/>
            <p:nvPr/>
          </p:nvSpPr>
          <p:spPr>
            <a:xfrm>
              <a:off x="521390" y="1076757"/>
              <a:ext cx="1242648" cy="369333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18"/>
            <p:cNvSpPr txBox="1"/>
            <p:nvPr/>
          </p:nvSpPr>
          <p:spPr>
            <a:xfrm>
              <a:off x="521390" y="1070341"/>
              <a:ext cx="1242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70C0"/>
                  </a:solidFill>
                  <a:effectLst/>
                </a:rPr>
                <a:t>checkWin</a:t>
              </a:r>
              <a:r>
                <a:rPr lang="en-US" dirty="0">
                  <a:solidFill>
                    <a:srgbClr val="0070C0"/>
                  </a:solidFill>
                </a:rPr>
                <a:t>()</a:t>
              </a:r>
              <a:endParaRPr lang="en-US" dirty="0">
                <a:solidFill>
                  <a:srgbClr val="0070C0"/>
                </a:solidFill>
                <a:effectLst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400566" y="1636857"/>
            <a:ext cx="1810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(The key function</a:t>
            </a:r>
            <a:endParaRPr lang="en-US" altLang="zh-CN" dirty="0"/>
          </a:p>
          <a:p>
            <a:r>
              <a:rPr lang="en-US" altLang="zh-CN" dirty="0"/>
              <a:t>not yet done)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894" y="2532435"/>
            <a:ext cx="5734054" cy="3978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52" grpId="0"/>
      <p:bldP spid="53" grpId="0"/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34600" y="991080"/>
            <a:ext cx="9452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Recall – Fix version: </a:t>
            </a:r>
            <a:r>
              <a:rPr lang="en-US" altLang="zh-CN" dirty="0"/>
              <a:t>the former algorithm could miss some case that “some 5-stones-in-one-line just lack some stone somewhere in-between of a line while such place is filled later“. We may check the four direction-line instead, with each line including two directions. As long as some placement stretching on some line (in two opposite directions) reaches 5-stones-in-one-line, we can tell that someone wills.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标题 4"/>
              <p:cNvSpPr txBox="1"/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</p:spPr>
            <p:txBody>
              <a:bodyPr vert="horz" lIns="91440" tIns="45720" rIns="91440" bIns="45720" anchor="ctr">
                <a:normAutofit/>
              </a:bodyPr>
              <a:lstStyle>
                <a:lvl1pPr lvl="0" algn="l" defTabSz="914400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Iteration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/>
                  <a:t> Implement &amp; Improve</a:t>
                </a:r>
                <a:endParaRPr lang="zh-CN" sz="3200" dirty="0"/>
              </a:p>
            </p:txBody>
          </p:sp>
        </mc:Choice>
        <mc:Fallback>
          <p:sp>
            <p:nvSpPr>
              <p:cNvPr id="55" name="标题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71541"/>
                <a:ext cx="7884064" cy="835874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/>
          <p:cNvGrpSpPr/>
          <p:nvPr/>
        </p:nvGrpSpPr>
        <p:grpSpPr>
          <a:xfrm>
            <a:off x="526691" y="1138972"/>
            <a:ext cx="1242648" cy="375749"/>
            <a:chOff x="521390" y="1070341"/>
            <a:chExt cx="1242648" cy="375749"/>
          </a:xfrm>
        </p:grpSpPr>
        <p:sp>
          <p:nvSpPr>
            <p:cNvPr id="56" name="Rounded Rectangle 17"/>
            <p:cNvSpPr/>
            <p:nvPr/>
          </p:nvSpPr>
          <p:spPr>
            <a:xfrm>
              <a:off x="521390" y="1076757"/>
              <a:ext cx="1242648" cy="369333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18"/>
            <p:cNvSpPr txBox="1"/>
            <p:nvPr/>
          </p:nvSpPr>
          <p:spPr>
            <a:xfrm>
              <a:off x="521390" y="1070341"/>
              <a:ext cx="1242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70C0"/>
                  </a:solidFill>
                  <a:effectLst/>
                </a:rPr>
                <a:t>checkWin</a:t>
              </a:r>
              <a:r>
                <a:rPr lang="en-US" dirty="0">
                  <a:solidFill>
                    <a:srgbClr val="0070C0"/>
                  </a:solidFill>
                </a:rPr>
                <a:t>()</a:t>
              </a:r>
              <a:endParaRPr lang="en-US" dirty="0">
                <a:solidFill>
                  <a:srgbClr val="0070C0"/>
                </a:solidFill>
                <a:effectLst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400566" y="1636857"/>
            <a:ext cx="1810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(The key function</a:t>
            </a:r>
            <a:endParaRPr lang="en-US" altLang="zh-CN" dirty="0"/>
          </a:p>
          <a:p>
            <a:r>
              <a:rPr lang="en-US" altLang="zh-CN" dirty="0"/>
              <a:t>not yet done)</a:t>
            </a:r>
            <a:endParaRPr lang="zh-CN" altLang="en-US" dirty="0"/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731" y="2499276"/>
            <a:ext cx="5536053" cy="39417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2" name="文本框 61"/>
          <p:cNvSpPr txBox="1"/>
          <p:nvPr/>
        </p:nvSpPr>
        <p:spPr>
          <a:xfrm>
            <a:off x="138793" y="5955718"/>
            <a:ext cx="5467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 direction-lines (positive direction &amp; negative direction)</a:t>
            </a:r>
            <a:endParaRPr lang="zh-CN" altLang="en-US" dirty="0"/>
          </a:p>
        </p:txBody>
      </p:sp>
      <p:grpSp>
        <p:nvGrpSpPr>
          <p:cNvPr id="63" name="组合 62"/>
          <p:cNvGrpSpPr/>
          <p:nvPr/>
        </p:nvGrpSpPr>
        <p:grpSpPr>
          <a:xfrm>
            <a:off x="1308463" y="2390044"/>
            <a:ext cx="3096345" cy="3743190"/>
            <a:chOff x="6384033" y="1988018"/>
            <a:chExt cx="3960440" cy="4787800"/>
          </a:xfrm>
        </p:grpSpPr>
        <p:sp>
          <p:nvSpPr>
            <p:cNvPr id="1048576" name="箭头: 下 1048575"/>
            <p:cNvSpPr/>
            <p:nvPr/>
          </p:nvSpPr>
          <p:spPr>
            <a:xfrm rot="10800000">
              <a:off x="8359103" y="4115119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77" name="箭头: 下 1048576"/>
            <p:cNvSpPr/>
            <p:nvPr/>
          </p:nvSpPr>
          <p:spPr>
            <a:xfrm>
              <a:off x="8359103" y="4575955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78" name="箭头: 下 1048577"/>
            <p:cNvSpPr/>
            <p:nvPr/>
          </p:nvSpPr>
          <p:spPr>
            <a:xfrm rot="5400000">
              <a:off x="8084511" y="4349587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79" name="箭头: 下 1048578"/>
            <p:cNvSpPr/>
            <p:nvPr/>
          </p:nvSpPr>
          <p:spPr>
            <a:xfrm rot="16200000">
              <a:off x="8604645" y="4346491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80" name="箭头: 下 1048579"/>
            <p:cNvSpPr/>
            <p:nvPr/>
          </p:nvSpPr>
          <p:spPr>
            <a:xfrm rot="13580819">
              <a:off x="8578587" y="4132730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81" name="箭头: 下 1048580"/>
            <p:cNvSpPr/>
            <p:nvPr/>
          </p:nvSpPr>
          <p:spPr>
            <a:xfrm rot="7578087">
              <a:off x="8139562" y="4132729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82" name="箭头: 下 1048581"/>
            <p:cNvSpPr/>
            <p:nvPr/>
          </p:nvSpPr>
          <p:spPr>
            <a:xfrm rot="2999689">
              <a:off x="8136131" y="4554852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83" name="箭头: 下 1048582"/>
            <p:cNvSpPr/>
            <p:nvPr/>
          </p:nvSpPr>
          <p:spPr>
            <a:xfrm rot="18639172">
              <a:off x="8590982" y="4562524"/>
              <a:ext cx="144016" cy="22271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48584" name="组合 1048583"/>
            <p:cNvGrpSpPr/>
            <p:nvPr/>
          </p:nvGrpSpPr>
          <p:grpSpPr>
            <a:xfrm>
              <a:off x="8868540" y="2856856"/>
              <a:ext cx="1054521" cy="991216"/>
              <a:chOff x="3503712" y="3284984"/>
              <a:chExt cx="1054521" cy="991216"/>
            </a:xfrm>
          </p:grpSpPr>
          <p:grpSp>
            <p:nvGrpSpPr>
              <p:cNvPr id="1048625" name="组合 1048624"/>
              <p:cNvGrpSpPr/>
              <p:nvPr/>
            </p:nvGrpSpPr>
            <p:grpSpPr>
              <a:xfrm>
                <a:off x="3503712" y="3284984"/>
                <a:ext cx="1054521" cy="991216"/>
                <a:chOff x="1317988" y="4005064"/>
                <a:chExt cx="2144992" cy="2016224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627" name="图片 1048626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87488" y="4005064"/>
                  <a:ext cx="1975492" cy="2016224"/>
                </a:xfrm>
                <a:prstGeom prst="rect">
                  <a:avLst/>
                </a:prstGeom>
              </p:spPr>
            </p:pic>
            <p:sp>
              <p:nvSpPr>
                <p:cNvPr id="1048628" name="矩形 1048627"/>
                <p:cNvSpPr/>
                <p:nvPr/>
              </p:nvSpPr>
              <p:spPr>
                <a:xfrm rot="8200477">
                  <a:off x="1317988" y="4670985"/>
                  <a:ext cx="2075567" cy="3386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8626" name="矩形 1048625"/>
              <p:cNvSpPr/>
              <p:nvPr/>
            </p:nvSpPr>
            <p:spPr>
              <a:xfrm>
                <a:off x="3641376" y="3933057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8585" name="组合 1048584"/>
            <p:cNvGrpSpPr/>
            <p:nvPr/>
          </p:nvGrpSpPr>
          <p:grpSpPr>
            <a:xfrm>
              <a:off x="8885372" y="4115119"/>
              <a:ext cx="1109516" cy="630001"/>
              <a:chOff x="3520544" y="4543247"/>
              <a:chExt cx="1109516" cy="630001"/>
            </a:xfrm>
          </p:grpSpPr>
          <p:grpSp>
            <p:nvGrpSpPr>
              <p:cNvPr id="1048621" name="组合 1048620"/>
              <p:cNvGrpSpPr/>
              <p:nvPr/>
            </p:nvGrpSpPr>
            <p:grpSpPr>
              <a:xfrm>
                <a:off x="3520544" y="4543247"/>
                <a:ext cx="1109516" cy="630001"/>
                <a:chOff x="3897566" y="1980335"/>
                <a:chExt cx="2409498" cy="136815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623" name="图片 1048622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97566" y="1980335"/>
                  <a:ext cx="2409498" cy="1368152"/>
                </a:xfrm>
                <a:prstGeom prst="rect">
                  <a:avLst/>
                </a:prstGeom>
              </p:spPr>
            </p:pic>
            <p:sp>
              <p:nvSpPr>
                <p:cNvPr id="1048624" name="矩形 1048623"/>
                <p:cNvSpPr/>
                <p:nvPr/>
              </p:nvSpPr>
              <p:spPr>
                <a:xfrm>
                  <a:off x="4320432" y="2644989"/>
                  <a:ext cx="1728192" cy="340618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8622" name="矩形 1048621"/>
              <p:cNvSpPr/>
              <p:nvPr/>
            </p:nvSpPr>
            <p:spPr>
              <a:xfrm>
                <a:off x="3730852" y="4852265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8586" name="组合 1048585"/>
            <p:cNvGrpSpPr/>
            <p:nvPr/>
          </p:nvGrpSpPr>
          <p:grpSpPr>
            <a:xfrm>
              <a:off x="8834448" y="4957862"/>
              <a:ext cx="997756" cy="991216"/>
              <a:chOff x="3469620" y="5385990"/>
              <a:chExt cx="997756" cy="991216"/>
            </a:xfrm>
          </p:grpSpPr>
          <p:grpSp>
            <p:nvGrpSpPr>
              <p:cNvPr id="1048617" name="组合 1048616"/>
              <p:cNvGrpSpPr/>
              <p:nvPr/>
            </p:nvGrpSpPr>
            <p:grpSpPr>
              <a:xfrm>
                <a:off x="3469620" y="5385990"/>
                <a:ext cx="997756" cy="991216"/>
                <a:chOff x="3796364" y="3708527"/>
                <a:chExt cx="2029528" cy="2016224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619" name="图片 1048618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15785" y="3708527"/>
                  <a:ext cx="1910107" cy="2016224"/>
                </a:xfrm>
                <a:prstGeom prst="rect">
                  <a:avLst/>
                </a:prstGeom>
              </p:spPr>
            </p:pic>
            <p:sp>
              <p:nvSpPr>
                <p:cNvPr id="1048620" name="矩形 1048619"/>
                <p:cNvSpPr/>
                <p:nvPr/>
              </p:nvSpPr>
              <p:spPr>
                <a:xfrm rot="2641072">
                  <a:off x="3796364" y="4657248"/>
                  <a:ext cx="1972671" cy="302168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8618" name="矩形 1048617"/>
              <p:cNvSpPr/>
              <p:nvPr/>
            </p:nvSpPr>
            <p:spPr>
              <a:xfrm>
                <a:off x="3597099" y="5575166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8587" name="组合 1048586"/>
            <p:cNvGrpSpPr/>
            <p:nvPr/>
          </p:nvGrpSpPr>
          <p:grpSpPr>
            <a:xfrm>
              <a:off x="8148460" y="4957861"/>
              <a:ext cx="555510" cy="997811"/>
              <a:chOff x="2783632" y="5385989"/>
              <a:chExt cx="555510" cy="997811"/>
            </a:xfrm>
          </p:grpSpPr>
          <p:grpSp>
            <p:nvGrpSpPr>
              <p:cNvPr id="1048613" name="组合 1048612"/>
              <p:cNvGrpSpPr/>
              <p:nvPr/>
            </p:nvGrpSpPr>
            <p:grpSpPr>
              <a:xfrm>
                <a:off x="2783632" y="5385989"/>
                <a:ext cx="555510" cy="997811"/>
                <a:chOff x="6729930" y="1980335"/>
                <a:chExt cx="1355246" cy="2434304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615" name="图片 1048614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9930" y="1980335"/>
                  <a:ext cx="1355246" cy="2434304"/>
                </a:xfrm>
                <a:prstGeom prst="rect">
                  <a:avLst/>
                </a:prstGeom>
              </p:spPr>
            </p:pic>
            <p:sp>
              <p:nvSpPr>
                <p:cNvPr id="1048616" name="矩形 1048615"/>
                <p:cNvSpPr/>
                <p:nvPr/>
              </p:nvSpPr>
              <p:spPr>
                <a:xfrm rot="5400000">
                  <a:off x="6244360" y="2990614"/>
                  <a:ext cx="1942279" cy="38845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8614" name="矩形 1048613"/>
              <p:cNvSpPr/>
              <p:nvPr/>
            </p:nvSpPr>
            <p:spPr>
              <a:xfrm>
                <a:off x="2910657" y="5481645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8588" name="组合 1048587"/>
            <p:cNvGrpSpPr/>
            <p:nvPr/>
          </p:nvGrpSpPr>
          <p:grpSpPr>
            <a:xfrm>
              <a:off x="6862663" y="4957862"/>
              <a:ext cx="1054521" cy="991216"/>
              <a:chOff x="1497835" y="5385990"/>
              <a:chExt cx="1054521" cy="991216"/>
            </a:xfrm>
          </p:grpSpPr>
          <p:grpSp>
            <p:nvGrpSpPr>
              <p:cNvPr id="1048608" name="组合 1048607"/>
              <p:cNvGrpSpPr/>
              <p:nvPr/>
            </p:nvGrpSpPr>
            <p:grpSpPr>
              <a:xfrm>
                <a:off x="1497835" y="5385990"/>
                <a:ext cx="1054521" cy="991216"/>
                <a:chOff x="1317988" y="4005064"/>
                <a:chExt cx="2144992" cy="2016224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610" name="图片 1048609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87488" y="4005064"/>
                  <a:ext cx="1975492" cy="2016224"/>
                </a:xfrm>
                <a:prstGeom prst="rect">
                  <a:avLst/>
                </a:prstGeom>
              </p:spPr>
            </p:pic>
            <p:sp>
              <p:nvSpPr>
                <p:cNvPr id="1048612" name="矩形 1048611"/>
                <p:cNvSpPr/>
                <p:nvPr/>
              </p:nvSpPr>
              <p:spPr>
                <a:xfrm rot="8200477">
                  <a:off x="1317988" y="4670985"/>
                  <a:ext cx="2075567" cy="3386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8609" name="矩形 1048608"/>
              <p:cNvSpPr/>
              <p:nvPr/>
            </p:nvSpPr>
            <p:spPr>
              <a:xfrm>
                <a:off x="2234559" y="5433226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8589" name="组合 1048588"/>
            <p:cNvGrpSpPr/>
            <p:nvPr/>
          </p:nvGrpSpPr>
          <p:grpSpPr>
            <a:xfrm>
              <a:off x="6807867" y="4154889"/>
              <a:ext cx="1109516" cy="630001"/>
              <a:chOff x="1443039" y="4583017"/>
              <a:chExt cx="1109516" cy="630001"/>
            </a:xfrm>
          </p:grpSpPr>
          <p:grpSp>
            <p:nvGrpSpPr>
              <p:cNvPr id="1048604" name="组合 1048603"/>
              <p:cNvGrpSpPr/>
              <p:nvPr/>
            </p:nvGrpSpPr>
            <p:grpSpPr>
              <a:xfrm>
                <a:off x="1443039" y="4583017"/>
                <a:ext cx="1109516" cy="630001"/>
                <a:chOff x="3897566" y="1980335"/>
                <a:chExt cx="2409498" cy="136815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606" name="图片 1048605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97566" y="1980335"/>
                  <a:ext cx="2409498" cy="1368152"/>
                </a:xfrm>
                <a:prstGeom prst="rect">
                  <a:avLst/>
                </a:prstGeom>
              </p:spPr>
            </p:pic>
            <p:sp>
              <p:nvSpPr>
                <p:cNvPr id="1048607" name="矩形 1048606"/>
                <p:cNvSpPr/>
                <p:nvPr/>
              </p:nvSpPr>
              <p:spPr>
                <a:xfrm>
                  <a:off x="4320432" y="2644989"/>
                  <a:ext cx="1728192" cy="340618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8605" name="矩形 1048604"/>
              <p:cNvSpPr/>
              <p:nvPr/>
            </p:nvSpPr>
            <p:spPr>
              <a:xfrm>
                <a:off x="2265603" y="4895489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8590" name="组合 1048589"/>
            <p:cNvGrpSpPr/>
            <p:nvPr/>
          </p:nvGrpSpPr>
          <p:grpSpPr>
            <a:xfrm>
              <a:off x="6935401" y="2882183"/>
              <a:ext cx="997756" cy="991216"/>
              <a:chOff x="1570573" y="3310311"/>
              <a:chExt cx="997756" cy="991216"/>
            </a:xfrm>
          </p:grpSpPr>
          <p:grpSp>
            <p:nvGrpSpPr>
              <p:cNvPr id="1048600" name="组合 1048599"/>
              <p:cNvGrpSpPr/>
              <p:nvPr/>
            </p:nvGrpSpPr>
            <p:grpSpPr>
              <a:xfrm>
                <a:off x="1570573" y="3310311"/>
                <a:ext cx="997756" cy="991216"/>
                <a:chOff x="3796364" y="3708527"/>
                <a:chExt cx="2029528" cy="2016224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602" name="图片 1048601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15785" y="3708527"/>
                  <a:ext cx="1910107" cy="2016224"/>
                </a:xfrm>
                <a:prstGeom prst="rect">
                  <a:avLst/>
                </a:prstGeom>
              </p:spPr>
            </p:pic>
            <p:sp>
              <p:nvSpPr>
                <p:cNvPr id="1048603" name="矩形 1048602"/>
                <p:cNvSpPr/>
                <p:nvPr/>
              </p:nvSpPr>
              <p:spPr>
                <a:xfrm rot="2641072">
                  <a:off x="3796364" y="4657248"/>
                  <a:ext cx="1972671" cy="302168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1048601" name="矩形 1048600"/>
              <p:cNvSpPr/>
              <p:nvPr/>
            </p:nvSpPr>
            <p:spPr>
              <a:xfrm>
                <a:off x="2265603" y="4071300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8591" name="组合 1048590"/>
            <p:cNvGrpSpPr/>
            <p:nvPr/>
          </p:nvGrpSpPr>
          <p:grpSpPr>
            <a:xfrm>
              <a:off x="8225364" y="2852936"/>
              <a:ext cx="555510" cy="997811"/>
              <a:chOff x="2860536" y="3281064"/>
              <a:chExt cx="555510" cy="997811"/>
            </a:xfrm>
          </p:grpSpPr>
          <p:grpSp>
            <p:nvGrpSpPr>
              <p:cNvPr id="1048596" name="组合 1048595"/>
              <p:cNvGrpSpPr/>
              <p:nvPr/>
            </p:nvGrpSpPr>
            <p:grpSpPr>
              <a:xfrm>
                <a:off x="2860536" y="3281064"/>
                <a:ext cx="555510" cy="997811"/>
                <a:chOff x="6729930" y="1980335"/>
                <a:chExt cx="1355246" cy="2434304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48598" name="图片 1048597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9930" y="1980335"/>
                  <a:ext cx="1355246" cy="2434304"/>
                </a:xfrm>
                <a:prstGeom prst="rect">
                  <a:avLst/>
                </a:prstGeom>
              </p:spPr>
            </p:pic>
            <p:sp>
              <p:nvSpPr>
                <p:cNvPr id="1048599" name="矩形 1048598"/>
                <p:cNvSpPr/>
                <p:nvPr/>
              </p:nvSpPr>
              <p:spPr>
                <a:xfrm rot="5400000">
                  <a:off x="6244360" y="2990614"/>
                  <a:ext cx="1942279" cy="38845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8597" name="矩形 1048596"/>
              <p:cNvSpPr/>
              <p:nvPr/>
            </p:nvSpPr>
            <p:spPr>
              <a:xfrm>
                <a:off x="2994275" y="4010761"/>
                <a:ext cx="144016" cy="14401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48592" name="矩形 1048591"/>
            <p:cNvSpPr/>
            <p:nvPr/>
          </p:nvSpPr>
          <p:spPr>
            <a:xfrm>
              <a:off x="6384033" y="4070994"/>
              <a:ext cx="3960440" cy="727680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048593" name="矩形 1048592"/>
            <p:cNvSpPr/>
            <p:nvPr/>
          </p:nvSpPr>
          <p:spPr>
            <a:xfrm rot="2853214">
              <a:off x="6018352" y="3981329"/>
              <a:ext cx="4732446" cy="8565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048594" name="矩形 1048593"/>
            <p:cNvSpPr/>
            <p:nvPr/>
          </p:nvSpPr>
          <p:spPr>
            <a:xfrm rot="5400000">
              <a:off x="6846409" y="4089366"/>
              <a:ext cx="3516435" cy="8565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048595" name="矩形 1048594"/>
            <p:cNvSpPr/>
            <p:nvPr/>
          </p:nvSpPr>
          <p:spPr>
            <a:xfrm rot="7939720">
              <a:off x="6068263" y="3925975"/>
              <a:ext cx="4732446" cy="8565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Preparation for JavaFX Application</a:t>
            </a:r>
            <a:endParaRPr lang="zh-CN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377" y="1124744"/>
            <a:ext cx="4392487" cy="29063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8584" name="文本框 1048583"/>
          <p:cNvSpPr txBox="1"/>
          <p:nvPr/>
        </p:nvSpPr>
        <p:spPr>
          <a:xfrm>
            <a:off x="5220753" y="1091223"/>
            <a:ext cx="63478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Believe yourself that you can search the results you want with: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Correct search engine (e.g. Google for English </a:t>
            </a:r>
            <a:r>
              <a:rPr lang="en-US" altLang="zh-CN" dirty="0" err="1"/>
              <a:t>centents</a:t>
            </a:r>
            <a:r>
              <a:rPr lang="en-US" altLang="zh-CN" dirty="0"/>
              <a:t>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Correct keywords (e.g. add “official website” for authority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good network for the world wide web (not taught in the lecture or the tutorials; ask your classmates for good examples)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Shortcut entrance via the search Engine</a:t>
            </a:r>
            <a:endParaRPr lang="zh-CN" altLang="en-US" dirty="0"/>
          </a:p>
        </p:txBody>
      </p:sp>
      <p:grpSp>
        <p:nvGrpSpPr>
          <p:cNvPr id="1048588" name="组合 1048587"/>
          <p:cNvGrpSpPr/>
          <p:nvPr/>
        </p:nvGrpSpPr>
        <p:grpSpPr>
          <a:xfrm>
            <a:off x="5220753" y="3029357"/>
            <a:ext cx="6538224" cy="3193886"/>
            <a:chOff x="5177288" y="3140968"/>
            <a:chExt cx="6538224" cy="3193886"/>
          </a:xfrm>
        </p:grpSpPr>
        <p:pic>
          <p:nvPicPr>
            <p:cNvPr id="1048586" name="图片 104858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7288" y="3140968"/>
              <a:ext cx="6538224" cy="31938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2" name="文本框 61"/>
            <p:cNvSpPr txBox="1"/>
            <p:nvPr/>
          </p:nvSpPr>
          <p:spPr>
            <a:xfrm>
              <a:off x="9912424" y="3501008"/>
              <a:ext cx="1728192" cy="64633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ctrl + F</a:t>
              </a: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(Win/Linux)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i="0" dirty="0">
                  <a:effectLst/>
                  <a:latin typeface="Arial" panose="020B0604020202020204" pitchFamily="34" charset="0"/>
                </a:rPr>
                <a:t> ⌘ + F </a:t>
              </a:r>
              <a:r>
                <a:rPr lang="en-US" altLang="zh-CN" sz="1200" i="0" dirty="0">
                  <a:effectLst/>
                  <a:latin typeface="Arial" panose="020B0604020202020204" pitchFamily="34" charset="0"/>
                </a:rPr>
                <a:t>(macOS)</a:t>
              </a:r>
              <a:endParaRPr lang="zh-CN" altLang="en-US" dirty="0"/>
            </a:p>
          </p:txBody>
        </p:sp>
      </p:grpSp>
      <p:sp>
        <p:nvSpPr>
          <p:cNvPr id="1048587" name="文本框 1048586"/>
          <p:cNvSpPr txBox="1"/>
          <p:nvPr/>
        </p:nvSpPr>
        <p:spPr>
          <a:xfrm>
            <a:off x="483920" y="4365104"/>
            <a:ext cx="46039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On the official website, search: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“Get/Getting started” for beginners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“Introduction/Introduce” etc. is also fine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“Document” for API usages in details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… and have a quick glance over the website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Preparation for JavaFX Application</a:t>
            </a:r>
            <a:endParaRPr lang="zh-CN" sz="3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52" y="1196752"/>
            <a:ext cx="4249920" cy="53285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48" y="1144182"/>
            <a:ext cx="3346143" cy="5453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8256240" y="1268760"/>
            <a:ext cx="3495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Provides ways of creating JavaFX projects with/without maven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Doesn’t relies on IDE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Good to know why it works</a:t>
            </a:r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48" y="2636912"/>
            <a:ext cx="3525567" cy="21761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/>
          <p:cNvSpPr txBox="1"/>
          <p:nvPr/>
        </p:nvSpPr>
        <p:spPr>
          <a:xfrm>
            <a:off x="8343266" y="4941168"/>
            <a:ext cx="3495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Simplest code without requiring the FXML file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Manually Configure JavaFX SDK</a:t>
            </a:r>
            <a:endParaRPr lang="zh-CN" sz="32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263352" y="1037340"/>
            <a:ext cx="5398918" cy="2880320"/>
            <a:chOff x="5663953" y="1196752"/>
            <a:chExt cx="6208756" cy="3312368"/>
          </a:xfrm>
        </p:grpSpPr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663953" y="1196752"/>
              <a:ext cx="5619473" cy="331236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2" name="文本框 61"/>
            <p:cNvSpPr txBox="1"/>
            <p:nvPr/>
          </p:nvSpPr>
          <p:spPr>
            <a:xfrm>
              <a:off x="10200456" y="1556792"/>
              <a:ext cx="1672253" cy="64633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ctrl + F</a:t>
              </a: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(Win/Linux)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i="0" dirty="0">
                  <a:effectLst/>
                  <a:latin typeface="Arial" panose="020B0604020202020204" pitchFamily="34" charset="0"/>
                </a:rPr>
                <a:t> ⌘ + F </a:t>
              </a:r>
              <a:r>
                <a:rPr lang="en-US" altLang="zh-CN" sz="1200" i="0" dirty="0">
                  <a:effectLst/>
                  <a:latin typeface="Arial" panose="020B0604020202020204" pitchFamily="34" charset="0"/>
                </a:rPr>
                <a:t>(macOS)</a:t>
              </a:r>
              <a:endParaRPr lang="zh-CN" altLang="en-US" dirty="0"/>
            </a:p>
          </p:txBody>
        </p:sp>
      </p:grpSp>
      <p:pic>
        <p:nvPicPr>
          <p:cNvPr id="1048577" name="图片 10485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52" y="4083347"/>
            <a:ext cx="4104027" cy="2709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8579" name="图片 10485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2" y="4539798"/>
            <a:ext cx="5976664" cy="240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8581" name="图片 10485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4943853"/>
            <a:ext cx="6192688" cy="169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8583" name="图片 10485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912" y="5353754"/>
            <a:ext cx="5733181" cy="671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8584" name="文本框 1048583"/>
          <p:cNvSpPr txBox="1"/>
          <p:nvPr/>
        </p:nvSpPr>
        <p:spPr>
          <a:xfrm>
            <a:off x="5375920" y="6163785"/>
            <a:ext cx="538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 the next step, let’s add the VM options/arguments.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368169" y="1018279"/>
            <a:ext cx="47409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Search “Download” for quick location (sometimes you can try “Installation”)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software distribution can be: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Either portable or installable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 different systems like Windows/Linux/macOS/Android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 different CPU architecture like x86-32,</a:t>
            </a:r>
            <a:r>
              <a:rPr lang="zh-CN" altLang="en-US" dirty="0"/>
              <a:t> </a:t>
            </a:r>
            <a:r>
              <a:rPr lang="en-US" altLang="zh-CN" dirty="0"/>
              <a:t>x86-64 (or AMD64, x64), aarch64 (apple’s architecture),</a:t>
            </a:r>
            <a:r>
              <a:rPr lang="zh-CN" altLang="en-US" dirty="0"/>
              <a:t> </a:t>
            </a:r>
            <a:r>
              <a:rPr lang="en-US" altLang="zh-CN" dirty="0"/>
              <a:t>arm64</a:t>
            </a:r>
            <a:r>
              <a:rPr lang="zh-CN" altLang="en-US" dirty="0"/>
              <a:t> </a:t>
            </a:r>
            <a:r>
              <a:rPr lang="en-US" altLang="zh-CN" dirty="0"/>
              <a:t>(common</a:t>
            </a:r>
            <a:r>
              <a:rPr lang="zh-CN" altLang="en-US" dirty="0"/>
              <a:t> </a:t>
            </a:r>
            <a:r>
              <a:rPr lang="en-US" altLang="zh-CN" dirty="0"/>
              <a:t>for android devices)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binary files directory (e.g. “bin”)</a:t>
            </a:r>
            <a:r>
              <a:rPr lang="zh-CN" altLang="en-US" dirty="0"/>
              <a:t> </a:t>
            </a:r>
            <a:r>
              <a:rPr lang="en-US" altLang="zh-CN" dirty="0"/>
              <a:t>are usually for those executable parts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Manually Configure JavaFX SDK</a:t>
            </a:r>
            <a:endParaRPr lang="zh-CN" altLang="zh-CN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36" y="1124744"/>
            <a:ext cx="5112568" cy="27739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4221088"/>
            <a:ext cx="5112569" cy="19277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28" y="1124744"/>
            <a:ext cx="5660228" cy="37170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5416594" y="5000316"/>
            <a:ext cx="6339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Note that now it’s ready for us to execute some JavaFX program.</a:t>
            </a:r>
            <a:endParaRPr lang="en-US" altLang="zh-CN" dirty="0"/>
          </a:p>
          <a:p>
            <a:r>
              <a:rPr lang="en-US" altLang="zh-CN" dirty="0"/>
              <a:t>(the modules added depended on your code, e.g. you might need</a:t>
            </a:r>
            <a:endParaRPr lang="en-US" altLang="zh-CN" dirty="0"/>
          </a:p>
          <a:p>
            <a:r>
              <a:rPr lang="en-US" altLang="zh-CN" dirty="0"/>
              <a:t>to add `</a:t>
            </a:r>
            <a:r>
              <a:rPr lang="en-US" altLang="zh-CN" dirty="0" err="1"/>
              <a:t>javafx.fxml</a:t>
            </a:r>
            <a:r>
              <a:rPr lang="en-US" altLang="zh-CN" dirty="0"/>
              <a:t>` if you are using some FXML file).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Why it works?</a:t>
            </a:r>
            <a:endParaRPr 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376" y="1124744"/>
            <a:ext cx="2021842" cy="53285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008" y="1052736"/>
            <a:ext cx="2627165" cy="26158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839" y="3744416"/>
            <a:ext cx="3262017" cy="27089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0" y="1052736"/>
            <a:ext cx="6744072" cy="6414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6198807" y="6006916"/>
            <a:ext cx="564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Note 2: it’s just for explanation! You need to do NOTHING!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920" y="1766760"/>
            <a:ext cx="6744072" cy="4012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2510" y="2326085"/>
            <a:ext cx="6686037" cy="6790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5447928" y="2360638"/>
            <a:ext cx="2160240" cy="72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460780" y="2461088"/>
            <a:ext cx="5603771" cy="72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447928" y="2573372"/>
            <a:ext cx="6480720" cy="384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328387" y="2117867"/>
            <a:ext cx="12859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VM </a:t>
            </a:r>
            <a:r>
              <a:rPr lang="en-US" altLang="zh-CN" sz="1100" dirty="0" err="1"/>
              <a:t>args</a:t>
            </a:r>
            <a:r>
              <a:rPr lang="en-US" altLang="zh-CN" sz="1100" dirty="0"/>
              <a:t> just added</a:t>
            </a:r>
            <a:endParaRPr lang="zh-CN" altLang="en-US" sz="1100" dirty="0"/>
          </a:p>
        </p:txBody>
      </p:sp>
      <p:sp>
        <p:nvSpPr>
          <p:cNvPr id="22" name="文本框 21"/>
          <p:cNvSpPr txBox="1"/>
          <p:nvPr/>
        </p:nvSpPr>
        <p:spPr>
          <a:xfrm>
            <a:off x="10290640" y="2253030"/>
            <a:ext cx="18742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Compiled files of your project</a:t>
            </a:r>
            <a:endParaRPr lang="zh-CN" altLang="en-US" sz="1100" dirty="0"/>
          </a:p>
        </p:txBody>
      </p:sp>
      <p:sp>
        <p:nvSpPr>
          <p:cNvPr id="23" name="矩形 22"/>
          <p:cNvSpPr/>
          <p:nvPr/>
        </p:nvSpPr>
        <p:spPr>
          <a:xfrm>
            <a:off x="9984432" y="2326085"/>
            <a:ext cx="230871" cy="107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487788" y="2111677"/>
            <a:ext cx="3664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-cp i.e. -</a:t>
            </a:r>
            <a:r>
              <a:rPr lang="en-US" altLang="zh-CN" sz="1100" dirty="0" err="1"/>
              <a:t>classpath</a:t>
            </a:r>
            <a:r>
              <a:rPr lang="en-US" altLang="zh-CN" sz="1100" dirty="0"/>
              <a:t>, telling the path of the compiled .class files</a:t>
            </a:r>
            <a:endParaRPr lang="zh-CN" altLang="en-US" sz="1100" dirty="0"/>
          </a:p>
        </p:txBody>
      </p:sp>
      <p:sp>
        <p:nvSpPr>
          <p:cNvPr id="25" name="文本框 24"/>
          <p:cNvSpPr txBox="1"/>
          <p:nvPr/>
        </p:nvSpPr>
        <p:spPr>
          <a:xfrm>
            <a:off x="5375920" y="3011017"/>
            <a:ext cx="48381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The libraries you just added (which are already compiled, stored inside the jar file)</a:t>
            </a:r>
            <a:endParaRPr lang="zh-CN" altLang="en-US" sz="110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2974" y="3784051"/>
            <a:ext cx="5941856" cy="3148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文本框 29"/>
          <p:cNvSpPr txBox="1"/>
          <p:nvPr/>
        </p:nvSpPr>
        <p:spPr>
          <a:xfrm>
            <a:off x="5360972" y="3169687"/>
            <a:ext cx="6874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It’s quite similar for IDEA. Actually the translated command is executed,</a:t>
            </a:r>
            <a:endParaRPr lang="en-US" altLang="zh-CN" dirty="0"/>
          </a:p>
          <a:p>
            <a:r>
              <a:rPr lang="en-US" altLang="zh-CN" dirty="0"/>
              <a:t>	and it’s just not some magic (not that only the button works)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6208857" y="5680085"/>
            <a:ext cx="4719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Note 2: the build command is actually executed!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111" y="4250103"/>
            <a:ext cx="5831426" cy="12878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Use Maven for JavaFX Project</a:t>
            </a:r>
            <a:endParaRPr lang="zh-CN" sz="32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35360" y="2770947"/>
            <a:ext cx="607730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mvn archetype:generate \</a:t>
            </a:r>
            <a:endParaRPr lang="en-US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zh-CN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-DarchetypeGroupId=org.openjfx \</a:t>
            </a:r>
            <a:endParaRPr lang="en-US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zh-CN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-DarchetypeArtifactId=javafx-archetype-simple \</a:t>
            </a:r>
            <a:endParaRPr lang="en-US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zh-CN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-DarchetypeVersion=0.0.3 \ -DgroupId=org.openjfx \</a:t>
            </a:r>
            <a:endParaRPr lang="en-US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zh-CN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-DartifactId=sample \</a:t>
            </a:r>
            <a:endParaRPr lang="en-US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zh-CN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-Dversion=1.0.0 \</a:t>
            </a:r>
            <a:endParaRPr lang="en-US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zh-CN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-Djavafx-version=11 </a:t>
            </a:r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\</a:t>
            </a:r>
            <a:endParaRPr lang="en-US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	-</a:t>
            </a:r>
            <a:r>
              <a:rPr lang="en-US" altLang="zh-CN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DinteractiveMode</a:t>
            </a:r>
            <a:r>
              <a:rPr lang="en-US" altLang="zh-CN" sz="1400" dirty="0">
                <a:solidFill>
                  <a:srgbClr val="333333"/>
                </a:solidFill>
                <a:latin typeface="Consolas" panose="020B0609020204030204" pitchFamily="49" charset="0"/>
              </a:rPr>
              <a:t>=false</a:t>
            </a:r>
            <a:endParaRPr lang="zh-CN" altLang="zh-CN" sz="14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384" y="1125639"/>
            <a:ext cx="9988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Locate (using “cd” command) at some directory that you want to create some JavaFX project at (do not create the project directory ahead of time), and then type: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240016" y="2792947"/>
            <a:ext cx="584967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mvn archetype:generate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-DarchetypeGroupId=org.openjfx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-DarchetypeArtifactId=javafx-archetype-simple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-DarchetypeVersion=0.0.3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4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DgroupId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com.example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4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DartifactId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gomoku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-basic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4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Dversion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=1.0.0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4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Djavafx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-version=21.0.2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4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DinteractiveMode</a:t>
            </a:r>
            <a:r>
              <a:rPr lang="en-US" altLang="zh-CN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=false</a:t>
            </a:r>
            <a:r>
              <a:rPr lang="en-US" altLang="zh-CN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5400" y="1864712"/>
            <a:ext cx="4580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For Linux/macOS (i.e. UNIX-like systems)’s shell</a:t>
            </a:r>
            <a:endParaRPr lang="en-US" altLang="zh-CN" dirty="0">
              <a:solidFill>
                <a:srgbClr val="00B0F0"/>
              </a:solidFill>
            </a:endParaRPr>
          </a:p>
          <a:p>
            <a:r>
              <a:rPr lang="en-US" altLang="zh-CN" dirty="0">
                <a:solidFill>
                  <a:srgbClr val="00B0F0"/>
                </a:solidFill>
              </a:rPr>
              <a:t>(e.g. </a:t>
            </a:r>
            <a:r>
              <a:rPr lang="en-US" altLang="zh-CN" dirty="0" err="1">
                <a:solidFill>
                  <a:srgbClr val="00B0F0"/>
                </a:solidFill>
              </a:rPr>
              <a:t>sh</a:t>
            </a:r>
            <a:r>
              <a:rPr lang="en-US" altLang="zh-CN" dirty="0">
                <a:solidFill>
                  <a:srgbClr val="00B0F0"/>
                </a:solidFill>
              </a:rPr>
              <a:t>, bash, </a:t>
            </a:r>
            <a:r>
              <a:rPr lang="en-US" altLang="zh-CN" dirty="0" err="1">
                <a:solidFill>
                  <a:srgbClr val="00B0F0"/>
                </a:solidFill>
              </a:rPr>
              <a:t>zsh</a:t>
            </a:r>
            <a:r>
              <a:rPr lang="en-US" altLang="zh-CN" dirty="0">
                <a:solidFill>
                  <a:srgbClr val="00B0F0"/>
                </a:solidFill>
              </a:rPr>
              <a:t>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91105" y="1860225"/>
            <a:ext cx="356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For Windows </a:t>
            </a:r>
            <a:r>
              <a:rPr lang="en-US" altLang="zh-CN" dirty="0" err="1">
                <a:solidFill>
                  <a:srgbClr val="00B0F0"/>
                </a:solidFill>
              </a:rPr>
              <a:t>Powershell</a:t>
            </a:r>
            <a:r>
              <a:rPr lang="en-US" altLang="zh-CN" dirty="0">
                <a:solidFill>
                  <a:srgbClr val="00B0F0"/>
                </a:solidFill>
              </a:rPr>
              <a:t> (not CMD)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955" y="4890283"/>
            <a:ext cx="3600400" cy="15968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48" y="4890283"/>
            <a:ext cx="2259826" cy="15849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583" y="4899132"/>
            <a:ext cx="2371128" cy="15614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Use Maven for JavaFX Project</a:t>
            </a:r>
            <a:endParaRPr lang="zh-CN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92" y="1340768"/>
            <a:ext cx="5891544" cy="4608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20" y="1340768"/>
            <a:ext cx="5472608" cy="3790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20" y="2204864"/>
            <a:ext cx="5276099" cy="37444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Use Maven for JavaFX Project</a:t>
            </a:r>
            <a:endParaRPr 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052736"/>
            <a:ext cx="5511517" cy="32129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335360" y="4351412"/>
            <a:ext cx="448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But it’s hard to configure `module-info.java` …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63" y="4720744"/>
            <a:ext cx="5509930" cy="133146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5360" y="6236874"/>
            <a:ext cx="4916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haven’t use Reflex (e.g. FXML)!!! It’d be harder.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1050703"/>
            <a:ext cx="5245684" cy="3501008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6168008" y="1050703"/>
            <a:ext cx="0" cy="547260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672064" y="4797152"/>
            <a:ext cx="5299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Better use the maven command.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You can either use the integrated maven of the IDE;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Or just use command line: `mvn clean </a:t>
            </a:r>
            <a:r>
              <a:rPr lang="en-US" altLang="zh-CN" dirty="0" err="1"/>
              <a:t>javafx:run</a:t>
            </a:r>
            <a:r>
              <a:rPr lang="en-US" altLang="zh-CN" dirty="0"/>
              <a:t>`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(But you need to have your maven installed)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4"/>
          <p:cNvSpPr txBox="1"/>
          <p:nvPr/>
        </p:nvSpPr>
        <p:spPr>
          <a:xfrm>
            <a:off x="191344" y="71541"/>
            <a:ext cx="7884064" cy="8358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200" dirty="0"/>
              <a:t>Use Maven for JavaFX Project</a:t>
            </a:r>
            <a:endParaRPr lang="zh-CN" sz="3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834" y="1107688"/>
            <a:ext cx="2159324" cy="21249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107688"/>
            <a:ext cx="2356752" cy="21249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968" y="1107688"/>
            <a:ext cx="2356754" cy="20951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34" y="3344340"/>
            <a:ext cx="6211180" cy="1296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288" y="1052686"/>
            <a:ext cx="2736304" cy="2291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318" y="4752716"/>
            <a:ext cx="3064745" cy="1865132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320136" y="3717032"/>
            <a:ext cx="3620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You need to know what to open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Hard to know for complex project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3791744" y="4941168"/>
            <a:ext cx="662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You may remove the `module-info.java` and modify the `pom.xml` for the configuration part of the javafx plugin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Remove `</a:t>
            </a:r>
            <a:r>
              <a:rPr lang="en-US" altLang="zh-CN" dirty="0" err="1"/>
              <a:t>com.example.demo</a:t>
            </a:r>
            <a:r>
              <a:rPr lang="en-US" altLang="zh-CN" dirty="0"/>
              <a:t>/` as it’s no longer some module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Use `mvn </a:t>
            </a:r>
            <a:r>
              <a:rPr lang="en-US" altLang="zh-CN" dirty="0" err="1"/>
              <a:t>run:javafx</a:t>
            </a:r>
            <a:r>
              <a:rPr lang="en-US" altLang="zh-CN" dirty="0"/>
              <a:t>` and you can see that it still works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ubtitle 1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sz="2800" b="1"/>
              <a:t>林天麟 教授</a:t>
            </a:r>
            <a:endParaRPr lang="en-US" sz="2800" b="1"/>
          </a:p>
          <a:p>
            <a:r>
              <a:rPr lang="zh-CN"/>
              <a:t>香港中文大学（深圳）</a:t>
            </a:r>
            <a:endParaRPr lang="en-US"/>
          </a:p>
          <a:p>
            <a:r>
              <a:rPr lang="zh-CN"/>
              <a:t>机器人与</a:t>
            </a:r>
            <a:r>
              <a:rPr lang="zh-TW"/>
              <a:t>人工智能实验室</a:t>
            </a:r>
            <a:endParaRPr lang="en-US"/>
          </a:p>
          <a:p>
            <a:r>
              <a:rPr lang="en-US"/>
              <a:t>WeChat: tinlunlam</a:t>
            </a:r>
            <a:endParaRPr lang="zh-CN"/>
          </a:p>
        </p:txBody>
      </p:sp>
      <p:sp>
        <p:nvSpPr>
          <p:cNvPr id="1048584" name="AutoShape 2"/>
          <p:cNvSpPr>
            <a:spLocks noChangeAspect="1" noChangeArrowheads="1"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/>
          <a:lstStyle/>
          <a:p>
            <a:endParaRPr lang="en-US"/>
          </a:p>
        </p:txBody>
      </p:sp>
      <p:pic>
        <p:nvPicPr>
          <p:cNvPr id="2097154" name="Picture 4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344399" cy="6858000"/>
          </a:xfrm>
          <a:prstGeom prst="rect">
            <a:avLst/>
          </a:prstGeom>
          <a:noFill/>
        </p:spPr>
      </p:pic>
      <p:sp>
        <p:nvSpPr>
          <p:cNvPr id="1048585" name="Title 18"/>
          <p:cNvSpPr>
            <a:spLocks noGrp="1"/>
          </p:cNvSpPr>
          <p:nvPr>
            <p:ph type="title"/>
          </p:nvPr>
        </p:nvSpPr>
        <p:spPr>
          <a:xfrm>
            <a:off x="3552037" y="2894570"/>
            <a:ext cx="5087926" cy="1783234"/>
          </a:xfrm>
        </p:spPr>
        <p:txBody>
          <a:bodyPr/>
          <a:lstStyle/>
          <a:p>
            <a:pPr algn="ctr"/>
            <a:r>
              <a:rPr lang="en-US" sz="6000" dirty="0"/>
              <a:t>T</a:t>
            </a:r>
            <a:r>
              <a:rPr lang="en-US" sz="4800" dirty="0"/>
              <a:t>HANK </a:t>
            </a:r>
            <a:r>
              <a:rPr lang="en-US" sz="6000" dirty="0"/>
              <a:t>Y</a:t>
            </a:r>
            <a:r>
              <a:rPr lang="en-US" sz="4800" dirty="0"/>
              <a:t>OU</a:t>
            </a:r>
            <a:endParaRPr lang="en-US" sz="4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fe9a046-a2a9-43bc-a645-b850c7246860"/>
  <p:tag name="COMMONDATA" val="eyJoZGlkIjoiZTA3OWNmMjM5Yzk3NTBiMmZkZTUxNTExMWY5ZTUxMG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8777</Words>
  <Application>WPS 演示</Application>
  <PresentationFormat>宽屏</PresentationFormat>
  <Paragraphs>586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Calibri Light</vt:lpstr>
      <vt:lpstr>Arial</vt:lpstr>
      <vt:lpstr>等线</vt:lpstr>
      <vt:lpstr>楷体</vt:lpstr>
      <vt:lpstr>微软雅黑</vt:lpstr>
      <vt:lpstr>Cambria Math</vt:lpstr>
      <vt:lpstr>Arial Unicode MS</vt:lpstr>
      <vt:lpstr>Consolas</vt:lpstr>
      <vt:lpstr>Office 主题​​</vt:lpstr>
      <vt:lpstr>CSC1004 Tutorial 6 Yan Ke</vt:lpstr>
      <vt:lpstr>Gomoku Game (Recall)</vt:lpstr>
      <vt:lpstr>Class Design &amp; Control Flow (Recall)</vt:lpstr>
      <vt:lpstr>Class Design &amp; Control Flow (Recall)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脉象组近期工作 20310917</dc:title>
  <dc:creator>TEL-AN00a</dc:creator>
  <cp:lastModifiedBy>金老师</cp:lastModifiedBy>
  <cp:revision>437</cp:revision>
  <dcterms:created xsi:type="dcterms:W3CDTF">2021-09-16T09:09:00Z</dcterms:created>
  <dcterms:modified xsi:type="dcterms:W3CDTF">2026-03-19T14:48:07Z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DEF2CC9F1FF44862A3C220416D675C3E</vt:lpwstr>
  </property>
  <property fmtid="{D5CDD505-2E9C-101B-9397-08002B2CF9AE}" pid="3" name="KSOProductBuildVer">
    <vt:lpwstr>2052-12.1.0.25225</vt:lpwstr>
  </property>
</Properties>
</file>