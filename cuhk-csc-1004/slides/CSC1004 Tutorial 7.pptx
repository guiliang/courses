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tags/tag1.xml" ContentType="application/vnd.openxmlformats-officedocument.presentationml.tags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11"/>
  </p:notesMasterIdLst>
  <p:sldIdLst>
    <p:sldId id="257" r:id="rId2"/>
    <p:sldId id="340" r:id="rId3"/>
    <p:sldId id="358" r:id="rId4"/>
    <p:sldId id="362" r:id="rId5"/>
    <p:sldId id="346" r:id="rId6"/>
    <p:sldId id="361" r:id="rId7"/>
    <p:sldId id="360" r:id="rId8"/>
    <p:sldId id="359" r:id="rId9"/>
    <p:sldId id="262" r:id="rId10"/>
  </p:sldIdLst>
  <p:sldSz cx="12192000" cy="6858000"/>
  <p:notesSz cx="6858000" cy="9144000"/>
  <p:custDataLst>
    <p:tags r:id="rId12"/>
  </p:custDataLst>
  <p:defaultTextStyle>
    <a:lvl1pPr marL="0" lvl="0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1pPr>
    <a:lvl2pPr marL="457200" lvl="1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2pPr>
    <a:lvl3pPr marL="914400" lvl="2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3pPr>
    <a:lvl4pPr marL="1371600" lvl="3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4pPr>
    <a:lvl5pPr marL="1828800" lvl="4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5pPr>
    <a:lvl6pPr marL="2286000" lvl="5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6pPr>
    <a:lvl7pPr marL="2743200" lvl="6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7pPr>
    <a:lvl8pPr marL="3200400" lvl="7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8pPr>
    <a:lvl9pPr marL="3657600" lvl="8" algn="l" defTabSz="914400">
      <a:defRPr sz="1800" kern="1200">
        <a:solidFill>
          <a:schemeClr val="tx1"/>
        </a:solidFill>
        <a:latin typeface="Calibri" panose="020F0502020204030204"/>
        <a:ea typeface="宋体" panose="02010600030101010101" pitchFamily="2" charset="-122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zx j" initials="zj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223F59"/>
    <a:srgbClr val="FEFEFE"/>
    <a:srgbClr val="FFDBDB"/>
    <a:srgbClr val="FBFDF8"/>
    <a:srgbClr val="E8F5D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423" autoAdjust="0"/>
    <p:restoredTop sz="94660"/>
  </p:normalViewPr>
  <p:slideViewPr>
    <p:cSldViewPr>
      <p:cViewPr varScale="1">
        <p:scale>
          <a:sx n="160" d="100"/>
          <a:sy n="160" d="100"/>
        </p:scale>
        <p:origin x="312" y="1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commentAuthors" Target="commentAuthor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gs" Target="tags/tag1.xml"/><Relationship Id="rId17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notesMaster" Target="notesMasters/notesMaster1.xml"/><Relationship Id="rId5" Type="http://schemas.openxmlformats.org/officeDocument/2006/relationships/slide" Target="slides/slide4.xml"/><Relationship Id="rId15" Type="http://schemas.openxmlformats.org/officeDocument/2006/relationships/viewProps" Target="view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6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1048597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8F13B20-8BB8-B74B-ADB5-DA5707988F1E}" type="datetimeFigureOut">
              <a:rPr lang="zh-CN" altLang="en-US"/>
              <a:t>2026/3/26</a:t>
            </a:fld>
            <a:endParaRPr kumimoji="1" lang="zh-CN" altLang="en-US"/>
          </a:p>
        </p:txBody>
      </p:sp>
      <p:sp>
        <p:nvSpPr>
          <p:cNvPr id="1048598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1048599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r>
              <a:rPr kumimoji="1" lang="zh-CN" altLang="en-US"/>
              <a:t>编辑母版文本样式
第二级
第三级
第四级
第五级</a:t>
            </a:r>
          </a:p>
        </p:txBody>
      </p:sp>
      <p:sp>
        <p:nvSpPr>
          <p:cNvPr id="1048600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1048601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28674F-E567-AA4B-8C16-788D7CE21C4F}" type="slidenum">
              <a:rPr/>
              <a:t>‹#›</a:t>
            </a:fld>
            <a:endParaRPr kumimoji="1"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5" name="备注占位符 1048594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5" name="Picture 11"/>
          <p:cNvPicPr>
            <a:picLocks noChangeAspect="1"/>
          </p:cNvPicPr>
          <p:nvPr/>
        </p:nvPicPr>
        <p:blipFill rotWithShape="1">
          <a:blip r:embed="rId2"/>
          <a:srcRect r="2593" b="1375"/>
          <a:stretch>
            <a:fillRect/>
          </a:stretch>
        </p:blipFill>
        <p:spPr>
          <a:xfrm>
            <a:off x="5" y="1"/>
            <a:ext cx="12191996" cy="6858000"/>
          </a:xfrm>
          <a:prstGeom prst="rect">
            <a:avLst/>
          </a:prstGeom>
        </p:spPr>
      </p:pic>
      <p:sp>
        <p:nvSpPr>
          <p:cNvPr id="1048591" name="矩形 16"/>
          <p:cNvSpPr/>
          <p:nvPr/>
        </p:nvSpPr>
        <p:spPr>
          <a:xfrm>
            <a:off x="4" y="2235199"/>
            <a:ext cx="8302166" cy="1571190"/>
          </a:xfrm>
          <a:prstGeom prst="rect">
            <a:avLst/>
          </a:prstGeom>
          <a:solidFill>
            <a:srgbClr val="632E62">
              <a:alpha val="89804"/>
            </a:srgbClr>
          </a:solidFill>
          <a:ln>
            <a:noFill/>
          </a:ln>
        </p:spPr>
        <p:txBody>
          <a:bodyPr anchor="ctr"/>
          <a:lstStyle/>
          <a:p>
            <a:pPr marL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sz="1800" b="0" i="0" u="none" strike="noStrike" kern="1200" spc="0" baseline="0">
              <a:solidFill>
                <a:srgbClr val="FFFFFF"/>
              </a:solidFill>
              <a:latin typeface="Calibri" panose="020F0502020204030204"/>
              <a:ea typeface="等线" panose="02010600030101010101" charset="-122"/>
            </a:endParaRPr>
          </a:p>
        </p:txBody>
      </p:sp>
      <p:sp>
        <p:nvSpPr>
          <p:cNvPr id="1048592" name="副标题 2"/>
          <p:cNvSpPr>
            <a:spLocks noGrp="1"/>
          </p:cNvSpPr>
          <p:nvPr>
            <p:ph type="subTitle" idx="1"/>
          </p:nvPr>
        </p:nvSpPr>
        <p:spPr>
          <a:xfrm>
            <a:off x="846670" y="4986867"/>
            <a:ext cx="5757334" cy="1364266"/>
          </a:xfrm>
        </p:spPr>
        <p:txBody>
          <a:bodyPr>
            <a:normAutofit/>
          </a:bodyPr>
          <a:lstStyle>
            <a:lvl1pPr marL="0" lvl="0" indent="0" algn="l">
              <a:buNone/>
              <a:defRPr lang="zh-CN" sz="2400" kern="1200">
                <a:solidFill>
                  <a:schemeClr val="tx1"/>
                </a:solidFill>
                <a:latin typeface="Calibri" panose="020F0502020204030204"/>
                <a:ea typeface="楷体" panose="02010609060101010101" charset="-122"/>
              </a:defRPr>
            </a:lvl1pPr>
            <a:lvl2pPr marL="457200" lvl="1" indent="0" algn="ctr">
              <a:buNone/>
              <a:defRPr sz="2000"/>
            </a:lvl2pPr>
            <a:lvl3pPr marL="914400" lvl="2" indent="0" algn="ctr">
              <a:buNone/>
              <a:defRPr sz="1800"/>
            </a:lvl3pPr>
            <a:lvl4pPr marL="1371600" lvl="3" indent="0" algn="ctr">
              <a:buNone/>
              <a:defRPr sz="1600"/>
            </a:lvl4pPr>
            <a:lvl5pPr marL="1828800" lvl="4" indent="0" algn="ctr">
              <a:buNone/>
              <a:defRPr sz="1600"/>
            </a:lvl5pPr>
            <a:lvl6pPr marL="2286000" lvl="5" indent="0" algn="ctr">
              <a:buNone/>
              <a:defRPr sz="1600"/>
            </a:lvl6pPr>
            <a:lvl7pPr marL="2743200" lvl="6" indent="0" algn="ctr">
              <a:buNone/>
              <a:defRPr sz="1600"/>
            </a:lvl7pPr>
            <a:lvl8pPr marL="3200400" lvl="7" indent="0" algn="ctr">
              <a:buNone/>
              <a:defRPr sz="1600"/>
            </a:lvl8pPr>
            <a:lvl9pPr marL="3657600" lvl="8" indent="0" algn="ctr">
              <a:buNone/>
              <a:defRPr sz="1600"/>
            </a:lvl9pPr>
          </a:lstStyle>
          <a:p>
            <a:r>
              <a:rPr lang="zh-CN"/>
              <a:t>单击此处编辑母版副标题样式</a:t>
            </a:r>
          </a:p>
        </p:txBody>
      </p:sp>
      <p:pic>
        <p:nvPicPr>
          <p:cNvPr id="2097156" name="Picture 5"/>
          <p:cNvPicPr>
            <a:picLocks noChangeAspect="1"/>
          </p:cNvPicPr>
          <p:nvPr/>
        </p:nvPicPr>
        <p:blipFill rotWithShape="1">
          <a:blip r:embed="rId3"/>
          <a:srcRect l="6961" t="35708" b="36372"/>
          <a:stretch>
            <a:fillRect/>
          </a:stretch>
        </p:blipFill>
        <p:spPr>
          <a:xfrm>
            <a:off x="174170" y="309796"/>
            <a:ext cx="5821347" cy="1204332"/>
          </a:xfrm>
          <a:prstGeom prst="rect">
            <a:avLst/>
          </a:prstGeom>
          <a:noFill/>
          <a:ln>
            <a:noFill/>
          </a:ln>
        </p:spPr>
      </p:pic>
      <p:sp>
        <p:nvSpPr>
          <p:cNvPr id="1048593" name="标题 1"/>
          <p:cNvSpPr>
            <a:spLocks noGrp="1"/>
          </p:cNvSpPr>
          <p:nvPr>
            <p:ph type="ctrTitle"/>
          </p:nvPr>
        </p:nvSpPr>
        <p:spPr>
          <a:xfrm>
            <a:off x="595085" y="2336800"/>
            <a:ext cx="7707085" cy="1365198"/>
          </a:xfrm>
        </p:spPr>
        <p:txBody>
          <a:bodyPr anchor="ctr">
            <a:normAutofit/>
          </a:bodyPr>
          <a:lstStyle>
            <a:lvl1pPr lvl="0" algn="l">
              <a:defRPr lang="zh-CN" sz="4800" b="1" kern="1200">
                <a:solidFill>
                  <a:schemeClr val="bg1"/>
                </a:solidFill>
                <a:latin typeface="楷体" panose="02010609060101010101" charset="-122"/>
                <a:ea typeface="楷体" panose="02010609060101010101" charset="-122"/>
              </a:defRPr>
            </a:lvl1pPr>
          </a:lstStyle>
          <a:p>
            <a:r>
              <a:rPr lang="zh-CN"/>
              <a:t>单击此处编辑母版标题样式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7152" name="Picture 2"/>
          <p:cNvPicPr>
            <a:picLocks noChangeAspect="1"/>
          </p:cNvPicPr>
          <p:nvPr/>
        </p:nvPicPr>
        <p:blipFill rotWithShape="1">
          <a:blip r:embed="rId2"/>
          <a:srcRect l="4479" t="45070" r="4189" b="45659"/>
          <a:stretch>
            <a:fillRect/>
          </a:stretch>
        </p:blipFill>
        <p:spPr>
          <a:xfrm>
            <a:off x="0" y="1"/>
            <a:ext cx="12179299" cy="927100"/>
          </a:xfrm>
          <a:prstGeom prst="rect">
            <a:avLst/>
          </a:prstGeom>
        </p:spPr>
      </p:pic>
      <p:sp>
        <p:nvSpPr>
          <p:cNvPr id="1048578" name="Content Placeholder 2"/>
          <p:cNvSpPr>
            <a:spLocks noGrp="1"/>
          </p:cNvSpPr>
          <p:nvPr>
            <p:ph idx="1"/>
          </p:nvPr>
        </p:nvSpPr>
        <p:spPr>
          <a:xfrm>
            <a:off x="724328" y="1320803"/>
            <a:ext cx="10720469" cy="4930769"/>
          </a:xfrm>
        </p:spPr>
        <p:txBody>
          <a:bodyPr>
            <a:normAutofit/>
          </a:bodyPr>
          <a:lstStyle>
            <a:lvl1pPr marL="342900" lvl="0" indent="-3429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24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  <a:lvl2pPr marL="742950" lvl="1" indent="-28575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20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2pPr>
            <a:lvl3pPr marL="1143000" lvl="2" indent="-2286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18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3pPr>
            <a:lvl4pPr marL="1600200" lvl="3" indent="-2286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4pPr>
            <a:lvl5pPr marL="2057400" lvl="4" indent="-228600">
              <a:lnSpc>
                <a:spcPct val="150000"/>
              </a:lnSpc>
              <a:buClr>
                <a:srgbClr val="7030A0"/>
              </a:buClr>
              <a:buSzPct val="80000"/>
              <a:buFont typeface="Wingdings" panose="05000000000000000000" pitchFamily="2" charset="2"/>
              <a:buChar char="u"/>
              <a:defRPr sz="1600">
                <a:solidFill>
                  <a:schemeClr val="tx1"/>
                </a:solidFill>
                <a:latin typeface="微软雅黑" panose="020B0503020204020204" charset="-122"/>
                <a:ea typeface="微软雅黑" panose="020B0503020204020204" charset="-122"/>
              </a:defRPr>
            </a:lvl5pPr>
          </a:lstStyle>
          <a:p>
            <a:pPr lvl="0"/>
            <a:r>
              <a:rPr lang="zh-TW"/>
              <a:t>按一下以編輯母片文字樣式</a:t>
            </a:r>
          </a:p>
          <a:p>
            <a:pPr lvl="1"/>
            <a:r>
              <a:rPr lang="zh-TW"/>
              <a:t>第二層</a:t>
            </a:r>
          </a:p>
          <a:p>
            <a:pPr lvl="2"/>
            <a:r>
              <a:rPr lang="zh-TW"/>
              <a:t>第三層</a:t>
            </a:r>
          </a:p>
          <a:p>
            <a:pPr lvl="3"/>
            <a:r>
              <a:rPr lang="zh-TW"/>
              <a:t>第四層</a:t>
            </a:r>
          </a:p>
          <a:p>
            <a:pPr lvl="4"/>
            <a:r>
              <a:rPr lang="zh-TW"/>
              <a:t>第五層</a:t>
            </a:r>
            <a:endParaRPr lang="en-US"/>
          </a:p>
        </p:txBody>
      </p:sp>
      <p:sp>
        <p:nvSpPr>
          <p:cNvPr id="1048579" name="矩形 16"/>
          <p:cNvSpPr/>
          <p:nvPr/>
        </p:nvSpPr>
        <p:spPr>
          <a:xfrm>
            <a:off x="0" y="932"/>
            <a:ext cx="12192000" cy="949360"/>
          </a:xfrm>
          <a:prstGeom prst="rect">
            <a:avLst/>
          </a:prstGeom>
          <a:solidFill>
            <a:srgbClr val="632E62">
              <a:alpha val="89804"/>
            </a:srgbClr>
          </a:solidFill>
          <a:ln>
            <a:noFill/>
          </a:ln>
        </p:spPr>
        <p:txBody>
          <a:bodyPr anchor="ctr"/>
          <a:lstStyle/>
          <a:p>
            <a:pPr marL="0" lvl="0" indent="0" algn="ctr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</a:pPr>
            <a:endParaRPr lang="zh-CN" sz="1800" b="0" i="0" u="none" strike="noStrike" kern="1200" spc="0" baseline="0">
              <a:solidFill>
                <a:srgbClr val="FFFFFF"/>
              </a:solidFill>
              <a:latin typeface="等线" panose="02010600030101010101" charset="-122"/>
              <a:ea typeface="等线" panose="02010600030101010101" charset="-122"/>
            </a:endParaRPr>
          </a:p>
        </p:txBody>
      </p:sp>
      <p:pic>
        <p:nvPicPr>
          <p:cNvPr id="2097153" name="图片 18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718320" y="84549"/>
            <a:ext cx="3432584" cy="770458"/>
          </a:xfrm>
          <a:prstGeom prst="rect">
            <a:avLst/>
          </a:prstGeom>
        </p:spPr>
      </p:pic>
      <p:sp>
        <p:nvSpPr>
          <p:cNvPr id="1048580" name="Title 1"/>
          <p:cNvSpPr>
            <a:spLocks noGrp="1"/>
          </p:cNvSpPr>
          <p:nvPr>
            <p:ph type="title"/>
          </p:nvPr>
        </p:nvSpPr>
        <p:spPr>
          <a:xfrm>
            <a:off x="724328" y="51841"/>
            <a:ext cx="7884064" cy="835874"/>
          </a:xfrm>
        </p:spPr>
        <p:txBody>
          <a:bodyPr anchor="ctr">
            <a:normAutofit/>
          </a:bodyPr>
          <a:lstStyle>
            <a:lvl1pPr lvl="0">
              <a:defRPr sz="2800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defRPr>
            </a:lvl1pPr>
          </a:lstStyle>
          <a:p>
            <a:r>
              <a:rPr lang="zh-TW"/>
              <a:t>按一下以編輯母片標題樣式</a:t>
            </a:r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76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anchor="ctr">
            <a:normAutofit/>
          </a:bodyPr>
          <a:lstStyle/>
          <a:p>
            <a:r>
              <a:rPr lang="zh-CN"/>
              <a:t>单击此处编辑母版标题样式</a:t>
            </a:r>
          </a:p>
        </p:txBody>
      </p:sp>
      <p:sp>
        <p:nvSpPr>
          <p:cNvPr id="1048577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>
            <a:normAutofit/>
          </a:bodyPr>
          <a:lstStyle/>
          <a:p>
            <a:pPr lvl="0"/>
            <a:r>
              <a:rPr lang="zh-CN"/>
              <a:t>单击此处编辑母版文本样式</a:t>
            </a:r>
          </a:p>
          <a:p>
            <a:pPr lvl="1"/>
            <a:r>
              <a:rPr lang="zh-CN"/>
              <a:t>二级</a:t>
            </a:r>
          </a:p>
          <a:p>
            <a:pPr lvl="2"/>
            <a:r>
              <a:rPr lang="zh-CN"/>
              <a:t>三级</a:t>
            </a:r>
          </a:p>
          <a:p>
            <a:pPr lvl="3"/>
            <a:r>
              <a:rPr lang="zh-CN"/>
              <a:t>四级</a:t>
            </a:r>
          </a:p>
          <a:p>
            <a:pPr lvl="4"/>
            <a:r>
              <a:rPr lang="zh-CN"/>
              <a:t>五级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txStyles>
    <p:titleStyle>
      <a:lvl1pPr lvl="0" algn="l" defTabSz="914400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Calibri Light" panose="020F0302020204030204"/>
          <a:ea typeface="宋体" panose="02010600030101010101" pitchFamily="2" charset="-122"/>
        </a:defRPr>
      </a:lvl1pPr>
    </p:titleStyle>
    <p:bodyStyle>
      <a:lvl1pPr marL="228600" lvl="0" indent="-228600" algn="l" defTabSz="914400">
        <a:lnSpc>
          <a:spcPct val="90000"/>
        </a:lnSpc>
        <a:spcBef>
          <a:spcPts val="1000"/>
        </a:spcBef>
        <a:buFont typeface="Arial" panose="020B0604020202020204"/>
        <a:buChar char="•"/>
        <a:defRPr sz="2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685800" lvl="1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4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1143000" lvl="2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20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600200" lvl="3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2057400" lvl="4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514600" lvl="5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971800" lvl="6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429000" lvl="7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886200" lvl="8" indent="-228600" algn="l" defTabSz="914400">
        <a:lnSpc>
          <a:spcPct val="90000"/>
        </a:lnSpc>
        <a:spcBef>
          <a:spcPts val="500"/>
        </a:spcBef>
        <a:buFont typeface="Arial" panose="020B0604020202020204"/>
        <a:buChar char="•"/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bodyStyle>
    <p:otherStyle>
      <a:lvl1pPr marL="0" lvl="0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1pPr>
      <a:lvl2pPr marL="457200" lvl="1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2pPr>
      <a:lvl3pPr marL="914400" lvl="2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3pPr>
      <a:lvl4pPr marL="1371600" lvl="3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4pPr>
      <a:lvl5pPr marL="1828800" lvl="4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5pPr>
      <a:lvl6pPr marL="2286000" lvl="5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6pPr>
      <a:lvl7pPr marL="2743200" lvl="6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7pPr>
      <a:lvl8pPr marL="3200400" lvl="7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8pPr>
      <a:lvl9pPr marL="3657600" lvl="8" algn="l" defTabSz="914400">
        <a:defRPr sz="1800" kern="1200">
          <a:solidFill>
            <a:schemeClr val="tx1"/>
          </a:solidFill>
          <a:latin typeface="Calibri" panose="020F0502020204030204"/>
          <a:ea typeface="宋体" panose="02010600030101010101" pitchFamily="2" charset="-122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png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7.png"/><Relationship Id="rId4" Type="http://schemas.openxmlformats.org/officeDocument/2006/relationships/image" Target="../media/image16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image" Target="../media/image17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0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e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94" name="Title 6"/>
          <p:cNvSpPr>
            <a:spLocks noGrp="1"/>
          </p:cNvSpPr>
          <p:nvPr>
            <p:ph type="ctrTitle"/>
          </p:nvPr>
        </p:nvSpPr>
        <p:spPr/>
        <p:txBody>
          <a:bodyPr>
            <a:normAutofit/>
          </a:bodyPr>
          <a:lstStyle/>
          <a:p>
            <a:pPr algn="ctr">
              <a:lnSpc>
                <a:spcPct val="100000"/>
              </a:lnSpc>
            </a:pPr>
            <a:r>
              <a:rPr lang="en-US" altLang="zh-CN" sz="4400" dirty="0">
                <a:latin typeface="Calibri" panose="020F0502020204030204"/>
              </a:rPr>
              <a:t>CSC1004 Tutorial 7</a:t>
            </a:r>
            <a:br>
              <a:rPr lang="en-US" altLang="zh-CN" sz="3600" dirty="0">
                <a:latin typeface="Calibri" panose="020F0502020204030204"/>
              </a:rPr>
            </a:br>
            <a:r>
              <a:rPr lang="en-US" altLang="zh-CN" sz="2400" dirty="0">
                <a:latin typeface="Calibri" panose="020F0502020204030204"/>
              </a:rPr>
              <a:t>Ruixing Jin</a:t>
            </a:r>
            <a:endParaRPr lang="zh-CN" sz="3600" dirty="0">
              <a:latin typeface="Calibri" panose="020F0502020204030204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39C9-F02B-53AC-9919-4B60AEBC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>
            <a:extLst>
              <a:ext uri="{FF2B5EF4-FFF2-40B4-BE49-F238E27FC236}">
                <a16:creationId xmlns:a16="http://schemas.microsoft.com/office/drawing/2014/main" id="{2C88CEAC-39AA-AD98-6152-3AB69DBC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Class Design &amp; Control Flow (Recall)</a:t>
            </a:r>
            <a:endParaRPr lang="zh-CN" sz="3200" dirty="0"/>
          </a:p>
        </p:txBody>
      </p:sp>
      <p:grpSp>
        <p:nvGrpSpPr>
          <p:cNvPr id="3" name="组合 2">
            <a:extLst>
              <a:ext uri="{FF2B5EF4-FFF2-40B4-BE49-F238E27FC236}">
                <a16:creationId xmlns:a16="http://schemas.microsoft.com/office/drawing/2014/main" id="{D54C7959-0935-7D4B-AFB3-28EC6D64683C}"/>
              </a:ext>
            </a:extLst>
          </p:cNvPr>
          <p:cNvGrpSpPr/>
          <p:nvPr/>
        </p:nvGrpSpPr>
        <p:grpSpPr>
          <a:xfrm>
            <a:off x="6096000" y="1484784"/>
            <a:ext cx="5907085" cy="4032448"/>
            <a:chOff x="2783632" y="1124744"/>
            <a:chExt cx="8016757" cy="5472607"/>
          </a:xfrm>
        </p:grpSpPr>
        <p:grpSp>
          <p:nvGrpSpPr>
            <p:cNvPr id="4" name="组合 3">
              <a:extLst>
                <a:ext uri="{FF2B5EF4-FFF2-40B4-BE49-F238E27FC236}">
                  <a16:creationId xmlns:a16="http://schemas.microsoft.com/office/drawing/2014/main" id="{EFDF0D91-1367-222D-29D5-A978F11EE2E7}"/>
                </a:ext>
              </a:extLst>
            </p:cNvPr>
            <p:cNvGrpSpPr/>
            <p:nvPr/>
          </p:nvGrpSpPr>
          <p:grpSpPr>
            <a:xfrm>
              <a:off x="3575720" y="1124744"/>
              <a:ext cx="2160240" cy="736643"/>
              <a:chOff x="4872631" y="1036173"/>
              <a:chExt cx="2160240" cy="736643"/>
            </a:xfrm>
          </p:grpSpPr>
          <p:sp>
            <p:nvSpPr>
              <p:cNvPr id="45" name="Rounded Rectangle 3">
                <a:extLst>
                  <a:ext uri="{FF2B5EF4-FFF2-40B4-BE49-F238E27FC236}">
                    <a16:creationId xmlns:a16="http://schemas.microsoft.com/office/drawing/2014/main" id="{E64506E9-AA48-A9E5-57D1-F48B12D3B550}"/>
                  </a:ext>
                </a:extLst>
              </p:cNvPr>
              <p:cNvSpPr/>
              <p:nvPr/>
            </p:nvSpPr>
            <p:spPr>
              <a:xfrm>
                <a:off x="4872631" y="1052736"/>
                <a:ext cx="2160240" cy="720080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46" name="TextBox 4">
                <a:extLst>
                  <a:ext uri="{FF2B5EF4-FFF2-40B4-BE49-F238E27FC236}">
                    <a16:creationId xmlns:a16="http://schemas.microsoft.com/office/drawing/2014/main" id="{17D884E6-C412-6FB8-72C1-2FD5CF1938F1}"/>
                  </a:ext>
                </a:extLst>
              </p:cNvPr>
              <p:cNvSpPr txBox="1"/>
              <p:nvPr/>
            </p:nvSpPr>
            <p:spPr>
              <a:xfrm>
                <a:off x="4974396" y="1036173"/>
                <a:ext cx="1950077" cy="710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CN" sz="1400" dirty="0"/>
                  <a:t>Class</a:t>
                </a:r>
                <a:r>
                  <a:rPr lang="zh-CN" altLang="en-US" sz="1400" dirty="0"/>
                  <a:t> </a:t>
                </a:r>
                <a:r>
                  <a:rPr lang="en-US" sz="1400" dirty="0" err="1"/>
                  <a:t>GomokuGame</a:t>
                </a:r>
                <a:endParaRPr lang="en-CN" sz="1400" dirty="0"/>
              </a:p>
            </p:txBody>
          </p:sp>
        </p:grpSp>
        <p:cxnSp>
          <p:nvCxnSpPr>
            <p:cNvPr id="5" name="Straight Arrow Connector 14">
              <a:extLst>
                <a:ext uri="{FF2B5EF4-FFF2-40B4-BE49-F238E27FC236}">
                  <a16:creationId xmlns:a16="http://schemas.microsoft.com/office/drawing/2014/main" id="{5B975E35-2791-C491-21AC-1A26FBEC8DF8}"/>
                </a:ext>
              </a:extLst>
            </p:cNvPr>
            <p:cNvCxnSpPr>
              <a:cxnSpLocks/>
              <a:stCxn id="43" idx="2"/>
              <a:endCxn id="41" idx="0"/>
            </p:cNvCxnSpPr>
            <p:nvPr/>
          </p:nvCxnSpPr>
          <p:spPr>
            <a:xfrm flipH="1">
              <a:off x="4652523" y="3046843"/>
              <a:ext cx="2" cy="451874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7" name="组合 6">
              <a:extLst>
                <a:ext uri="{FF2B5EF4-FFF2-40B4-BE49-F238E27FC236}">
                  <a16:creationId xmlns:a16="http://schemas.microsoft.com/office/drawing/2014/main" id="{D6EAE2FF-470A-9534-FE33-7C16D2B22A87}"/>
                </a:ext>
              </a:extLst>
            </p:cNvPr>
            <p:cNvGrpSpPr/>
            <p:nvPr/>
          </p:nvGrpSpPr>
          <p:grpSpPr>
            <a:xfrm>
              <a:off x="3572405" y="2326763"/>
              <a:ext cx="2160240" cy="720080"/>
              <a:chOff x="4869316" y="2238192"/>
              <a:chExt cx="2160240" cy="720080"/>
            </a:xfrm>
          </p:grpSpPr>
          <p:sp>
            <p:nvSpPr>
              <p:cNvPr id="43" name="Rounded Rectangle 17">
                <a:extLst>
                  <a:ext uri="{FF2B5EF4-FFF2-40B4-BE49-F238E27FC236}">
                    <a16:creationId xmlns:a16="http://schemas.microsoft.com/office/drawing/2014/main" id="{BA2B61B8-6D75-5471-558B-22DAA3C56335}"/>
                  </a:ext>
                </a:extLst>
              </p:cNvPr>
              <p:cNvSpPr/>
              <p:nvPr/>
            </p:nvSpPr>
            <p:spPr>
              <a:xfrm>
                <a:off x="4869316" y="2238192"/>
                <a:ext cx="2160240" cy="720080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44" name="TextBox 18">
                <a:extLst>
                  <a:ext uri="{FF2B5EF4-FFF2-40B4-BE49-F238E27FC236}">
                    <a16:creationId xmlns:a16="http://schemas.microsoft.com/office/drawing/2014/main" id="{51BF1973-EE73-18B7-0F0B-1555A7DC9B0C}"/>
                  </a:ext>
                </a:extLst>
              </p:cNvPr>
              <p:cNvSpPr txBox="1"/>
              <p:nvPr/>
            </p:nvSpPr>
            <p:spPr>
              <a:xfrm>
                <a:off x="5189836" y="2413566"/>
                <a:ext cx="1377528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Constructor()</a:t>
                </a:r>
              </a:p>
            </p:txBody>
          </p:sp>
        </p:grpSp>
        <p:cxnSp>
          <p:nvCxnSpPr>
            <p:cNvPr id="8" name="Straight Arrow Connector 21">
              <a:extLst>
                <a:ext uri="{FF2B5EF4-FFF2-40B4-BE49-F238E27FC236}">
                  <a16:creationId xmlns:a16="http://schemas.microsoft.com/office/drawing/2014/main" id="{18C2EB45-2E5F-49AC-A821-0424A932D28D}"/>
                </a:ext>
              </a:extLst>
            </p:cNvPr>
            <p:cNvCxnSpPr>
              <a:cxnSpLocks/>
              <a:stCxn id="45" idx="2"/>
              <a:endCxn id="43" idx="0"/>
            </p:cNvCxnSpPr>
            <p:nvPr/>
          </p:nvCxnSpPr>
          <p:spPr>
            <a:xfrm flipH="1">
              <a:off x="4652525" y="1861387"/>
              <a:ext cx="3315" cy="465376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9" name="组合 8">
              <a:extLst>
                <a:ext uri="{FF2B5EF4-FFF2-40B4-BE49-F238E27FC236}">
                  <a16:creationId xmlns:a16="http://schemas.microsoft.com/office/drawing/2014/main" id="{00E893FA-F620-3E21-63D1-F407E638A6DB}"/>
                </a:ext>
              </a:extLst>
            </p:cNvPr>
            <p:cNvGrpSpPr/>
            <p:nvPr/>
          </p:nvGrpSpPr>
          <p:grpSpPr>
            <a:xfrm>
              <a:off x="3752424" y="3498717"/>
              <a:ext cx="1800198" cy="811189"/>
              <a:chOff x="3752424" y="3498717"/>
              <a:chExt cx="1800198" cy="811189"/>
            </a:xfrm>
          </p:grpSpPr>
          <p:sp>
            <p:nvSpPr>
              <p:cNvPr id="41" name="流程图: 决策 40">
                <a:extLst>
                  <a:ext uri="{FF2B5EF4-FFF2-40B4-BE49-F238E27FC236}">
                    <a16:creationId xmlns:a16="http://schemas.microsoft.com/office/drawing/2014/main" id="{7A51239F-DF6E-5808-6DCD-438A5B200507}"/>
                  </a:ext>
                </a:extLst>
              </p:cNvPr>
              <p:cNvSpPr/>
              <p:nvPr/>
            </p:nvSpPr>
            <p:spPr>
              <a:xfrm>
                <a:off x="3752424" y="3498717"/>
                <a:ext cx="1800198" cy="811189"/>
              </a:xfrm>
              <a:prstGeom prst="flowChartDecision">
                <a:avLst/>
              </a:prstGeom>
              <a:noFill/>
              <a:ln w="28575">
                <a:solidFill>
                  <a:srgbClr val="223F59"/>
                </a:solidFill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42" name="TextBox 18">
                <a:extLst>
                  <a:ext uri="{FF2B5EF4-FFF2-40B4-BE49-F238E27FC236}">
                    <a16:creationId xmlns:a16="http://schemas.microsoft.com/office/drawing/2014/main" id="{27659BC9-7E61-9C60-5910-738EBB40FA85}"/>
                  </a:ext>
                </a:extLst>
              </p:cNvPr>
              <p:cNvSpPr txBox="1"/>
              <p:nvPr/>
            </p:nvSpPr>
            <p:spPr>
              <a:xfrm>
                <a:off x="4024049" y="3657189"/>
                <a:ext cx="1219326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>
                    <a:effectLst/>
                  </a:rPr>
                  <a:t>gameOver</a:t>
                </a:r>
                <a:r>
                  <a:rPr lang="en-US" sz="1200" dirty="0">
                    <a:effectLst/>
                  </a:rPr>
                  <a:t>?</a:t>
                </a:r>
              </a:p>
            </p:txBody>
          </p:sp>
        </p:grpSp>
        <p:cxnSp>
          <p:nvCxnSpPr>
            <p:cNvPr id="10" name="Straight Arrow Connector 14">
              <a:extLst>
                <a:ext uri="{FF2B5EF4-FFF2-40B4-BE49-F238E27FC236}">
                  <a16:creationId xmlns:a16="http://schemas.microsoft.com/office/drawing/2014/main" id="{89BA6DBD-D2A2-DBF6-10DA-5C7157C97B80}"/>
                </a:ext>
              </a:extLst>
            </p:cNvPr>
            <p:cNvCxnSpPr>
              <a:cxnSpLocks/>
            </p:cNvCxnSpPr>
            <p:nvPr/>
          </p:nvCxnSpPr>
          <p:spPr>
            <a:xfrm>
              <a:off x="4652522" y="4334480"/>
              <a:ext cx="1" cy="326712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11" name="组合 10">
              <a:extLst>
                <a:ext uri="{FF2B5EF4-FFF2-40B4-BE49-F238E27FC236}">
                  <a16:creationId xmlns:a16="http://schemas.microsoft.com/office/drawing/2014/main" id="{65905049-A023-C83E-9152-1260EA28A99C}"/>
                </a:ext>
              </a:extLst>
            </p:cNvPr>
            <p:cNvGrpSpPr/>
            <p:nvPr/>
          </p:nvGrpSpPr>
          <p:grpSpPr>
            <a:xfrm>
              <a:off x="5372605" y="1907540"/>
              <a:ext cx="5427784" cy="375927"/>
              <a:chOff x="5372605" y="1907540"/>
              <a:chExt cx="5427784" cy="375927"/>
            </a:xfrm>
          </p:grpSpPr>
          <p:cxnSp>
            <p:nvCxnSpPr>
              <p:cNvPr id="39" name="直接箭头连接符 38">
                <a:extLst>
                  <a:ext uri="{FF2B5EF4-FFF2-40B4-BE49-F238E27FC236}">
                    <a16:creationId xmlns:a16="http://schemas.microsoft.com/office/drawing/2014/main" id="{9D713EE9-2FB6-3F59-4876-6B649DBB965A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372605" y="2094075"/>
                <a:ext cx="72008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40" name="文本框 39">
                <a:extLst>
                  <a:ext uri="{FF2B5EF4-FFF2-40B4-BE49-F238E27FC236}">
                    <a16:creationId xmlns:a16="http://schemas.microsoft.com/office/drawing/2014/main" id="{8149C5A3-0508-F318-9B0A-277853B0A801}"/>
                  </a:ext>
                </a:extLst>
              </p:cNvPr>
              <p:cNvSpPr txBox="1"/>
              <p:nvPr/>
            </p:nvSpPr>
            <p:spPr>
              <a:xfrm>
                <a:off x="6092685" y="1907540"/>
                <a:ext cx="4707704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The main() function of Main class holds one instance</a:t>
                </a:r>
                <a:endParaRPr lang="zh-CN" altLang="en-US" sz="1200" dirty="0"/>
              </a:p>
            </p:txBody>
          </p:sp>
        </p:grpSp>
        <p:grpSp>
          <p:nvGrpSpPr>
            <p:cNvPr id="12" name="组合 11">
              <a:extLst>
                <a:ext uri="{FF2B5EF4-FFF2-40B4-BE49-F238E27FC236}">
                  <a16:creationId xmlns:a16="http://schemas.microsoft.com/office/drawing/2014/main" id="{6A8B3BC7-6D6D-DEF1-36E3-943B74DEC385}"/>
                </a:ext>
              </a:extLst>
            </p:cNvPr>
            <p:cNvGrpSpPr/>
            <p:nvPr/>
          </p:nvGrpSpPr>
          <p:grpSpPr>
            <a:xfrm>
              <a:off x="5409475" y="2945363"/>
              <a:ext cx="4283821" cy="375927"/>
              <a:chOff x="5409475" y="2945363"/>
              <a:chExt cx="4283821" cy="375927"/>
            </a:xfrm>
          </p:grpSpPr>
          <p:cxnSp>
            <p:nvCxnSpPr>
              <p:cNvPr id="37" name="直接箭头连接符 36">
                <a:extLst>
                  <a:ext uri="{FF2B5EF4-FFF2-40B4-BE49-F238E27FC236}">
                    <a16:creationId xmlns:a16="http://schemas.microsoft.com/office/drawing/2014/main" id="{7127F7E3-53AA-680A-59CC-9F877253B810}"/>
                  </a:ext>
                </a:extLst>
              </p:cNvPr>
              <p:cNvCxnSpPr>
                <a:cxnSpLocks/>
              </p:cNvCxnSpPr>
              <p:nvPr/>
            </p:nvCxnSpPr>
            <p:spPr>
              <a:xfrm flipH="1">
                <a:off x="5409475" y="3140968"/>
                <a:ext cx="720080" cy="0"/>
              </a:xfrm>
              <a:prstGeom prst="straightConnector1">
                <a:avLst/>
              </a:prstGeom>
              <a:ln w="19050">
                <a:prstDash val="sysDash"/>
                <a:tailEnd type="triangle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38" name="文本框 37">
                <a:extLst>
                  <a:ext uri="{FF2B5EF4-FFF2-40B4-BE49-F238E27FC236}">
                    <a16:creationId xmlns:a16="http://schemas.microsoft.com/office/drawing/2014/main" id="{590D8C91-FC2C-70AF-43CF-8D68DBA7D517}"/>
                  </a:ext>
                </a:extLst>
              </p:cNvPr>
              <p:cNvSpPr txBox="1"/>
              <p:nvPr/>
            </p:nvSpPr>
            <p:spPr>
              <a:xfrm>
                <a:off x="6109719" y="2945363"/>
                <a:ext cx="3583577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200" dirty="0"/>
                  <a:t>Call the play() function to start the loop</a:t>
                </a:r>
                <a:endParaRPr lang="zh-CN" altLang="en-US" sz="1200" dirty="0"/>
              </a:p>
            </p:txBody>
          </p:sp>
        </p:grpSp>
        <p:grpSp>
          <p:nvGrpSpPr>
            <p:cNvPr id="13" name="组合 12">
              <a:extLst>
                <a:ext uri="{FF2B5EF4-FFF2-40B4-BE49-F238E27FC236}">
                  <a16:creationId xmlns:a16="http://schemas.microsoft.com/office/drawing/2014/main" id="{B336B79E-E354-4FF8-B95E-1DE6DBC1502C}"/>
                </a:ext>
              </a:extLst>
            </p:cNvPr>
            <p:cNvGrpSpPr/>
            <p:nvPr/>
          </p:nvGrpSpPr>
          <p:grpSpPr>
            <a:xfrm>
              <a:off x="4173769" y="4685934"/>
              <a:ext cx="943994" cy="432045"/>
              <a:chOff x="7498305" y="4445169"/>
              <a:chExt cx="943994" cy="432045"/>
            </a:xfrm>
          </p:grpSpPr>
          <p:sp>
            <p:nvSpPr>
              <p:cNvPr id="35" name="Rounded Rectangle 17">
                <a:extLst>
                  <a:ext uri="{FF2B5EF4-FFF2-40B4-BE49-F238E27FC236}">
                    <a16:creationId xmlns:a16="http://schemas.microsoft.com/office/drawing/2014/main" id="{C17970A5-2A01-DDD8-F539-DF499438432C}"/>
                  </a:ext>
                </a:extLst>
              </p:cNvPr>
              <p:cNvSpPr/>
              <p:nvPr/>
            </p:nvSpPr>
            <p:spPr>
              <a:xfrm>
                <a:off x="7509681" y="4445169"/>
                <a:ext cx="890576" cy="432045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36" name="TextBox 18">
                <a:extLst>
                  <a:ext uri="{FF2B5EF4-FFF2-40B4-BE49-F238E27FC236}">
                    <a16:creationId xmlns:a16="http://schemas.microsoft.com/office/drawing/2014/main" id="{52A12F45-0019-FBDE-9FF7-22927168D93A}"/>
                  </a:ext>
                </a:extLst>
              </p:cNvPr>
              <p:cNvSpPr txBox="1"/>
              <p:nvPr/>
            </p:nvSpPr>
            <p:spPr>
              <a:xfrm>
                <a:off x="7498305" y="4476524"/>
                <a:ext cx="943994" cy="375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render()</a:t>
                </a:r>
              </a:p>
            </p:txBody>
          </p:sp>
        </p:grpSp>
        <p:grpSp>
          <p:nvGrpSpPr>
            <p:cNvPr id="14" name="组合 13">
              <a:extLst>
                <a:ext uri="{FF2B5EF4-FFF2-40B4-BE49-F238E27FC236}">
                  <a16:creationId xmlns:a16="http://schemas.microsoft.com/office/drawing/2014/main" id="{DDB34680-1FFC-D5FE-4198-9382C837118B}"/>
                </a:ext>
              </a:extLst>
            </p:cNvPr>
            <p:cNvGrpSpPr/>
            <p:nvPr/>
          </p:nvGrpSpPr>
          <p:grpSpPr>
            <a:xfrm>
              <a:off x="3677485" y="5229200"/>
              <a:ext cx="2162645" cy="432045"/>
              <a:chOff x="7536160" y="5229200"/>
              <a:chExt cx="2162645" cy="432045"/>
            </a:xfrm>
          </p:grpSpPr>
          <p:sp>
            <p:nvSpPr>
              <p:cNvPr id="33" name="Rounded Rectangle 17">
                <a:extLst>
                  <a:ext uri="{FF2B5EF4-FFF2-40B4-BE49-F238E27FC236}">
                    <a16:creationId xmlns:a16="http://schemas.microsoft.com/office/drawing/2014/main" id="{D99FDDD5-F3E0-E0E2-D923-685B73FCC74A}"/>
                  </a:ext>
                </a:extLst>
              </p:cNvPr>
              <p:cNvSpPr/>
              <p:nvPr/>
            </p:nvSpPr>
            <p:spPr>
              <a:xfrm>
                <a:off x="7536160" y="5229200"/>
                <a:ext cx="2162645" cy="432045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34" name="TextBox 18">
                <a:extLst>
                  <a:ext uri="{FF2B5EF4-FFF2-40B4-BE49-F238E27FC236}">
                    <a16:creationId xmlns:a16="http://schemas.microsoft.com/office/drawing/2014/main" id="{7C7765CC-97BF-AF12-12C0-388BAD0342BE}"/>
                  </a:ext>
                </a:extLst>
              </p:cNvPr>
              <p:cNvSpPr txBox="1"/>
              <p:nvPr/>
            </p:nvSpPr>
            <p:spPr>
              <a:xfrm>
                <a:off x="7608169" y="5251906"/>
                <a:ext cx="1964915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 err="1">
                    <a:solidFill>
                      <a:srgbClr val="0070C0"/>
                    </a:solidFill>
                  </a:rPr>
                  <a:t>x,y</a:t>
                </a:r>
                <a:r>
                  <a:rPr lang="en-US" sz="1200" dirty="0">
                    <a:solidFill>
                      <a:srgbClr val="0070C0"/>
                    </a:solidFill>
                  </a:rPr>
                  <a:t> = </a:t>
                </a:r>
                <a:r>
                  <a:rPr lang="en-US" sz="1200" dirty="0" err="1">
                    <a:solidFill>
                      <a:srgbClr val="0070C0"/>
                    </a:solidFill>
                    <a:effectLst/>
                  </a:rPr>
                  <a:t>hunmanInput</a:t>
                </a:r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()</a:t>
                </a:r>
              </a:p>
            </p:txBody>
          </p:sp>
        </p:grpSp>
        <p:grpSp>
          <p:nvGrpSpPr>
            <p:cNvPr id="15" name="组合 14">
              <a:extLst>
                <a:ext uri="{FF2B5EF4-FFF2-40B4-BE49-F238E27FC236}">
                  <a16:creationId xmlns:a16="http://schemas.microsoft.com/office/drawing/2014/main" id="{3075BF28-71AA-5B7B-6AE0-3C88BF1676D2}"/>
                </a:ext>
              </a:extLst>
            </p:cNvPr>
            <p:cNvGrpSpPr/>
            <p:nvPr/>
          </p:nvGrpSpPr>
          <p:grpSpPr>
            <a:xfrm>
              <a:off x="4061816" y="5751595"/>
              <a:ext cx="1181411" cy="432045"/>
              <a:chOff x="7608168" y="5821583"/>
              <a:chExt cx="1181411" cy="432045"/>
            </a:xfrm>
          </p:grpSpPr>
          <p:sp>
            <p:nvSpPr>
              <p:cNvPr id="31" name="Rounded Rectangle 17">
                <a:extLst>
                  <a:ext uri="{FF2B5EF4-FFF2-40B4-BE49-F238E27FC236}">
                    <a16:creationId xmlns:a16="http://schemas.microsoft.com/office/drawing/2014/main" id="{9EB6351A-B389-305B-ABC3-B539B1BAE234}"/>
                  </a:ext>
                </a:extLst>
              </p:cNvPr>
              <p:cNvSpPr/>
              <p:nvPr/>
            </p:nvSpPr>
            <p:spPr>
              <a:xfrm>
                <a:off x="7608168" y="5821583"/>
                <a:ext cx="1181411" cy="432045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32" name="TextBox 18">
                <a:extLst>
                  <a:ext uri="{FF2B5EF4-FFF2-40B4-BE49-F238E27FC236}">
                    <a16:creationId xmlns:a16="http://schemas.microsoft.com/office/drawing/2014/main" id="{BAF85DC3-9956-D40E-EE33-ED7E45A04059}"/>
                  </a:ext>
                </a:extLst>
              </p:cNvPr>
              <p:cNvSpPr txBox="1"/>
              <p:nvPr/>
            </p:nvSpPr>
            <p:spPr>
              <a:xfrm>
                <a:off x="7658671" y="5852938"/>
                <a:ext cx="1087404" cy="375928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sz="1200" dirty="0">
                    <a:solidFill>
                      <a:srgbClr val="0070C0"/>
                    </a:solidFill>
                  </a:rPr>
                  <a:t>move</a:t>
                </a:r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(</a:t>
                </a:r>
                <a:r>
                  <a:rPr lang="en-US" sz="1200" dirty="0" err="1">
                    <a:solidFill>
                      <a:srgbClr val="0070C0"/>
                    </a:solidFill>
                    <a:effectLst/>
                  </a:rPr>
                  <a:t>x,y</a:t>
                </a:r>
                <a:r>
                  <a:rPr lang="en-US" sz="1200" dirty="0">
                    <a:solidFill>
                      <a:srgbClr val="0070C0"/>
                    </a:solidFill>
                    <a:effectLst/>
                  </a:rPr>
                  <a:t>)</a:t>
                </a:r>
              </a:p>
            </p:txBody>
          </p:sp>
        </p:grpSp>
        <p:cxnSp>
          <p:nvCxnSpPr>
            <p:cNvPr id="16" name="连接符: 肘形 15">
              <a:extLst>
                <a:ext uri="{FF2B5EF4-FFF2-40B4-BE49-F238E27FC236}">
                  <a16:creationId xmlns:a16="http://schemas.microsoft.com/office/drawing/2014/main" id="{2E46D0F2-F6FC-69B1-604A-F804F5B0FCBE}"/>
                </a:ext>
              </a:extLst>
            </p:cNvPr>
            <p:cNvCxnSpPr>
              <a:cxnSpLocks/>
              <a:stCxn id="31" idx="2"/>
              <a:endCxn id="41" idx="1"/>
            </p:cNvCxnSpPr>
            <p:nvPr/>
          </p:nvCxnSpPr>
          <p:spPr>
            <a:xfrm rot="5400000" flipH="1">
              <a:off x="3062809" y="4593927"/>
              <a:ext cx="2279328" cy="900098"/>
            </a:xfrm>
            <a:prstGeom prst="bentConnector4">
              <a:avLst>
                <a:gd name="adj1" fmla="val -10029"/>
                <a:gd name="adj2" fmla="val 147972"/>
              </a:avLst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7" name="文本框 16">
              <a:extLst>
                <a:ext uri="{FF2B5EF4-FFF2-40B4-BE49-F238E27FC236}">
                  <a16:creationId xmlns:a16="http://schemas.microsoft.com/office/drawing/2014/main" id="{7EA4E2F0-7F18-8C67-E062-0A2AB7DA4535}"/>
                </a:ext>
              </a:extLst>
            </p:cNvPr>
            <p:cNvSpPr txBox="1"/>
            <p:nvPr/>
          </p:nvSpPr>
          <p:spPr>
            <a:xfrm>
              <a:off x="4707197" y="4282539"/>
              <a:ext cx="496451" cy="375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No</a:t>
              </a:r>
              <a:endParaRPr lang="zh-CN" altLang="en-US" sz="1200" dirty="0"/>
            </a:p>
          </p:txBody>
        </p:sp>
        <p:cxnSp>
          <p:nvCxnSpPr>
            <p:cNvPr id="19" name="连接符: 肘形 18">
              <a:extLst>
                <a:ext uri="{FF2B5EF4-FFF2-40B4-BE49-F238E27FC236}">
                  <a16:creationId xmlns:a16="http://schemas.microsoft.com/office/drawing/2014/main" id="{0E971657-EB25-1B65-C6A1-A21CA87E6BDD}"/>
                </a:ext>
              </a:extLst>
            </p:cNvPr>
            <p:cNvCxnSpPr>
              <a:cxnSpLocks/>
              <a:stCxn id="41" idx="3"/>
              <a:endCxn id="29" idx="0"/>
            </p:cNvCxnSpPr>
            <p:nvPr/>
          </p:nvCxnSpPr>
          <p:spPr>
            <a:xfrm>
              <a:off x="5552622" y="3904312"/>
              <a:ext cx="1911530" cy="1468904"/>
            </a:xfrm>
            <a:prstGeom prst="bentConnector2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grpSp>
          <p:nvGrpSpPr>
            <p:cNvPr id="20" name="组合 19">
              <a:extLst>
                <a:ext uri="{FF2B5EF4-FFF2-40B4-BE49-F238E27FC236}">
                  <a16:creationId xmlns:a16="http://schemas.microsoft.com/office/drawing/2014/main" id="{18DA670E-7DA1-39B4-B7D0-35CEEAC84320}"/>
                </a:ext>
              </a:extLst>
            </p:cNvPr>
            <p:cNvGrpSpPr/>
            <p:nvPr/>
          </p:nvGrpSpPr>
          <p:grpSpPr>
            <a:xfrm>
              <a:off x="6240016" y="5373216"/>
              <a:ext cx="2376264" cy="720080"/>
              <a:chOff x="6240016" y="5373216"/>
              <a:chExt cx="2376264" cy="720080"/>
            </a:xfrm>
          </p:grpSpPr>
          <p:sp>
            <p:nvSpPr>
              <p:cNvPr id="29" name="Rounded Rectangle 17">
                <a:extLst>
                  <a:ext uri="{FF2B5EF4-FFF2-40B4-BE49-F238E27FC236}">
                    <a16:creationId xmlns:a16="http://schemas.microsoft.com/office/drawing/2014/main" id="{8C7C203C-C778-04AB-6EB8-CA03CFFE3385}"/>
                  </a:ext>
                </a:extLst>
              </p:cNvPr>
              <p:cNvSpPr/>
              <p:nvPr/>
            </p:nvSpPr>
            <p:spPr>
              <a:xfrm>
                <a:off x="6312024" y="5373216"/>
                <a:ext cx="2304256" cy="720080"/>
              </a:xfrm>
              <a:prstGeom prst="roundRect">
                <a:avLst/>
              </a:prstGeom>
              <a:noFill/>
              <a:ln w="25400"/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CN" sz="1200" dirty="0"/>
              </a:p>
            </p:txBody>
          </p:sp>
          <p:sp>
            <p:nvSpPr>
              <p:cNvPr id="30" name="TextBox 4">
                <a:extLst>
                  <a:ext uri="{FF2B5EF4-FFF2-40B4-BE49-F238E27FC236}">
                    <a16:creationId xmlns:a16="http://schemas.microsoft.com/office/drawing/2014/main" id="{69604DE5-4F56-D329-C69E-8600B415DE61}"/>
                  </a:ext>
                </a:extLst>
              </p:cNvPr>
              <p:cNvSpPr txBox="1"/>
              <p:nvPr/>
            </p:nvSpPr>
            <p:spPr>
              <a:xfrm>
                <a:off x="6240016" y="5373216"/>
                <a:ext cx="2250734" cy="710084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ctr"/>
                <a:r>
                  <a:rPr lang="en-US" altLang="zh-CN" sz="1400" dirty="0"/>
                  <a:t>&gt; </a:t>
                </a:r>
                <a:r>
                  <a:rPr lang="en-US" sz="1400" dirty="0"/>
                  <a:t>Show the result</a:t>
                </a:r>
              </a:p>
              <a:p>
                <a:pPr algn="ctr"/>
                <a:r>
                  <a:rPr lang="en-US" altLang="zh-CN" sz="1400" dirty="0"/>
                  <a:t>&gt; </a:t>
                </a:r>
                <a:r>
                  <a:rPr lang="en-US" sz="1400" dirty="0"/>
                  <a:t>Close input flow</a:t>
                </a:r>
                <a:endParaRPr lang="en-CN" sz="1400" dirty="0"/>
              </a:p>
            </p:txBody>
          </p:sp>
        </p:grpSp>
        <p:grpSp>
          <p:nvGrpSpPr>
            <p:cNvPr id="21" name="组合 20">
              <a:extLst>
                <a:ext uri="{FF2B5EF4-FFF2-40B4-BE49-F238E27FC236}">
                  <a16:creationId xmlns:a16="http://schemas.microsoft.com/office/drawing/2014/main" id="{29408F1E-0250-AFC9-33B3-CA536E565D3A}"/>
                </a:ext>
              </a:extLst>
            </p:cNvPr>
            <p:cNvGrpSpPr/>
            <p:nvPr/>
          </p:nvGrpSpPr>
          <p:grpSpPr>
            <a:xfrm>
              <a:off x="2783632" y="3326889"/>
              <a:ext cx="6192688" cy="3270462"/>
              <a:chOff x="2783632" y="3326889"/>
              <a:chExt cx="6192688" cy="3270462"/>
            </a:xfrm>
          </p:grpSpPr>
          <p:sp>
            <p:nvSpPr>
              <p:cNvPr id="27" name="矩形 26">
                <a:extLst>
                  <a:ext uri="{FF2B5EF4-FFF2-40B4-BE49-F238E27FC236}">
                    <a16:creationId xmlns:a16="http://schemas.microsoft.com/office/drawing/2014/main" id="{0C55DF0C-EF1E-5AC9-D05E-9EF71CF9A1E0}"/>
                  </a:ext>
                </a:extLst>
              </p:cNvPr>
              <p:cNvSpPr/>
              <p:nvPr/>
            </p:nvSpPr>
            <p:spPr>
              <a:xfrm>
                <a:off x="2783632" y="3326889"/>
                <a:ext cx="6192688" cy="3270462"/>
              </a:xfrm>
              <a:prstGeom prst="rect">
                <a:avLst/>
              </a:prstGeom>
              <a:noFill/>
              <a:ln w="28575">
                <a:prstDash val="sysDash"/>
              </a:ln>
            </p:spPr>
            <p:style>
              <a:lnRef idx="2">
                <a:schemeClr val="accent1">
                  <a:shade val="15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zh-CN" altLang="en-US" sz="1200"/>
              </a:p>
            </p:txBody>
          </p:sp>
          <p:sp>
            <p:nvSpPr>
              <p:cNvPr id="28" name="文本框 27">
                <a:extLst>
                  <a:ext uri="{FF2B5EF4-FFF2-40B4-BE49-F238E27FC236}">
                    <a16:creationId xmlns:a16="http://schemas.microsoft.com/office/drawing/2014/main" id="{6EBDC9B9-D746-29A3-95F2-A99863D8B4A0}"/>
                  </a:ext>
                </a:extLst>
              </p:cNvPr>
              <p:cNvSpPr txBox="1"/>
              <p:nvPr/>
            </p:nvSpPr>
            <p:spPr>
              <a:xfrm>
                <a:off x="5841657" y="3357631"/>
                <a:ext cx="3066330" cy="37592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dirty="0"/>
                  <a:t>The While loop in the </a:t>
                </a:r>
                <a:r>
                  <a:rPr lang="en-US" altLang="zh-CN" sz="1200" b="1" dirty="0"/>
                  <a:t>play() </a:t>
                </a:r>
                <a:r>
                  <a:rPr lang="en-US" altLang="zh-CN" sz="1050" dirty="0"/>
                  <a:t>function</a:t>
                </a:r>
                <a:endParaRPr lang="zh-CN" altLang="en-US" sz="1050" dirty="0"/>
              </a:p>
            </p:txBody>
          </p:sp>
        </p:grpSp>
        <p:grpSp>
          <p:nvGrpSpPr>
            <p:cNvPr id="23" name="组合 22">
              <a:extLst>
                <a:ext uri="{FF2B5EF4-FFF2-40B4-BE49-F238E27FC236}">
                  <a16:creationId xmlns:a16="http://schemas.microsoft.com/office/drawing/2014/main" id="{4EFBE9C3-54D1-1155-2AD0-7557D8D2EFB6}"/>
                </a:ext>
              </a:extLst>
            </p:cNvPr>
            <p:cNvGrpSpPr/>
            <p:nvPr/>
          </p:nvGrpSpPr>
          <p:grpSpPr>
            <a:xfrm>
              <a:off x="5243228" y="5967618"/>
              <a:ext cx="3697467" cy="560622"/>
              <a:chOff x="5243228" y="5967618"/>
              <a:chExt cx="3697467" cy="560622"/>
            </a:xfrm>
          </p:grpSpPr>
          <p:cxnSp>
            <p:nvCxnSpPr>
              <p:cNvPr id="25" name="直接连接符 24">
                <a:extLst>
                  <a:ext uri="{FF2B5EF4-FFF2-40B4-BE49-F238E27FC236}">
                    <a16:creationId xmlns:a16="http://schemas.microsoft.com/office/drawing/2014/main" id="{9364F80D-39C3-F185-D4C8-2CD877A0147A}"/>
                  </a:ext>
                </a:extLst>
              </p:cNvPr>
              <p:cNvCxnSpPr>
                <a:cxnSpLocks/>
                <a:stCxn id="31" idx="3"/>
                <a:endCxn id="26" idx="1"/>
              </p:cNvCxnSpPr>
              <p:nvPr/>
            </p:nvCxnSpPr>
            <p:spPr>
              <a:xfrm>
                <a:off x="5243228" y="5967618"/>
                <a:ext cx="692661" cy="388322"/>
              </a:xfrm>
              <a:prstGeom prst="line">
                <a:avLst/>
              </a:prstGeom>
              <a:ln w="19050">
                <a:prstDash val="sysDash"/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sp>
            <p:nvSpPr>
              <p:cNvPr id="26" name="文本框 25">
                <a:extLst>
                  <a:ext uri="{FF2B5EF4-FFF2-40B4-BE49-F238E27FC236}">
                    <a16:creationId xmlns:a16="http://schemas.microsoft.com/office/drawing/2014/main" id="{5B7649B9-0D59-E469-61B7-DFD0A89CAF69}"/>
                  </a:ext>
                </a:extLst>
              </p:cNvPr>
              <p:cNvSpPr txBox="1"/>
              <p:nvPr/>
            </p:nvSpPr>
            <p:spPr>
              <a:xfrm>
                <a:off x="5935889" y="6183640"/>
                <a:ext cx="3004806" cy="34460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US" altLang="zh-CN" sz="1050" dirty="0"/>
                  <a:t>Use </a:t>
                </a:r>
                <a:r>
                  <a:rPr lang="en-US" altLang="zh-CN" sz="1050" b="1" dirty="0" err="1"/>
                  <a:t>checkWin</a:t>
                </a:r>
                <a:r>
                  <a:rPr lang="en-US" altLang="zh-CN" sz="1050" b="1" dirty="0"/>
                  <a:t>() </a:t>
                </a:r>
                <a:r>
                  <a:rPr lang="en-US" altLang="zh-CN" sz="1050" dirty="0"/>
                  <a:t>to modify </a:t>
                </a:r>
                <a:r>
                  <a:rPr lang="en-US" altLang="zh-CN" sz="1050" b="1" dirty="0" err="1"/>
                  <a:t>gameOver</a:t>
                </a:r>
                <a:endParaRPr lang="en-US" altLang="zh-CN" sz="1050" b="1" dirty="0"/>
              </a:p>
            </p:txBody>
          </p:sp>
        </p:grpSp>
        <p:sp>
          <p:nvSpPr>
            <p:cNvPr id="24" name="文本框 23">
              <a:extLst>
                <a:ext uri="{FF2B5EF4-FFF2-40B4-BE49-F238E27FC236}">
                  <a16:creationId xmlns:a16="http://schemas.microsoft.com/office/drawing/2014/main" id="{0259B900-EACC-92E3-0871-C93D41D96592}"/>
                </a:ext>
              </a:extLst>
            </p:cNvPr>
            <p:cNvSpPr txBox="1"/>
            <p:nvPr/>
          </p:nvSpPr>
          <p:spPr>
            <a:xfrm>
              <a:off x="6312024" y="3892118"/>
              <a:ext cx="524993" cy="37592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US" altLang="zh-CN" sz="1200" dirty="0"/>
                <a:t>Yes</a:t>
              </a:r>
              <a:endParaRPr lang="zh-CN" altLang="en-US" sz="1200" dirty="0"/>
            </a:p>
          </p:txBody>
        </p:sp>
      </p:grpSp>
      <p:pic>
        <p:nvPicPr>
          <p:cNvPr id="6" name="图片 5">
            <a:extLst>
              <a:ext uri="{FF2B5EF4-FFF2-40B4-BE49-F238E27FC236}">
                <a16:creationId xmlns:a16="http://schemas.microsoft.com/office/drawing/2014/main" id="{307DF354-E87A-EABD-046D-9D52036F7489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6173" y="2038643"/>
            <a:ext cx="5267584" cy="3377904"/>
          </a:xfrm>
          <a:prstGeom prst="rect">
            <a:avLst/>
          </a:prstGeom>
        </p:spPr>
      </p:pic>
      <p:sp>
        <p:nvSpPr>
          <p:cNvPr id="49" name="矩形 48">
            <a:extLst>
              <a:ext uri="{FF2B5EF4-FFF2-40B4-BE49-F238E27FC236}">
                <a16:creationId xmlns:a16="http://schemas.microsoft.com/office/drawing/2014/main" id="{ED29A57D-2A17-B9C4-FBA9-9E7A15FEAAF5}"/>
              </a:ext>
            </a:extLst>
          </p:cNvPr>
          <p:cNvSpPr/>
          <p:nvPr/>
        </p:nvSpPr>
        <p:spPr>
          <a:xfrm>
            <a:off x="440904" y="3196220"/>
            <a:ext cx="2126704" cy="109687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9DC2E18B-E915-247E-7C1A-28F4D1AD55B5}"/>
              </a:ext>
            </a:extLst>
          </p:cNvPr>
          <p:cNvSpPr txBox="1"/>
          <p:nvPr/>
        </p:nvSpPr>
        <p:spPr>
          <a:xfrm>
            <a:off x="440904" y="2061581"/>
            <a:ext cx="247760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Change to JavaFX starter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1" name="箭头: 下 50">
            <a:extLst>
              <a:ext uri="{FF2B5EF4-FFF2-40B4-BE49-F238E27FC236}">
                <a16:creationId xmlns:a16="http://schemas.microsoft.com/office/drawing/2014/main" id="{3692F9C8-DCB4-01BA-9DDB-80811513E1C2}"/>
              </a:ext>
            </a:extLst>
          </p:cNvPr>
          <p:cNvSpPr/>
          <p:nvPr/>
        </p:nvSpPr>
        <p:spPr>
          <a:xfrm rot="19893767">
            <a:off x="1488399" y="2451087"/>
            <a:ext cx="125766" cy="709542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2" name="矩形 51">
            <a:extLst>
              <a:ext uri="{FF2B5EF4-FFF2-40B4-BE49-F238E27FC236}">
                <a16:creationId xmlns:a16="http://schemas.microsoft.com/office/drawing/2014/main" id="{359276AF-AEFD-0C66-5435-F6DCC357A2A3}"/>
              </a:ext>
            </a:extLst>
          </p:cNvPr>
          <p:cNvSpPr/>
          <p:nvPr/>
        </p:nvSpPr>
        <p:spPr>
          <a:xfrm>
            <a:off x="3359696" y="4653136"/>
            <a:ext cx="1152128" cy="174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E8052C8F-7B2B-8465-3061-B246675D93C8}"/>
              </a:ext>
            </a:extLst>
          </p:cNvPr>
          <p:cNvSpPr/>
          <p:nvPr/>
        </p:nvSpPr>
        <p:spPr>
          <a:xfrm rot="13704046">
            <a:off x="2843255" y="4665091"/>
            <a:ext cx="125766" cy="709542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4" name="文本框 53">
            <a:extLst>
              <a:ext uri="{FF2B5EF4-FFF2-40B4-BE49-F238E27FC236}">
                <a16:creationId xmlns:a16="http://schemas.microsoft.com/office/drawing/2014/main" id="{1677D77C-D70A-CE80-491E-82D5F10B14C2}"/>
              </a:ext>
            </a:extLst>
          </p:cNvPr>
          <p:cNvSpPr txBox="1"/>
          <p:nvPr/>
        </p:nvSpPr>
        <p:spPr>
          <a:xfrm>
            <a:off x="642364" y="5339350"/>
            <a:ext cx="2322495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Use JavaFX to render it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(render it outside)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5" name="矩形 54">
            <a:extLst>
              <a:ext uri="{FF2B5EF4-FFF2-40B4-BE49-F238E27FC236}">
                <a16:creationId xmlns:a16="http://schemas.microsoft.com/office/drawing/2014/main" id="{AB2EF0B2-5BAE-5CC0-6A02-9E2CBAF23F4A}"/>
              </a:ext>
            </a:extLst>
          </p:cNvPr>
          <p:cNvSpPr/>
          <p:nvPr/>
        </p:nvSpPr>
        <p:spPr>
          <a:xfrm>
            <a:off x="3350969" y="4857941"/>
            <a:ext cx="1575297" cy="174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6" name="箭头: 下 55">
            <a:extLst>
              <a:ext uri="{FF2B5EF4-FFF2-40B4-BE49-F238E27FC236}">
                <a16:creationId xmlns:a16="http://schemas.microsoft.com/office/drawing/2014/main" id="{26F4AC4F-F0CB-5840-B98B-F18E7D5D40EE}"/>
              </a:ext>
            </a:extLst>
          </p:cNvPr>
          <p:cNvSpPr/>
          <p:nvPr/>
        </p:nvSpPr>
        <p:spPr>
          <a:xfrm rot="8728553">
            <a:off x="4798082" y="5018411"/>
            <a:ext cx="125766" cy="709542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7" name="文本框 56">
            <a:extLst>
              <a:ext uri="{FF2B5EF4-FFF2-40B4-BE49-F238E27FC236}">
                <a16:creationId xmlns:a16="http://schemas.microsoft.com/office/drawing/2014/main" id="{340E8494-6AC5-B74B-DBDF-83A19610E59C}"/>
              </a:ext>
            </a:extLst>
          </p:cNvPr>
          <p:cNvSpPr txBox="1"/>
          <p:nvPr/>
        </p:nvSpPr>
        <p:spPr>
          <a:xfrm>
            <a:off x="4872666" y="5708698"/>
            <a:ext cx="2183290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From “console input”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To “mouse event”</a:t>
            </a:r>
            <a:endParaRPr lang="zh-CN" altLang="en-US" dirty="0">
              <a:solidFill>
                <a:srgbClr val="FF0000"/>
              </a:solidFill>
            </a:endParaRPr>
          </a:p>
        </p:txBody>
      </p:sp>
      <p:sp>
        <p:nvSpPr>
          <p:cNvPr id="58" name="矩形 57">
            <a:extLst>
              <a:ext uri="{FF2B5EF4-FFF2-40B4-BE49-F238E27FC236}">
                <a16:creationId xmlns:a16="http://schemas.microsoft.com/office/drawing/2014/main" id="{21F78DA8-5C01-B3CF-3F87-C9B61CCDE312}"/>
              </a:ext>
            </a:extLst>
          </p:cNvPr>
          <p:cNvSpPr/>
          <p:nvPr/>
        </p:nvSpPr>
        <p:spPr>
          <a:xfrm>
            <a:off x="3350969" y="5058656"/>
            <a:ext cx="991827" cy="174334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9" name="箭头: 下 58">
            <a:extLst>
              <a:ext uri="{FF2B5EF4-FFF2-40B4-BE49-F238E27FC236}">
                <a16:creationId xmlns:a16="http://schemas.microsoft.com/office/drawing/2014/main" id="{71CE22D8-B4CA-C8DF-A558-63FAF444A160}"/>
              </a:ext>
            </a:extLst>
          </p:cNvPr>
          <p:cNvSpPr/>
          <p:nvPr/>
        </p:nvSpPr>
        <p:spPr>
          <a:xfrm rot="10800000">
            <a:off x="3783999" y="5327807"/>
            <a:ext cx="163018" cy="405449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0" name="文本框 59">
            <a:extLst>
              <a:ext uri="{FF2B5EF4-FFF2-40B4-BE49-F238E27FC236}">
                <a16:creationId xmlns:a16="http://schemas.microsoft.com/office/drawing/2014/main" id="{46A827AF-4407-BC35-15D5-04E6A49B7967}"/>
              </a:ext>
            </a:extLst>
          </p:cNvPr>
          <p:cNvSpPr txBox="1"/>
          <p:nvPr/>
        </p:nvSpPr>
        <p:spPr>
          <a:xfrm>
            <a:off x="2757205" y="5738038"/>
            <a:ext cx="2055371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rgbClr val="FF0000"/>
                </a:solidFill>
              </a:rPr>
              <a:t>Handled by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Event Listener</a:t>
            </a:r>
          </a:p>
          <a:p>
            <a:r>
              <a:rPr lang="en-US" altLang="zh-CN" dirty="0">
                <a:solidFill>
                  <a:srgbClr val="FF0000"/>
                </a:solidFill>
              </a:rPr>
              <a:t>(Implicit while loop)</a:t>
            </a:r>
            <a:endParaRPr lang="zh-CN" altLang="en-US" dirty="0">
              <a:solidFill>
                <a:srgbClr val="FF0000"/>
              </a:solidFill>
            </a:endParaRPr>
          </a:p>
        </p:txBody>
      </p: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4F7C8D20-B54D-9771-577E-088DF80DD654}"/>
              </a:ext>
            </a:extLst>
          </p:cNvPr>
          <p:cNvCxnSpPr>
            <a:cxnSpLocks/>
            <a:stCxn id="38" idx="1"/>
            <a:endCxn id="38" idx="3"/>
          </p:cNvCxnSpPr>
          <p:nvPr/>
        </p:nvCxnSpPr>
        <p:spPr>
          <a:xfrm>
            <a:off x="8546801" y="2964793"/>
            <a:ext cx="2640531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580" name="直接连接符 1048579">
            <a:extLst>
              <a:ext uri="{FF2B5EF4-FFF2-40B4-BE49-F238E27FC236}">
                <a16:creationId xmlns:a16="http://schemas.microsoft.com/office/drawing/2014/main" id="{1FAD825D-5A0E-681F-4383-A1B7D7B73D3D}"/>
              </a:ext>
            </a:extLst>
          </p:cNvPr>
          <p:cNvCxnSpPr>
            <a:cxnSpLocks/>
          </p:cNvCxnSpPr>
          <p:nvPr/>
        </p:nvCxnSpPr>
        <p:spPr>
          <a:xfrm>
            <a:off x="9264352" y="3283699"/>
            <a:ext cx="1186053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585" name="直接连接符 1048584">
            <a:extLst>
              <a:ext uri="{FF2B5EF4-FFF2-40B4-BE49-F238E27FC236}">
                <a16:creationId xmlns:a16="http://schemas.microsoft.com/office/drawing/2014/main" id="{A448C2A2-F593-8AF6-0CC6-D9AC79F3CE08}"/>
              </a:ext>
            </a:extLst>
          </p:cNvPr>
          <p:cNvCxnSpPr>
            <a:cxnSpLocks/>
          </p:cNvCxnSpPr>
          <p:nvPr/>
        </p:nvCxnSpPr>
        <p:spPr>
          <a:xfrm flipH="1">
            <a:off x="8478552" y="3283699"/>
            <a:ext cx="172462" cy="130358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588" name="直接连接符 1048587">
            <a:extLst>
              <a:ext uri="{FF2B5EF4-FFF2-40B4-BE49-F238E27FC236}">
                <a16:creationId xmlns:a16="http://schemas.microsoft.com/office/drawing/2014/main" id="{7E69A1A2-2462-B7BA-C61E-5414CAF99B85}"/>
              </a:ext>
            </a:extLst>
          </p:cNvPr>
          <p:cNvCxnSpPr>
            <a:cxnSpLocks/>
          </p:cNvCxnSpPr>
          <p:nvPr/>
        </p:nvCxnSpPr>
        <p:spPr>
          <a:xfrm>
            <a:off x="8651014" y="3283699"/>
            <a:ext cx="179512" cy="118452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2" name="文本框 1048591">
            <a:extLst>
              <a:ext uri="{FF2B5EF4-FFF2-40B4-BE49-F238E27FC236}">
                <a16:creationId xmlns:a16="http://schemas.microsoft.com/office/drawing/2014/main" id="{CB100E35-B24D-9E71-1C79-C139CABC84F8}"/>
              </a:ext>
            </a:extLst>
          </p:cNvPr>
          <p:cNvSpPr txBox="1"/>
          <p:nvPr/>
        </p:nvSpPr>
        <p:spPr>
          <a:xfrm>
            <a:off x="8368228" y="3335211"/>
            <a:ext cx="604653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implicit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1048595" name="文本框 1048594">
            <a:extLst>
              <a:ext uri="{FF2B5EF4-FFF2-40B4-BE49-F238E27FC236}">
                <a16:creationId xmlns:a16="http://schemas.microsoft.com/office/drawing/2014/main" id="{D103F082-5805-13C9-1C7F-E5B9DBFEEFB1}"/>
              </a:ext>
            </a:extLst>
          </p:cNvPr>
          <p:cNvSpPr txBox="1"/>
          <p:nvPr/>
        </p:nvSpPr>
        <p:spPr>
          <a:xfrm>
            <a:off x="9260900" y="3309548"/>
            <a:ext cx="11929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via Event Listener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1048596" name="直接连接符 1048595">
            <a:extLst>
              <a:ext uri="{FF2B5EF4-FFF2-40B4-BE49-F238E27FC236}">
                <a16:creationId xmlns:a16="http://schemas.microsoft.com/office/drawing/2014/main" id="{E181E736-7439-95D3-AFED-AF4B4157B3D0}"/>
              </a:ext>
            </a:extLst>
          </p:cNvPr>
          <p:cNvCxnSpPr>
            <a:cxnSpLocks/>
            <a:endCxn id="34" idx="3"/>
          </p:cNvCxnSpPr>
          <p:nvPr/>
        </p:nvCxnSpPr>
        <p:spPr>
          <a:xfrm>
            <a:off x="7182175" y="4664351"/>
            <a:ext cx="1073345" cy="1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98" name="文本框 1048597">
            <a:extLst>
              <a:ext uri="{FF2B5EF4-FFF2-40B4-BE49-F238E27FC236}">
                <a16:creationId xmlns:a16="http://schemas.microsoft.com/office/drawing/2014/main" id="{11943C1C-9AA8-91FA-BD62-999109D4EEAF}"/>
              </a:ext>
            </a:extLst>
          </p:cNvPr>
          <p:cNvSpPr txBox="1"/>
          <p:nvPr/>
        </p:nvSpPr>
        <p:spPr>
          <a:xfrm>
            <a:off x="7799796" y="4094964"/>
            <a:ext cx="1237839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via Mouse Event</a:t>
            </a:r>
          </a:p>
          <a:p>
            <a:r>
              <a:rPr lang="en-US" altLang="zh-CN" sz="1100" dirty="0">
                <a:solidFill>
                  <a:srgbClr val="FF0000"/>
                </a:solidFill>
              </a:rPr>
              <a:t>(</a:t>
            </a:r>
            <a:r>
              <a:rPr lang="en-US" altLang="zh-CN" sz="1100" dirty="0" err="1">
                <a:solidFill>
                  <a:srgbClr val="FF0000"/>
                </a:solidFill>
              </a:rPr>
              <a:t>MouseClick</a:t>
            </a:r>
            <a:r>
              <a:rPr lang="en-US" altLang="zh-CN" sz="1100" dirty="0">
                <a:solidFill>
                  <a:srgbClr val="FF0000"/>
                </a:solidFill>
              </a:rPr>
              <a:t> Here)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cxnSp>
        <p:nvCxnSpPr>
          <p:cNvPr id="1048599" name="直接连接符 1048598">
            <a:extLst>
              <a:ext uri="{FF2B5EF4-FFF2-40B4-BE49-F238E27FC236}">
                <a16:creationId xmlns:a16="http://schemas.microsoft.com/office/drawing/2014/main" id="{02587455-213F-305C-45AD-36D57A1BA4D7}"/>
              </a:ext>
            </a:extLst>
          </p:cNvPr>
          <p:cNvCxnSpPr>
            <a:cxnSpLocks/>
            <a:stCxn id="40" idx="1"/>
            <a:endCxn id="40" idx="3"/>
          </p:cNvCxnSpPr>
          <p:nvPr/>
        </p:nvCxnSpPr>
        <p:spPr>
          <a:xfrm>
            <a:off x="8534250" y="2200081"/>
            <a:ext cx="3468835" cy="0"/>
          </a:xfrm>
          <a:prstGeom prst="line">
            <a:avLst/>
          </a:prstGeom>
          <a:ln w="1270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602" name="文本框 1048601">
            <a:extLst>
              <a:ext uri="{FF2B5EF4-FFF2-40B4-BE49-F238E27FC236}">
                <a16:creationId xmlns:a16="http://schemas.microsoft.com/office/drawing/2014/main" id="{BEF4BF7B-96DC-EBCF-AB3C-958473A1F406}"/>
              </a:ext>
            </a:extLst>
          </p:cNvPr>
          <p:cNvSpPr txBox="1"/>
          <p:nvPr/>
        </p:nvSpPr>
        <p:spPr>
          <a:xfrm>
            <a:off x="8572194" y="2256314"/>
            <a:ext cx="3399594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rgbClr val="FF0000"/>
                </a:solidFill>
              </a:rPr>
              <a:t>The instance of `</a:t>
            </a:r>
            <a:r>
              <a:rPr lang="en-US" altLang="zh-CN" sz="1100" dirty="0" err="1">
                <a:solidFill>
                  <a:srgbClr val="FF0000"/>
                </a:solidFill>
              </a:rPr>
              <a:t>GomokuGameFX</a:t>
            </a:r>
            <a:r>
              <a:rPr lang="en-US" altLang="zh-CN" sz="1100" dirty="0">
                <a:solidFill>
                  <a:srgbClr val="FF0000"/>
                </a:solidFill>
              </a:rPr>
              <a:t>` holds one instance of `</a:t>
            </a:r>
            <a:r>
              <a:rPr lang="en-US" altLang="zh-CN" sz="1100" dirty="0" err="1">
                <a:solidFill>
                  <a:srgbClr val="FF0000"/>
                </a:solidFill>
              </a:rPr>
              <a:t>GomokuGame</a:t>
            </a:r>
            <a:r>
              <a:rPr lang="en-US" altLang="zh-CN" sz="1100" dirty="0">
                <a:solidFill>
                  <a:srgbClr val="FF0000"/>
                </a:solidFill>
              </a:rPr>
              <a:t>`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909085911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39C9-F02B-53AC-9919-4B60AEBC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>
            <a:extLst>
              <a:ext uri="{FF2B5EF4-FFF2-40B4-BE49-F238E27FC236}">
                <a16:creationId xmlns:a16="http://schemas.microsoft.com/office/drawing/2014/main" id="{2C88CEAC-39AA-AD98-6152-3AB69DBC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Lambda Expression</a:t>
            </a:r>
            <a:endParaRPr lang="zh-CN" sz="3200" dirty="0"/>
          </a:p>
        </p:txBody>
      </p:sp>
      <p:sp>
        <p:nvSpPr>
          <p:cNvPr id="1048583" name="文本框 1048582">
            <a:extLst>
              <a:ext uri="{FF2B5EF4-FFF2-40B4-BE49-F238E27FC236}">
                <a16:creationId xmlns:a16="http://schemas.microsoft.com/office/drawing/2014/main" id="{CFBA47D1-EE41-FCDB-720B-4C38F2959FB6}"/>
              </a:ext>
            </a:extLst>
          </p:cNvPr>
          <p:cNvSpPr txBox="1"/>
          <p:nvPr/>
        </p:nvSpPr>
        <p:spPr>
          <a:xfrm>
            <a:off x="4655840" y="304812"/>
            <a:ext cx="1469826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A brief glance</a:t>
            </a:r>
            <a:endParaRPr lang="zh-CN" altLang="en-US" dirty="0">
              <a:solidFill>
                <a:schemeClr val="bg1"/>
              </a:solidFill>
            </a:endParaRPr>
          </a:p>
        </p:txBody>
      </p:sp>
      <p:pic>
        <p:nvPicPr>
          <p:cNvPr id="1048591" name="图片 1048590">
            <a:extLst>
              <a:ext uri="{FF2B5EF4-FFF2-40B4-BE49-F238E27FC236}">
                <a16:creationId xmlns:a16="http://schemas.microsoft.com/office/drawing/2014/main" id="{4A4477D4-EA19-146C-3F30-9D9F6FC07B3E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75222" y="1318456"/>
            <a:ext cx="4647473" cy="5062872"/>
          </a:xfrm>
          <a:prstGeom prst="rect">
            <a:avLst/>
          </a:prstGeom>
        </p:spPr>
      </p:pic>
      <p:pic>
        <p:nvPicPr>
          <p:cNvPr id="1048594" name="图片 1048593">
            <a:extLst>
              <a:ext uri="{FF2B5EF4-FFF2-40B4-BE49-F238E27FC236}">
                <a16:creationId xmlns:a16="http://schemas.microsoft.com/office/drawing/2014/main" id="{75454445-A2E3-F937-BCF8-556C243B315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147232" y="1916258"/>
            <a:ext cx="2232248" cy="1104313"/>
          </a:xfrm>
          <a:prstGeom prst="rect">
            <a:avLst/>
          </a:prstGeom>
        </p:spPr>
      </p:pic>
      <p:sp>
        <p:nvSpPr>
          <p:cNvPr id="1048597" name="文本框 1048596">
            <a:extLst>
              <a:ext uri="{FF2B5EF4-FFF2-40B4-BE49-F238E27FC236}">
                <a16:creationId xmlns:a16="http://schemas.microsoft.com/office/drawing/2014/main" id="{54E47C41-D63E-9144-BA5E-293C34A91A9D}"/>
              </a:ext>
            </a:extLst>
          </p:cNvPr>
          <p:cNvSpPr txBox="1"/>
          <p:nvPr/>
        </p:nvSpPr>
        <p:spPr>
          <a:xfrm>
            <a:off x="5183485" y="1273736"/>
            <a:ext cx="1884361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400" dirty="0"/>
              <a:t>Output after running the code</a:t>
            </a:r>
            <a:endParaRPr lang="zh-CN" altLang="en-US" sz="1400" dirty="0"/>
          </a:p>
        </p:txBody>
      </p:sp>
      <p:sp>
        <p:nvSpPr>
          <p:cNvPr id="1048599" name="文本框 1048598">
            <a:extLst>
              <a:ext uri="{FF2B5EF4-FFF2-40B4-BE49-F238E27FC236}">
                <a16:creationId xmlns:a16="http://schemas.microsoft.com/office/drawing/2014/main" id="{1DB881A8-E181-A317-166E-67223F61D3B6}"/>
              </a:ext>
            </a:extLst>
          </p:cNvPr>
          <p:cNvSpPr txBox="1"/>
          <p:nvPr/>
        </p:nvSpPr>
        <p:spPr>
          <a:xfrm>
            <a:off x="5123816" y="3284984"/>
            <a:ext cx="6264696" cy="300877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Lambda expression is some </a:t>
            </a:r>
            <a:r>
              <a:rPr lang="en-US" altLang="zh-CN" sz="1600" dirty="0">
                <a:solidFill>
                  <a:srgbClr val="525252"/>
                </a:solidFill>
                <a:latin typeface="Segoe UI" panose="020B0502040204020203" pitchFamily="34" charset="0"/>
              </a:rPr>
              <a:t>s</a:t>
            </a:r>
            <a:r>
              <a:rPr lang="en-US" altLang="zh-CN" sz="1600" b="0" i="0" dirty="0">
                <a:solidFill>
                  <a:srgbClr val="525252"/>
                </a:solidFill>
                <a:effectLst/>
                <a:latin typeface="Segoe UI" panose="020B0502040204020203" pitchFamily="34" charset="0"/>
              </a:rPr>
              <a:t>yntactic sugar for anonymous initialization of some </a:t>
            </a:r>
            <a:r>
              <a:rPr lang="en-US" altLang="zh-CN" sz="1600" dirty="0">
                <a:solidFill>
                  <a:srgbClr val="525252"/>
                </a:solidFill>
                <a:latin typeface="Segoe UI" panose="020B0502040204020203" pitchFamily="34" charset="0"/>
              </a:rPr>
              <a:t>functional interface implementation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>
                <a:solidFill>
                  <a:srgbClr val="525252"/>
                </a:solidFill>
                <a:latin typeface="Segoe UI" panose="020B0502040204020203" pitchFamily="34" charset="0"/>
              </a:rPr>
              <a:t>A functional interface should be of one and only one abstract method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The type of the target class and the type(s) of the argument(s) for the only overridden function is inferred from the context</a:t>
            </a: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 sz="1600" dirty="0"/>
              <a:t>Such context could be the </a:t>
            </a:r>
            <a:r>
              <a:rPr lang="en-US" altLang="zh-CN" sz="1600" dirty="0" err="1"/>
              <a:t>lvalue</a:t>
            </a:r>
            <a:r>
              <a:rPr lang="en-US" altLang="zh-CN" sz="1600" dirty="0"/>
              <a:t> or the function call, without ambiguity.</a:t>
            </a:r>
            <a:endParaRPr lang="zh-CN" altLang="en-US" sz="1600" dirty="0"/>
          </a:p>
        </p:txBody>
      </p:sp>
      <p:sp>
        <p:nvSpPr>
          <p:cNvPr id="1048600" name="文本框 1048599">
            <a:extLst>
              <a:ext uri="{FF2B5EF4-FFF2-40B4-BE49-F238E27FC236}">
                <a16:creationId xmlns:a16="http://schemas.microsoft.com/office/drawing/2014/main" id="{80F6231F-96C5-04DC-BBC6-9F8043B22B5D}"/>
              </a:ext>
            </a:extLst>
          </p:cNvPr>
          <p:cNvSpPr txBox="1"/>
          <p:nvPr/>
        </p:nvSpPr>
        <p:spPr>
          <a:xfrm>
            <a:off x="7824192" y="1124744"/>
            <a:ext cx="400628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i="1" dirty="0">
                <a:solidFill>
                  <a:schemeClr val="bg1">
                    <a:lumMod val="50000"/>
                  </a:schemeClr>
                </a:solidFill>
              </a:rPr>
              <a:t>A small task: try to rewrite project 1 using lambda expression?</a:t>
            </a:r>
            <a:endParaRPr lang="zh-CN" altLang="en-US" sz="1200" i="1" dirty="0">
              <a:solidFill>
                <a:schemeClr val="bg1">
                  <a:lumMod val="50000"/>
                </a:schemeClr>
              </a:solidFill>
            </a:endParaRPr>
          </a:p>
        </p:txBody>
      </p:sp>
      <p:pic>
        <p:nvPicPr>
          <p:cNvPr id="1048602" name="图片 1048601">
            <a:extLst>
              <a:ext uri="{FF2B5EF4-FFF2-40B4-BE49-F238E27FC236}">
                <a16:creationId xmlns:a16="http://schemas.microsoft.com/office/drawing/2014/main" id="{6D48C2E3-4A7F-AEA7-EAD4-53115AF5EFC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675749" y="1468600"/>
            <a:ext cx="1834362" cy="1692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  <p:pic>
        <p:nvPicPr>
          <p:cNvPr id="1048604" name="图片 1048603">
            <a:extLst>
              <a:ext uri="{FF2B5EF4-FFF2-40B4-BE49-F238E27FC236}">
                <a16:creationId xmlns:a16="http://schemas.microsoft.com/office/drawing/2014/main" id="{6B96F6F5-E428-64A2-E2CC-75877FDA3CA1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9821745" y="1484784"/>
            <a:ext cx="2195064" cy="1692803"/>
          </a:xfrm>
          <a:prstGeom prst="rect">
            <a:avLst/>
          </a:prstGeom>
          <a:effectLst>
            <a:outerShdw blurRad="50800" dist="38100" dir="2700000" algn="tl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63474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E2939C9-F02B-53AC-9919-4B60AEBC07E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>
            <a:extLst>
              <a:ext uri="{FF2B5EF4-FFF2-40B4-BE49-F238E27FC236}">
                <a16:creationId xmlns:a16="http://schemas.microsoft.com/office/drawing/2014/main" id="{2C88CEAC-39AA-AD98-6152-3AB69DBC25D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Lambda Expression</a:t>
            </a:r>
            <a:endParaRPr lang="zh-CN" sz="3200" dirty="0"/>
          </a:p>
        </p:txBody>
      </p:sp>
      <p:pic>
        <p:nvPicPr>
          <p:cNvPr id="18" name="图片 17">
            <a:extLst>
              <a:ext uri="{FF2B5EF4-FFF2-40B4-BE49-F238E27FC236}">
                <a16:creationId xmlns:a16="http://schemas.microsoft.com/office/drawing/2014/main" id="{CEDBE125-0081-DEE6-C8B4-482482162CA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00336" y="3034524"/>
            <a:ext cx="4167793" cy="1503776"/>
          </a:xfrm>
          <a:prstGeom prst="rect">
            <a:avLst/>
          </a:prstGeom>
        </p:spPr>
      </p:pic>
      <p:sp>
        <p:nvSpPr>
          <p:cNvPr id="22" name="箭头: 下 21">
            <a:extLst>
              <a:ext uri="{FF2B5EF4-FFF2-40B4-BE49-F238E27FC236}">
                <a16:creationId xmlns:a16="http://schemas.microsoft.com/office/drawing/2014/main" id="{A6360CB5-F68B-7481-51A7-70C4BBAF3E9F}"/>
              </a:ext>
            </a:extLst>
          </p:cNvPr>
          <p:cNvSpPr/>
          <p:nvPr/>
        </p:nvSpPr>
        <p:spPr>
          <a:xfrm>
            <a:off x="2009908" y="4646023"/>
            <a:ext cx="432048" cy="227134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pic>
        <p:nvPicPr>
          <p:cNvPr id="48" name="图片 47">
            <a:extLst>
              <a:ext uri="{FF2B5EF4-FFF2-40B4-BE49-F238E27FC236}">
                <a16:creationId xmlns:a16="http://schemas.microsoft.com/office/drawing/2014/main" id="{635D1DE8-8C21-3DD9-C66E-4CC6B917056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8011" y="5998759"/>
            <a:ext cx="4314989" cy="438711"/>
          </a:xfrm>
          <a:prstGeom prst="rect">
            <a:avLst/>
          </a:prstGeom>
        </p:spPr>
      </p:pic>
      <p:sp>
        <p:nvSpPr>
          <p:cNvPr id="61" name="文本框 60">
            <a:extLst>
              <a:ext uri="{FF2B5EF4-FFF2-40B4-BE49-F238E27FC236}">
                <a16:creationId xmlns:a16="http://schemas.microsoft.com/office/drawing/2014/main" id="{E93BB5EF-5189-40EC-0CA9-12DFDEE3DDE3}"/>
              </a:ext>
            </a:extLst>
          </p:cNvPr>
          <p:cNvSpPr txBox="1"/>
          <p:nvPr/>
        </p:nvSpPr>
        <p:spPr>
          <a:xfrm>
            <a:off x="5159896" y="3060213"/>
            <a:ext cx="561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Some anonymous class is defined and initialized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only overridden function is the `handle()`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argument type of the `handle()` function need to be explicitly provided</a:t>
            </a:r>
            <a:endParaRPr lang="zh-CN" altLang="en-US" dirty="0"/>
          </a:p>
        </p:txBody>
      </p:sp>
      <p:pic>
        <p:nvPicPr>
          <p:cNvPr id="1048577" name="图片 1048576">
            <a:extLst>
              <a:ext uri="{FF2B5EF4-FFF2-40B4-BE49-F238E27FC236}">
                <a16:creationId xmlns:a16="http://schemas.microsoft.com/office/drawing/2014/main" id="{1AD34D9D-52A2-F34D-52BC-3D4F9470C3BF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35360" y="1033268"/>
            <a:ext cx="4104456" cy="1661859"/>
          </a:xfrm>
          <a:prstGeom prst="rect">
            <a:avLst/>
          </a:prstGeom>
        </p:spPr>
      </p:pic>
      <p:sp>
        <p:nvSpPr>
          <p:cNvPr id="1048578" name="箭头: 下 1048577">
            <a:extLst>
              <a:ext uri="{FF2B5EF4-FFF2-40B4-BE49-F238E27FC236}">
                <a16:creationId xmlns:a16="http://schemas.microsoft.com/office/drawing/2014/main" id="{0A6D9795-A8C2-CFDD-21A7-A7465428D71E}"/>
              </a:ext>
            </a:extLst>
          </p:cNvPr>
          <p:cNvSpPr/>
          <p:nvPr/>
        </p:nvSpPr>
        <p:spPr>
          <a:xfrm>
            <a:off x="2063552" y="2746930"/>
            <a:ext cx="432048" cy="227134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pic>
        <p:nvPicPr>
          <p:cNvPr id="1048581" name="图片 1048580">
            <a:extLst>
              <a:ext uri="{FF2B5EF4-FFF2-40B4-BE49-F238E27FC236}">
                <a16:creationId xmlns:a16="http://schemas.microsoft.com/office/drawing/2014/main" id="{A48BA6EB-AB68-1384-3FF2-E0DBD4421797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8012" y="4947338"/>
            <a:ext cx="4314989" cy="452701"/>
          </a:xfrm>
          <a:prstGeom prst="rect">
            <a:avLst/>
          </a:prstGeom>
        </p:spPr>
      </p:pic>
      <p:sp>
        <p:nvSpPr>
          <p:cNvPr id="1048582" name="箭头: 下 1048581">
            <a:extLst>
              <a:ext uri="{FF2B5EF4-FFF2-40B4-BE49-F238E27FC236}">
                <a16:creationId xmlns:a16="http://schemas.microsoft.com/office/drawing/2014/main" id="{A514B067-775C-ED54-BAEC-46CDD5693374}"/>
              </a:ext>
            </a:extLst>
          </p:cNvPr>
          <p:cNvSpPr/>
          <p:nvPr/>
        </p:nvSpPr>
        <p:spPr>
          <a:xfrm>
            <a:off x="2009908" y="5597598"/>
            <a:ext cx="432048" cy="227134"/>
          </a:xfrm>
          <a:prstGeom prst="downArrow">
            <a:avLst/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3" name="文本框 1048582">
            <a:extLst>
              <a:ext uri="{FF2B5EF4-FFF2-40B4-BE49-F238E27FC236}">
                <a16:creationId xmlns:a16="http://schemas.microsoft.com/office/drawing/2014/main" id="{CFBA47D1-EE41-FCDB-720B-4C38F2959FB6}"/>
              </a:ext>
            </a:extLst>
          </p:cNvPr>
          <p:cNvSpPr txBox="1"/>
          <p:nvPr/>
        </p:nvSpPr>
        <p:spPr>
          <a:xfrm>
            <a:off x="4655840" y="304812"/>
            <a:ext cx="37139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dirty="0">
                <a:solidFill>
                  <a:schemeClr val="bg1"/>
                </a:solidFill>
              </a:rPr>
              <a:t>Using Instructor’s code as an example</a:t>
            </a:r>
            <a:endParaRPr lang="zh-CN" altLang="en-US" dirty="0">
              <a:solidFill>
                <a:schemeClr val="bg1"/>
              </a:solidFill>
            </a:endParaRPr>
          </a:p>
        </p:txBody>
      </p:sp>
      <p:sp>
        <p:nvSpPr>
          <p:cNvPr id="1048584" name="文本框 1048583">
            <a:extLst>
              <a:ext uri="{FF2B5EF4-FFF2-40B4-BE49-F238E27FC236}">
                <a16:creationId xmlns:a16="http://schemas.microsoft.com/office/drawing/2014/main" id="{DF78D48F-5266-7D4C-A5F8-C5D6D817BD30}"/>
              </a:ext>
            </a:extLst>
          </p:cNvPr>
          <p:cNvSpPr txBox="1"/>
          <p:nvPr/>
        </p:nvSpPr>
        <p:spPr>
          <a:xfrm>
            <a:off x="5159896" y="4725144"/>
            <a:ext cx="583264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Statement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argument type of the `handle()` function is omitted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Write lines (and return statement) inside “{}”</a:t>
            </a:r>
          </a:p>
        </p:txBody>
      </p:sp>
      <p:sp>
        <p:nvSpPr>
          <p:cNvPr id="1048586" name="文本框 1048585">
            <a:extLst>
              <a:ext uri="{FF2B5EF4-FFF2-40B4-BE49-F238E27FC236}">
                <a16:creationId xmlns:a16="http://schemas.microsoft.com/office/drawing/2014/main" id="{997E03AB-E5AF-FE27-9BFE-93EE0ABFBB79}"/>
              </a:ext>
            </a:extLst>
          </p:cNvPr>
          <p:cNvSpPr txBox="1"/>
          <p:nvPr/>
        </p:nvSpPr>
        <p:spPr>
          <a:xfrm>
            <a:off x="5159896" y="5894948"/>
            <a:ext cx="583264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Expression lambda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Only an expression is allowed, without “;”</a:t>
            </a:r>
          </a:p>
        </p:txBody>
      </p:sp>
      <p:sp>
        <p:nvSpPr>
          <p:cNvPr id="1048587" name="文本框 1048586">
            <a:extLst>
              <a:ext uri="{FF2B5EF4-FFF2-40B4-BE49-F238E27FC236}">
                <a16:creationId xmlns:a16="http://schemas.microsoft.com/office/drawing/2014/main" id="{F1183685-C8CF-C45B-F7A0-4ADA909502DE}"/>
              </a:ext>
            </a:extLst>
          </p:cNvPr>
          <p:cNvSpPr txBox="1"/>
          <p:nvPr/>
        </p:nvSpPr>
        <p:spPr>
          <a:xfrm>
            <a:off x="5159896" y="1275357"/>
            <a:ext cx="561662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Some explicit local class `</a:t>
            </a:r>
            <a:r>
              <a:rPr lang="en-US" altLang="zh-CN" dirty="0" err="1"/>
              <a:t>MyEventHandler</a:t>
            </a:r>
            <a:r>
              <a:rPr lang="en-US" altLang="zh-CN" dirty="0"/>
              <a:t>` is declared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only overridden function is the `handle()` function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The argument type of the `handle()` function need to be explicitly provided</a:t>
            </a:r>
            <a:endParaRPr lang="zh-CN" altLang="en-US" dirty="0"/>
          </a:p>
        </p:txBody>
      </p:sp>
    </p:spTree>
    <p:extLst>
      <p:ext uri="{BB962C8B-B14F-4D97-AF65-F5344CB8AC3E}">
        <p14:creationId xmlns:p14="http://schemas.microsoft.com/office/powerpoint/2010/main" val="167637963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8C8D-28DA-EC0B-39B3-1DCF3BC0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48593" name="图片 1048592">
            <a:extLst>
              <a:ext uri="{FF2B5EF4-FFF2-40B4-BE49-F238E27FC236}">
                <a16:creationId xmlns:a16="http://schemas.microsoft.com/office/drawing/2014/main" id="{55EBAE0D-C823-10B0-143E-915A6388315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587180" y="4053491"/>
            <a:ext cx="2200075" cy="2207401"/>
          </a:xfrm>
          <a:prstGeom prst="rect">
            <a:avLst/>
          </a:prstGeom>
        </p:spPr>
      </p:pic>
      <p:sp>
        <p:nvSpPr>
          <p:cNvPr id="1048589" name="标题 4">
            <a:extLst>
              <a:ext uri="{FF2B5EF4-FFF2-40B4-BE49-F238E27FC236}">
                <a16:creationId xmlns:a16="http://schemas.microsoft.com/office/drawing/2014/main" id="{6DA0CD4A-C500-5C18-F20F-0BBD1A5C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Rendering in JavaFX – via Layout</a:t>
            </a:r>
            <a:endParaRPr lang="zh-CN" sz="3200" dirty="0"/>
          </a:p>
        </p:txBody>
      </p:sp>
      <p:grpSp>
        <p:nvGrpSpPr>
          <p:cNvPr id="27" name="组合 26">
            <a:extLst>
              <a:ext uri="{FF2B5EF4-FFF2-40B4-BE49-F238E27FC236}">
                <a16:creationId xmlns:a16="http://schemas.microsoft.com/office/drawing/2014/main" id="{FDAE1351-8E49-04F6-48F7-5A3204417E24}"/>
              </a:ext>
            </a:extLst>
          </p:cNvPr>
          <p:cNvGrpSpPr/>
          <p:nvPr/>
        </p:nvGrpSpPr>
        <p:grpSpPr>
          <a:xfrm>
            <a:off x="191344" y="1340768"/>
            <a:ext cx="5326932" cy="2448272"/>
            <a:chOff x="335359" y="1052736"/>
            <a:chExt cx="5326932" cy="2448272"/>
          </a:xfrm>
        </p:grpSpPr>
        <p:pic>
          <p:nvPicPr>
            <p:cNvPr id="9" name="图片 8">
              <a:extLst>
                <a:ext uri="{FF2B5EF4-FFF2-40B4-BE49-F238E27FC236}">
                  <a16:creationId xmlns:a16="http://schemas.microsoft.com/office/drawing/2014/main" id="{264B2256-CC21-CFF1-26B9-2ACCDBD5FA6F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359" y="1052736"/>
              <a:ext cx="5326932" cy="2448272"/>
            </a:xfrm>
            <a:prstGeom prst="rect">
              <a:avLst/>
            </a:prstGeom>
          </p:spPr>
        </p:pic>
        <p:sp>
          <p:nvSpPr>
            <p:cNvPr id="21" name="矩形 20">
              <a:extLst>
                <a:ext uri="{FF2B5EF4-FFF2-40B4-BE49-F238E27FC236}">
                  <a16:creationId xmlns:a16="http://schemas.microsoft.com/office/drawing/2014/main" id="{72A911A9-9EC9-E7A9-D3C6-941B54A55412}"/>
                </a:ext>
              </a:extLst>
            </p:cNvPr>
            <p:cNvSpPr/>
            <p:nvPr/>
          </p:nvSpPr>
          <p:spPr>
            <a:xfrm>
              <a:off x="1822713" y="1124744"/>
              <a:ext cx="144016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6" name="组合 25">
            <a:extLst>
              <a:ext uri="{FF2B5EF4-FFF2-40B4-BE49-F238E27FC236}">
                <a16:creationId xmlns:a16="http://schemas.microsoft.com/office/drawing/2014/main" id="{FD7A5831-412D-00C4-1930-56C1E1D9CC4C}"/>
              </a:ext>
            </a:extLst>
          </p:cNvPr>
          <p:cNvGrpSpPr/>
          <p:nvPr/>
        </p:nvGrpSpPr>
        <p:grpSpPr>
          <a:xfrm>
            <a:off x="335359" y="3933056"/>
            <a:ext cx="4729523" cy="2448272"/>
            <a:chOff x="335359" y="3933056"/>
            <a:chExt cx="4729523" cy="2448272"/>
          </a:xfrm>
        </p:grpSpPr>
        <p:pic>
          <p:nvPicPr>
            <p:cNvPr id="11" name="图片 10">
              <a:extLst>
                <a:ext uri="{FF2B5EF4-FFF2-40B4-BE49-F238E27FC236}">
                  <a16:creationId xmlns:a16="http://schemas.microsoft.com/office/drawing/2014/main" id="{5E57913C-C933-55A8-D54F-647E4DD3A841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359" y="3933056"/>
              <a:ext cx="4729523" cy="2448272"/>
            </a:xfrm>
            <a:prstGeom prst="rect">
              <a:avLst/>
            </a:prstGeom>
          </p:spPr>
        </p:pic>
        <p:sp>
          <p:nvSpPr>
            <p:cNvPr id="25" name="矩形 24">
              <a:extLst>
                <a:ext uri="{FF2B5EF4-FFF2-40B4-BE49-F238E27FC236}">
                  <a16:creationId xmlns:a16="http://schemas.microsoft.com/office/drawing/2014/main" id="{B099E590-A543-6CAE-B4A5-4F544C29D7AD}"/>
                </a:ext>
              </a:extLst>
            </p:cNvPr>
            <p:cNvSpPr/>
            <p:nvPr/>
          </p:nvSpPr>
          <p:spPr>
            <a:xfrm>
              <a:off x="1991544" y="5517232"/>
              <a:ext cx="144016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29" name="连接符: 曲线 28">
            <a:extLst>
              <a:ext uri="{FF2B5EF4-FFF2-40B4-BE49-F238E27FC236}">
                <a16:creationId xmlns:a16="http://schemas.microsoft.com/office/drawing/2014/main" id="{5BB3B846-A226-94FF-4656-03A49DFE1395}"/>
              </a:ext>
            </a:extLst>
          </p:cNvPr>
          <p:cNvCxnSpPr>
            <a:cxnSpLocks/>
            <a:stCxn id="25" idx="3"/>
            <a:endCxn id="21" idx="0"/>
          </p:cNvCxnSpPr>
          <p:nvPr/>
        </p:nvCxnSpPr>
        <p:spPr>
          <a:xfrm flipH="1" flipV="1">
            <a:off x="1750706" y="1412776"/>
            <a:ext cx="384854" cy="4176464"/>
          </a:xfrm>
          <a:prstGeom prst="curvedConnector4">
            <a:avLst>
              <a:gd name="adj1" fmla="val -893173"/>
              <a:gd name="adj2" fmla="val 1073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4" name="图片 43">
            <a:extLst>
              <a:ext uri="{FF2B5EF4-FFF2-40B4-BE49-F238E27FC236}">
                <a16:creationId xmlns:a16="http://schemas.microsoft.com/office/drawing/2014/main" id="{1A682D10-BE8A-EBA2-6B7F-3341BBE680C2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879976" y="1340768"/>
            <a:ext cx="5256584" cy="2452827"/>
          </a:xfrm>
          <a:prstGeom prst="rect">
            <a:avLst/>
          </a:prstGeom>
        </p:spPr>
      </p:pic>
      <p:sp>
        <p:nvSpPr>
          <p:cNvPr id="1048584" name="文本框 1048583">
            <a:extLst>
              <a:ext uri="{FF2B5EF4-FFF2-40B4-BE49-F238E27FC236}">
                <a16:creationId xmlns:a16="http://schemas.microsoft.com/office/drawing/2014/main" id="{0409340B-FD2C-2B7A-5584-D6B0A2BABD33}"/>
              </a:ext>
            </a:extLst>
          </p:cNvPr>
          <p:cNvSpPr txBox="1"/>
          <p:nvPr/>
        </p:nvSpPr>
        <p:spPr>
          <a:xfrm>
            <a:off x="8040216" y="4149080"/>
            <a:ext cx="3600401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dirty="0"/>
              <a:t>Each unit presents some “+” (except for the boundary &amp; corners)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dirty="0"/>
              <a:t>For the boundary or the corner, let the line start from the center of the unit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dirty="0"/>
              <a:t>The horizontal line and the vertical line in each block is stored in a Pane instance rather than directly placed on the </a:t>
            </a:r>
            <a:r>
              <a:rPr lang="en-US" altLang="zh-CN" sz="1200" dirty="0" err="1"/>
              <a:t>StackPane</a:t>
            </a:r>
            <a:r>
              <a:rPr lang="en-US" altLang="zh-CN" sz="1200" dirty="0"/>
              <a:t> instance </a:t>
            </a:r>
            <a:r>
              <a:rPr lang="en-US" altLang="zh-CN" sz="1200" b="1" dirty="0"/>
              <a:t>(why?)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lang="en-US" altLang="zh-CN" sz="1200" dirty="0"/>
              <a:t>Note that some blank space here is added to make it more obvious (will not appear with the code provided)</a:t>
            </a:r>
          </a:p>
        </p:txBody>
      </p:sp>
      <p:sp>
        <p:nvSpPr>
          <p:cNvPr id="1048590" name="矩形 1048589">
            <a:extLst>
              <a:ext uri="{FF2B5EF4-FFF2-40B4-BE49-F238E27FC236}">
                <a16:creationId xmlns:a16="http://schemas.microsoft.com/office/drawing/2014/main" id="{524778AF-6B60-C17B-84DE-96AB4AB97283}"/>
              </a:ext>
            </a:extLst>
          </p:cNvPr>
          <p:cNvSpPr/>
          <p:nvPr/>
        </p:nvSpPr>
        <p:spPr>
          <a:xfrm>
            <a:off x="5587180" y="4060042"/>
            <a:ext cx="155921" cy="1610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94" name="矩形 1048593">
            <a:extLst>
              <a:ext uri="{FF2B5EF4-FFF2-40B4-BE49-F238E27FC236}">
                <a16:creationId xmlns:a16="http://schemas.microsoft.com/office/drawing/2014/main" id="{ED0470DF-8183-380D-47A8-462DB0A01F0F}"/>
              </a:ext>
            </a:extLst>
          </p:cNvPr>
          <p:cNvSpPr/>
          <p:nvPr/>
        </p:nvSpPr>
        <p:spPr>
          <a:xfrm>
            <a:off x="6459522" y="4638845"/>
            <a:ext cx="155921" cy="161046"/>
          </a:xfrm>
          <a:prstGeom prst="rect">
            <a:avLst/>
          </a:prstGeom>
          <a:noFill/>
          <a:ln w="190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55599894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8C8D-28DA-EC0B-39B3-1DCF3BC0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>
            <a:extLst>
              <a:ext uri="{FF2B5EF4-FFF2-40B4-BE49-F238E27FC236}">
                <a16:creationId xmlns:a16="http://schemas.microsoft.com/office/drawing/2014/main" id="{6DA0CD4A-C500-5C18-F20F-0BBD1A5C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Rendering in JavaFX – via Layout</a:t>
            </a:r>
            <a:endParaRPr lang="zh-CN" sz="3200" dirty="0"/>
          </a:p>
        </p:txBody>
      </p:sp>
      <p:pic>
        <p:nvPicPr>
          <p:cNvPr id="44" name="图片 43">
            <a:extLst>
              <a:ext uri="{FF2B5EF4-FFF2-40B4-BE49-F238E27FC236}">
                <a16:creationId xmlns:a16="http://schemas.microsoft.com/office/drawing/2014/main" id="{1A682D10-BE8A-EBA2-6B7F-3341BBE680C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879976" y="1340768"/>
            <a:ext cx="5256584" cy="2452827"/>
          </a:xfrm>
          <a:prstGeom prst="rect">
            <a:avLst/>
          </a:prstGeom>
        </p:spPr>
      </p:pic>
      <p:sp>
        <p:nvSpPr>
          <p:cNvPr id="1048579" name="文本框 1048578">
            <a:extLst>
              <a:ext uri="{FF2B5EF4-FFF2-40B4-BE49-F238E27FC236}">
                <a16:creationId xmlns:a16="http://schemas.microsoft.com/office/drawing/2014/main" id="{91109C26-825E-2D43-9375-04AAE09E66A1}"/>
              </a:ext>
            </a:extLst>
          </p:cNvPr>
          <p:cNvSpPr txBox="1"/>
          <p:nvPr/>
        </p:nvSpPr>
        <p:spPr>
          <a:xfrm>
            <a:off x="5447928" y="3933056"/>
            <a:ext cx="5904656" cy="24929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In JavaFX, when you're dealing with layout containers such as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StackPane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the layout of child nodes is managed by the container itself, which includes their positioning. This means that properties like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startX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startY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endX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and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endY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of a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Line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node will not directly control its position within a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StackPane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the way you might expect if you're trying to position the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Line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relative to the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StackPane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's top-left corner.</a:t>
            </a:r>
            <a:endParaRPr kumimoji="0" lang="zh-CN" altLang="zh-CN" sz="400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Arial" panose="020B0604020202020204" pitchFamily="34" charset="0"/>
              <a:buChar char="•"/>
              <a:tabLst/>
            </a:pP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Instead,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startX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startY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endX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and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endY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properties of a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Line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define the start and end points of the line relative to the line's own local coordinate system. When you add the line to a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StackPane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, the line will be centered in the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StackPane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 by default, and its start and end points will be calculated from the center position where the line is placed, not from the </a:t>
            </a:r>
            <a:r>
              <a:rPr kumimoji="0" lang="zh-CN" altLang="zh-CN" sz="1200" b="1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 Mono"/>
                <a:cs typeface="Calibri" panose="020F0502020204030204" pitchFamily="34" charset="0"/>
              </a:rPr>
              <a:t>StackPane</a:t>
            </a:r>
            <a:r>
              <a:rPr kumimoji="0" lang="zh-CN" altLang="zh-CN" sz="1200" b="0" i="0" u="none" strike="noStrike" cap="none" normalizeH="0" baseline="0" dirty="0">
                <a:ln>
                  <a:noFill/>
                </a:ln>
                <a:solidFill>
                  <a:srgbClr val="0D0D0D"/>
                </a:solidFill>
                <a:effectLst/>
                <a:latin typeface="Calibri" panose="020F0502020204030204" pitchFamily="34" charset="0"/>
                <a:ea typeface="Söhne"/>
                <a:cs typeface="Calibri" panose="020F0502020204030204" pitchFamily="34" charset="0"/>
              </a:rPr>
              <a:t>'s top-left corner.</a:t>
            </a:r>
            <a:endParaRPr kumimoji="0" lang="zh-CN" altLang="zh-CN" b="0" i="0" u="none" strike="noStrike" cap="none" normalizeH="0" baseline="0" dirty="0">
              <a:ln>
                <a:noFill/>
              </a:ln>
              <a:solidFill>
                <a:schemeClr val="tx1"/>
              </a:solidFill>
              <a:effectLst/>
              <a:latin typeface="Calibri" panose="020F0502020204030204" pitchFamily="34" charset="0"/>
              <a:cs typeface="Calibri" panose="020F0502020204030204" pitchFamily="34" charset="0"/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We may check the size of a block’s children to see whether a stone is placed on: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If the size &gt; 1, there is some stone on it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altLang="zh-CN" sz="1200" dirty="0"/>
              <a:t>Remove element starting from 1 to remove the stone</a:t>
            </a:r>
          </a:p>
        </p:txBody>
      </p:sp>
      <p:grpSp>
        <p:nvGrpSpPr>
          <p:cNvPr id="10" name="组合 9">
            <a:extLst>
              <a:ext uri="{FF2B5EF4-FFF2-40B4-BE49-F238E27FC236}">
                <a16:creationId xmlns:a16="http://schemas.microsoft.com/office/drawing/2014/main" id="{D25E8E56-BA72-740D-FBED-9C184535FDAE}"/>
              </a:ext>
            </a:extLst>
          </p:cNvPr>
          <p:cNvGrpSpPr/>
          <p:nvPr/>
        </p:nvGrpSpPr>
        <p:grpSpPr>
          <a:xfrm>
            <a:off x="191344" y="1340768"/>
            <a:ext cx="5326932" cy="2448272"/>
            <a:chOff x="335359" y="1052736"/>
            <a:chExt cx="5326932" cy="2448272"/>
          </a:xfrm>
        </p:grpSpPr>
        <p:pic>
          <p:nvPicPr>
            <p:cNvPr id="12" name="图片 11">
              <a:extLst>
                <a:ext uri="{FF2B5EF4-FFF2-40B4-BE49-F238E27FC236}">
                  <a16:creationId xmlns:a16="http://schemas.microsoft.com/office/drawing/2014/main" id="{9EF78D0F-4A94-F1EA-86CB-16F41732A8CA}"/>
                </a:ext>
              </a:extLst>
            </p:cNvPr>
            <p:cNvPicPr>
              <a:picLocks noChangeAspect="1"/>
            </p:cNvPicPr>
            <p:nvPr/>
          </p:nvPicPr>
          <p:blipFill>
            <a:blip r:embed="rId3"/>
            <a:stretch>
              <a:fillRect/>
            </a:stretch>
          </p:blipFill>
          <p:spPr>
            <a:xfrm>
              <a:off x="335359" y="1052736"/>
              <a:ext cx="5326932" cy="2448272"/>
            </a:xfrm>
            <a:prstGeom prst="rect">
              <a:avLst/>
            </a:prstGeom>
          </p:spPr>
        </p:pic>
        <p:sp>
          <p:nvSpPr>
            <p:cNvPr id="13" name="矩形 12">
              <a:extLst>
                <a:ext uri="{FF2B5EF4-FFF2-40B4-BE49-F238E27FC236}">
                  <a16:creationId xmlns:a16="http://schemas.microsoft.com/office/drawing/2014/main" id="{C626AAA0-618C-A52A-3C4A-3715D286824F}"/>
                </a:ext>
              </a:extLst>
            </p:cNvPr>
            <p:cNvSpPr/>
            <p:nvPr/>
          </p:nvSpPr>
          <p:spPr>
            <a:xfrm>
              <a:off x="1822713" y="1124744"/>
              <a:ext cx="144016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4" name="组合 13">
            <a:extLst>
              <a:ext uri="{FF2B5EF4-FFF2-40B4-BE49-F238E27FC236}">
                <a16:creationId xmlns:a16="http://schemas.microsoft.com/office/drawing/2014/main" id="{0DECEB65-8809-69C3-BA3C-D75BCF6524DB}"/>
              </a:ext>
            </a:extLst>
          </p:cNvPr>
          <p:cNvGrpSpPr/>
          <p:nvPr/>
        </p:nvGrpSpPr>
        <p:grpSpPr>
          <a:xfrm>
            <a:off x="335359" y="3933056"/>
            <a:ext cx="4729523" cy="2448272"/>
            <a:chOff x="335359" y="3933056"/>
            <a:chExt cx="4729523" cy="2448272"/>
          </a:xfrm>
        </p:grpSpPr>
        <p:pic>
          <p:nvPicPr>
            <p:cNvPr id="15" name="图片 14">
              <a:extLst>
                <a:ext uri="{FF2B5EF4-FFF2-40B4-BE49-F238E27FC236}">
                  <a16:creationId xmlns:a16="http://schemas.microsoft.com/office/drawing/2014/main" id="{F6AABE08-CA87-8905-7EF1-306CFAB401AF}"/>
                </a:ext>
              </a:extLst>
            </p:cNvPr>
            <p:cNvPicPr>
              <a:picLocks noChangeAspect="1"/>
            </p:cNvPicPr>
            <p:nvPr/>
          </p:nvPicPr>
          <p:blipFill>
            <a:blip r:embed="rId4"/>
            <a:stretch>
              <a:fillRect/>
            </a:stretch>
          </p:blipFill>
          <p:spPr>
            <a:xfrm>
              <a:off x="335359" y="3933056"/>
              <a:ext cx="4729523" cy="2448272"/>
            </a:xfrm>
            <a:prstGeom prst="rect">
              <a:avLst/>
            </a:prstGeom>
          </p:spPr>
        </p:pic>
        <p:sp>
          <p:nvSpPr>
            <p:cNvPr id="16" name="矩形 15">
              <a:extLst>
                <a:ext uri="{FF2B5EF4-FFF2-40B4-BE49-F238E27FC236}">
                  <a16:creationId xmlns:a16="http://schemas.microsoft.com/office/drawing/2014/main" id="{1B03D8D2-8316-1B14-2BAF-651EE7E8ECF1}"/>
                </a:ext>
              </a:extLst>
            </p:cNvPr>
            <p:cNvSpPr/>
            <p:nvPr/>
          </p:nvSpPr>
          <p:spPr>
            <a:xfrm>
              <a:off x="1991544" y="5517232"/>
              <a:ext cx="144016" cy="144016"/>
            </a:xfrm>
            <a:prstGeom prst="rect">
              <a:avLst/>
            </a:prstGeom>
            <a:noFill/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cxnSp>
        <p:nvCxnSpPr>
          <p:cNvPr id="17" name="连接符: 曲线 16">
            <a:extLst>
              <a:ext uri="{FF2B5EF4-FFF2-40B4-BE49-F238E27FC236}">
                <a16:creationId xmlns:a16="http://schemas.microsoft.com/office/drawing/2014/main" id="{C23C2404-D9B8-12AE-B7CC-0858C312799D}"/>
              </a:ext>
            </a:extLst>
          </p:cNvPr>
          <p:cNvCxnSpPr>
            <a:cxnSpLocks/>
            <a:stCxn id="16" idx="3"/>
            <a:endCxn id="13" idx="0"/>
          </p:cNvCxnSpPr>
          <p:nvPr/>
        </p:nvCxnSpPr>
        <p:spPr>
          <a:xfrm flipH="1" flipV="1">
            <a:off x="1750706" y="1412776"/>
            <a:ext cx="384854" cy="4176464"/>
          </a:xfrm>
          <a:prstGeom prst="curvedConnector4">
            <a:avLst>
              <a:gd name="adj1" fmla="val -893173"/>
              <a:gd name="adj2" fmla="val 107369"/>
            </a:avLst>
          </a:prstGeom>
          <a:ln>
            <a:solidFill>
              <a:srgbClr val="FF0000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7905777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8C8D-28DA-EC0B-39B3-1DCF3BC0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>
            <a:extLst>
              <a:ext uri="{FF2B5EF4-FFF2-40B4-BE49-F238E27FC236}">
                <a16:creationId xmlns:a16="http://schemas.microsoft.com/office/drawing/2014/main" id="{6DA0CD4A-C500-5C18-F20F-0BBD1A5C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Rendering in JavaFX – via Layout</a:t>
            </a:r>
            <a:endParaRPr lang="zh-CN" sz="3200" dirty="0"/>
          </a:p>
        </p:txBody>
      </p:sp>
      <p:sp>
        <p:nvSpPr>
          <p:cNvPr id="45" name="矩形 44">
            <a:extLst>
              <a:ext uri="{FF2B5EF4-FFF2-40B4-BE49-F238E27FC236}">
                <a16:creationId xmlns:a16="http://schemas.microsoft.com/office/drawing/2014/main" id="{683BA647-58B0-E6AC-D892-5A878A16E56C}"/>
              </a:ext>
            </a:extLst>
          </p:cNvPr>
          <p:cNvSpPr/>
          <p:nvPr/>
        </p:nvSpPr>
        <p:spPr>
          <a:xfrm>
            <a:off x="2423578" y="1444868"/>
            <a:ext cx="2088232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46" name="文本框 45">
            <a:extLst>
              <a:ext uri="{FF2B5EF4-FFF2-40B4-BE49-F238E27FC236}">
                <a16:creationId xmlns:a16="http://schemas.microsoft.com/office/drawing/2014/main" id="{B5DE5A59-FDF5-C549-B053-381E7AE7EE67}"/>
              </a:ext>
            </a:extLst>
          </p:cNvPr>
          <p:cNvSpPr txBox="1"/>
          <p:nvPr/>
        </p:nvSpPr>
        <p:spPr>
          <a:xfrm>
            <a:off x="2436996" y="1439096"/>
            <a:ext cx="850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StackPane</a:t>
            </a:r>
            <a:endParaRPr lang="zh-CN" altLang="en-US" sz="1200" dirty="0"/>
          </a:p>
        </p:txBody>
      </p:sp>
      <p:sp>
        <p:nvSpPr>
          <p:cNvPr id="52" name="流程图: 过程 51">
            <a:extLst>
              <a:ext uri="{FF2B5EF4-FFF2-40B4-BE49-F238E27FC236}">
                <a16:creationId xmlns:a16="http://schemas.microsoft.com/office/drawing/2014/main" id="{B1BA732F-DE61-5B85-A23D-E12E775E4CEE}"/>
              </a:ext>
            </a:extLst>
          </p:cNvPr>
          <p:cNvSpPr/>
          <p:nvPr/>
        </p:nvSpPr>
        <p:spPr>
          <a:xfrm>
            <a:off x="2891630" y="1912920"/>
            <a:ext cx="1152128" cy="14401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Line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53" name="箭头: 下 52">
            <a:extLst>
              <a:ext uri="{FF2B5EF4-FFF2-40B4-BE49-F238E27FC236}">
                <a16:creationId xmlns:a16="http://schemas.microsoft.com/office/drawing/2014/main" id="{3FB37008-FA19-71B6-C753-7EDCEA6A9D76}"/>
              </a:ext>
            </a:extLst>
          </p:cNvPr>
          <p:cNvSpPr/>
          <p:nvPr/>
        </p:nvSpPr>
        <p:spPr>
          <a:xfrm rot="2161550">
            <a:off x="3510133" y="1534420"/>
            <a:ext cx="108153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59" name="直接连接符 58">
            <a:extLst>
              <a:ext uri="{FF2B5EF4-FFF2-40B4-BE49-F238E27FC236}">
                <a16:creationId xmlns:a16="http://schemas.microsoft.com/office/drawing/2014/main" id="{E9103A25-9C94-08D3-EAA1-A54E784EE718}"/>
              </a:ext>
            </a:extLst>
          </p:cNvPr>
          <p:cNvCxnSpPr>
            <a:stCxn id="45" idx="1"/>
            <a:endCxn id="45" idx="3"/>
          </p:cNvCxnSpPr>
          <p:nvPr/>
        </p:nvCxnSpPr>
        <p:spPr>
          <a:xfrm>
            <a:off x="2423578" y="1984928"/>
            <a:ext cx="2088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2" name="直接连接符 61">
            <a:extLst>
              <a:ext uri="{FF2B5EF4-FFF2-40B4-BE49-F238E27FC236}">
                <a16:creationId xmlns:a16="http://schemas.microsoft.com/office/drawing/2014/main" id="{703131EC-95A6-58EE-CB7A-AA0D07CC9419}"/>
              </a:ext>
            </a:extLst>
          </p:cNvPr>
          <p:cNvCxnSpPr>
            <a:cxnSpLocks/>
            <a:stCxn id="45" idx="0"/>
            <a:endCxn id="45" idx="2"/>
          </p:cNvCxnSpPr>
          <p:nvPr/>
        </p:nvCxnSpPr>
        <p:spPr>
          <a:xfrm>
            <a:off x="3467694" y="1444868"/>
            <a:ext cx="0" cy="10801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78" name="文本框 1048577">
            <a:extLst>
              <a:ext uri="{FF2B5EF4-FFF2-40B4-BE49-F238E27FC236}">
                <a16:creationId xmlns:a16="http://schemas.microsoft.com/office/drawing/2014/main" id="{9609B090-D1CB-4C34-5E7C-A32655BE9530}"/>
              </a:ext>
            </a:extLst>
          </p:cNvPr>
          <p:cNvSpPr txBox="1"/>
          <p:nvPr/>
        </p:nvSpPr>
        <p:spPr>
          <a:xfrm>
            <a:off x="3322409" y="1190952"/>
            <a:ext cx="13981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layoutX</a:t>
            </a:r>
            <a:r>
              <a:rPr lang="en-US" altLang="zh-CN" sz="1050" dirty="0"/>
              <a:t>, </a:t>
            </a:r>
            <a:r>
              <a:rPr lang="en-US" altLang="zh-CN" sz="1050" dirty="0" err="1"/>
              <a:t>layoutY</a:t>
            </a:r>
            <a:r>
              <a:rPr lang="en-US" altLang="zh-CN" sz="1050" dirty="0"/>
              <a:t> = 0, 0</a:t>
            </a:r>
            <a:endParaRPr lang="zh-CN" altLang="en-US" sz="1050" dirty="0"/>
          </a:p>
        </p:txBody>
      </p:sp>
      <p:sp>
        <p:nvSpPr>
          <p:cNvPr id="2" name="箭头: 下 1">
            <a:extLst>
              <a:ext uri="{FF2B5EF4-FFF2-40B4-BE49-F238E27FC236}">
                <a16:creationId xmlns:a16="http://schemas.microsoft.com/office/drawing/2014/main" id="{3E94AAE6-C732-7B66-B231-13569AC1310B}"/>
              </a:ext>
            </a:extLst>
          </p:cNvPr>
          <p:cNvSpPr/>
          <p:nvPr/>
        </p:nvSpPr>
        <p:spPr>
          <a:xfrm rot="10800000">
            <a:off x="2808258" y="2159373"/>
            <a:ext cx="83370" cy="634447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" name="箭头: 下 2">
            <a:extLst>
              <a:ext uri="{FF2B5EF4-FFF2-40B4-BE49-F238E27FC236}">
                <a16:creationId xmlns:a16="http://schemas.microsoft.com/office/drawing/2014/main" id="{8A33EAA0-F17A-D08E-4460-BFA45B4526DE}"/>
              </a:ext>
            </a:extLst>
          </p:cNvPr>
          <p:cNvSpPr/>
          <p:nvPr/>
        </p:nvSpPr>
        <p:spPr>
          <a:xfrm rot="10800000">
            <a:off x="4004434" y="2175684"/>
            <a:ext cx="83370" cy="634447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FAFE45AD-1CFF-5C99-7B3E-F12883A42C83}"/>
              </a:ext>
            </a:extLst>
          </p:cNvPr>
          <p:cNvSpPr txBox="1"/>
          <p:nvPr/>
        </p:nvSpPr>
        <p:spPr>
          <a:xfrm>
            <a:off x="2063538" y="2810131"/>
            <a:ext cx="12923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startX</a:t>
            </a:r>
            <a:r>
              <a:rPr lang="en-US" altLang="zh-CN" sz="1050" dirty="0"/>
              <a:t> = CELLSIZE / 2</a:t>
            </a:r>
          </a:p>
          <a:p>
            <a:r>
              <a:rPr lang="en-US" altLang="zh-CN" sz="1050" dirty="0" err="1"/>
              <a:t>startY</a:t>
            </a:r>
            <a:r>
              <a:rPr lang="en-US" altLang="zh-CN" sz="1050" dirty="0"/>
              <a:t> = CELLSIZE / 2</a:t>
            </a:r>
            <a:endParaRPr lang="zh-CN" altLang="en-US" sz="1050" dirty="0"/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7AC26FDB-FBBC-C2F9-BA4F-1ED8388B43CB}"/>
              </a:ext>
            </a:extLst>
          </p:cNvPr>
          <p:cNvSpPr txBox="1"/>
          <p:nvPr/>
        </p:nvSpPr>
        <p:spPr>
          <a:xfrm>
            <a:off x="361154" y="1815743"/>
            <a:ext cx="1525931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StackPane</a:t>
            </a:r>
            <a:r>
              <a:rPr lang="en-US" altLang="zh-CN" sz="1200" dirty="0"/>
              <a:t> Instance’s</a:t>
            </a:r>
          </a:p>
          <a:p>
            <a:r>
              <a:rPr lang="en-US" altLang="zh-CN" sz="1200" b="1" dirty="0" err="1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</a:t>
            </a:r>
            <a:r>
              <a:rPr lang="en-US" altLang="zh-CN" sz="1200" b="0" dirty="0" err="1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200" b="1" dirty="0" err="1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</a:t>
            </a:r>
            <a:r>
              <a:rPr lang="en-US" altLang="zh-CN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/>
              <a:t>(Default)</a:t>
            </a:r>
          </a:p>
          <a:p>
            <a:r>
              <a:rPr lang="en-US" altLang="zh-CN" sz="1200" dirty="0"/>
              <a:t>Size: not yet set</a:t>
            </a:r>
            <a:endParaRPr lang="zh-CN" altLang="en-US" sz="1200" dirty="0"/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F852EACB-9335-5990-D0A2-CC9DDCE3DD94}"/>
              </a:ext>
            </a:extLst>
          </p:cNvPr>
          <p:cNvSpPr txBox="1"/>
          <p:nvPr/>
        </p:nvSpPr>
        <p:spPr>
          <a:xfrm>
            <a:off x="3575706" y="2820900"/>
            <a:ext cx="10663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endX</a:t>
            </a:r>
            <a:r>
              <a:rPr lang="en-US" altLang="zh-CN" sz="1050" dirty="0"/>
              <a:t> = CELLSIZE</a:t>
            </a:r>
          </a:p>
          <a:p>
            <a:r>
              <a:rPr lang="en-US" altLang="zh-CN" sz="1050" dirty="0" err="1"/>
              <a:t>endY</a:t>
            </a:r>
            <a:r>
              <a:rPr lang="en-US" altLang="zh-CN" sz="1050" dirty="0"/>
              <a:t> = CELLSIZE</a:t>
            </a:r>
            <a:endParaRPr lang="zh-CN" altLang="en-US" sz="1050" dirty="0"/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53EFFD3A-CE51-7D23-E611-9DEBC798179B}"/>
              </a:ext>
            </a:extLst>
          </p:cNvPr>
          <p:cNvSpPr/>
          <p:nvPr/>
        </p:nvSpPr>
        <p:spPr>
          <a:xfrm>
            <a:off x="5237615" y="1439096"/>
            <a:ext cx="2088232" cy="1080120"/>
          </a:xfrm>
          <a:prstGeom prst="rect">
            <a:avLst/>
          </a:prstGeom>
          <a:ln>
            <a:prstDash val="dash"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2DBD5C2D-B229-0C82-59B3-33136792DCDA}"/>
              </a:ext>
            </a:extLst>
          </p:cNvPr>
          <p:cNvSpPr txBox="1"/>
          <p:nvPr/>
        </p:nvSpPr>
        <p:spPr>
          <a:xfrm>
            <a:off x="5876171" y="1623481"/>
            <a:ext cx="850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StackPane</a:t>
            </a:r>
            <a:endParaRPr lang="zh-CN" altLang="en-US" sz="1200" dirty="0"/>
          </a:p>
        </p:txBody>
      </p:sp>
      <p:sp>
        <p:nvSpPr>
          <p:cNvPr id="12" name="流程图: 过程 11">
            <a:extLst>
              <a:ext uri="{FF2B5EF4-FFF2-40B4-BE49-F238E27FC236}">
                <a16:creationId xmlns:a16="http://schemas.microsoft.com/office/drawing/2014/main" id="{FDD2DB37-BB29-66E2-7CB4-6B22BB0D2AD8}"/>
              </a:ext>
            </a:extLst>
          </p:cNvPr>
          <p:cNvSpPr/>
          <p:nvPr/>
        </p:nvSpPr>
        <p:spPr>
          <a:xfrm>
            <a:off x="5705667" y="1907148"/>
            <a:ext cx="1152128" cy="14401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Line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3" name="箭头: 下 12">
            <a:extLst>
              <a:ext uri="{FF2B5EF4-FFF2-40B4-BE49-F238E27FC236}">
                <a16:creationId xmlns:a16="http://schemas.microsoft.com/office/drawing/2014/main" id="{61809A4D-B345-25AF-1576-5BF7F1A31B11}"/>
              </a:ext>
            </a:extLst>
          </p:cNvPr>
          <p:cNvSpPr/>
          <p:nvPr/>
        </p:nvSpPr>
        <p:spPr>
          <a:xfrm rot="18313489" flipH="1">
            <a:off x="5322925" y="1351168"/>
            <a:ext cx="171874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4" name="直接连接符 13">
            <a:extLst>
              <a:ext uri="{FF2B5EF4-FFF2-40B4-BE49-F238E27FC236}">
                <a16:creationId xmlns:a16="http://schemas.microsoft.com/office/drawing/2014/main" id="{B3CC1859-9E78-B3DE-EC64-ED25D5D5E78C}"/>
              </a:ext>
            </a:extLst>
          </p:cNvPr>
          <p:cNvCxnSpPr>
            <a:stCxn id="8" idx="1"/>
            <a:endCxn id="8" idx="3"/>
          </p:cNvCxnSpPr>
          <p:nvPr/>
        </p:nvCxnSpPr>
        <p:spPr>
          <a:xfrm>
            <a:off x="5237615" y="1979156"/>
            <a:ext cx="2088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5" name="直接连接符 14">
            <a:extLst>
              <a:ext uri="{FF2B5EF4-FFF2-40B4-BE49-F238E27FC236}">
                <a16:creationId xmlns:a16="http://schemas.microsoft.com/office/drawing/2014/main" id="{2B4B43CF-BE2B-3E68-6E1A-6E334E9E4918}"/>
              </a:ext>
            </a:extLst>
          </p:cNvPr>
          <p:cNvCxnSpPr>
            <a:cxnSpLocks/>
            <a:stCxn id="8" idx="0"/>
            <a:endCxn id="8" idx="2"/>
          </p:cNvCxnSpPr>
          <p:nvPr/>
        </p:nvCxnSpPr>
        <p:spPr>
          <a:xfrm>
            <a:off x="6281731" y="1439096"/>
            <a:ext cx="0" cy="10801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2" name="矩形 21">
            <a:extLst>
              <a:ext uri="{FF2B5EF4-FFF2-40B4-BE49-F238E27FC236}">
                <a16:creationId xmlns:a16="http://schemas.microsoft.com/office/drawing/2014/main" id="{44CB324D-47CF-1A17-FE94-488E72AD6414}"/>
              </a:ext>
            </a:extLst>
          </p:cNvPr>
          <p:cNvSpPr/>
          <p:nvPr/>
        </p:nvSpPr>
        <p:spPr>
          <a:xfrm>
            <a:off x="5568224" y="1661763"/>
            <a:ext cx="1439178" cy="613955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23" name="箭头: 下 22">
            <a:extLst>
              <a:ext uri="{FF2B5EF4-FFF2-40B4-BE49-F238E27FC236}">
                <a16:creationId xmlns:a16="http://schemas.microsoft.com/office/drawing/2014/main" id="{88FC0030-4DFD-A1D8-000D-B0DDEFCE4E9A}"/>
              </a:ext>
            </a:extLst>
          </p:cNvPr>
          <p:cNvSpPr/>
          <p:nvPr/>
        </p:nvSpPr>
        <p:spPr>
          <a:xfrm rot="13693932" flipH="1">
            <a:off x="5329814" y="2223033"/>
            <a:ext cx="171874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4" name="箭头: 下 23">
            <a:extLst>
              <a:ext uri="{FF2B5EF4-FFF2-40B4-BE49-F238E27FC236}">
                <a16:creationId xmlns:a16="http://schemas.microsoft.com/office/drawing/2014/main" id="{58078A00-930C-5F39-2897-6D25065FB0C1}"/>
              </a:ext>
            </a:extLst>
          </p:cNvPr>
          <p:cNvSpPr/>
          <p:nvPr/>
        </p:nvSpPr>
        <p:spPr>
          <a:xfrm rot="3133855" flipH="1">
            <a:off x="7079260" y="1355682"/>
            <a:ext cx="171874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箭头: 下 27">
            <a:extLst>
              <a:ext uri="{FF2B5EF4-FFF2-40B4-BE49-F238E27FC236}">
                <a16:creationId xmlns:a16="http://schemas.microsoft.com/office/drawing/2014/main" id="{35C4790C-FDB8-3371-9B80-225A9386E6D6}"/>
              </a:ext>
            </a:extLst>
          </p:cNvPr>
          <p:cNvSpPr/>
          <p:nvPr/>
        </p:nvSpPr>
        <p:spPr>
          <a:xfrm rot="7333323" flipH="1">
            <a:off x="7090244" y="2193409"/>
            <a:ext cx="171874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6AD1F735-DFB9-F1AE-94E2-D6EA95AF8F6F}"/>
              </a:ext>
            </a:extLst>
          </p:cNvPr>
          <p:cNvSpPr txBox="1"/>
          <p:nvPr/>
        </p:nvSpPr>
        <p:spPr>
          <a:xfrm>
            <a:off x="5710538" y="2633525"/>
            <a:ext cx="1383712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100" dirty="0"/>
              <a:t>Auto Shrinking</a:t>
            </a:r>
          </a:p>
          <a:p>
            <a:r>
              <a:rPr lang="en-US" altLang="zh-CN" sz="1100" dirty="0"/>
              <a:t>for Size not Specified</a:t>
            </a:r>
            <a:endParaRPr lang="zh-CN" altLang="en-US" sz="1100" dirty="0"/>
          </a:p>
        </p:txBody>
      </p:sp>
      <p:sp>
        <p:nvSpPr>
          <p:cNvPr id="33" name="流程图: 过程 32">
            <a:extLst>
              <a:ext uri="{FF2B5EF4-FFF2-40B4-BE49-F238E27FC236}">
                <a16:creationId xmlns:a16="http://schemas.microsoft.com/office/drawing/2014/main" id="{F9169D4A-8E33-F0BF-E47F-40B3DA21BADF}"/>
              </a:ext>
            </a:extLst>
          </p:cNvPr>
          <p:cNvSpPr/>
          <p:nvPr/>
        </p:nvSpPr>
        <p:spPr>
          <a:xfrm>
            <a:off x="7973919" y="1959660"/>
            <a:ext cx="1152128" cy="14401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Line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34" name="矩形 33">
            <a:extLst>
              <a:ext uri="{FF2B5EF4-FFF2-40B4-BE49-F238E27FC236}">
                <a16:creationId xmlns:a16="http://schemas.microsoft.com/office/drawing/2014/main" id="{C66E9B63-B38F-FF44-5C19-E856A51668C0}"/>
              </a:ext>
            </a:extLst>
          </p:cNvPr>
          <p:cNvSpPr/>
          <p:nvPr/>
        </p:nvSpPr>
        <p:spPr>
          <a:xfrm>
            <a:off x="7901911" y="1887652"/>
            <a:ext cx="1296144" cy="288032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167AD966-64BE-6901-3C19-827814866260}"/>
              </a:ext>
            </a:extLst>
          </p:cNvPr>
          <p:cNvSpPr/>
          <p:nvPr/>
        </p:nvSpPr>
        <p:spPr>
          <a:xfrm>
            <a:off x="2977363" y="4394889"/>
            <a:ext cx="2088232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702555C2-568F-623D-B1F9-F781C5DF45BB}"/>
              </a:ext>
            </a:extLst>
          </p:cNvPr>
          <p:cNvSpPr txBox="1"/>
          <p:nvPr/>
        </p:nvSpPr>
        <p:spPr>
          <a:xfrm>
            <a:off x="2990781" y="4389117"/>
            <a:ext cx="850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StackPane</a:t>
            </a:r>
            <a:endParaRPr lang="zh-CN" altLang="en-US" sz="1200" dirty="0"/>
          </a:p>
        </p:txBody>
      </p:sp>
      <p:sp>
        <p:nvSpPr>
          <p:cNvPr id="38" name="流程图: 过程 37">
            <a:extLst>
              <a:ext uri="{FF2B5EF4-FFF2-40B4-BE49-F238E27FC236}">
                <a16:creationId xmlns:a16="http://schemas.microsoft.com/office/drawing/2014/main" id="{CBAE9FAB-5CF8-23A8-7F5A-E74BF7E99457}"/>
              </a:ext>
            </a:extLst>
          </p:cNvPr>
          <p:cNvSpPr/>
          <p:nvPr/>
        </p:nvSpPr>
        <p:spPr>
          <a:xfrm>
            <a:off x="3445415" y="4862941"/>
            <a:ext cx="1152128" cy="14401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Line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39" name="箭头: 下 38">
            <a:extLst>
              <a:ext uri="{FF2B5EF4-FFF2-40B4-BE49-F238E27FC236}">
                <a16:creationId xmlns:a16="http://schemas.microsoft.com/office/drawing/2014/main" id="{26232940-BAA1-45D0-0BD8-2AEE81C3B02B}"/>
              </a:ext>
            </a:extLst>
          </p:cNvPr>
          <p:cNvSpPr/>
          <p:nvPr/>
        </p:nvSpPr>
        <p:spPr>
          <a:xfrm rot="2161550">
            <a:off x="4063918" y="4484441"/>
            <a:ext cx="108153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0" name="直接连接符 39">
            <a:extLst>
              <a:ext uri="{FF2B5EF4-FFF2-40B4-BE49-F238E27FC236}">
                <a16:creationId xmlns:a16="http://schemas.microsoft.com/office/drawing/2014/main" id="{D9C624E0-4820-03B8-E90F-CCB1D58AC129}"/>
              </a:ext>
            </a:extLst>
          </p:cNvPr>
          <p:cNvCxnSpPr>
            <a:stCxn id="36" idx="1"/>
            <a:endCxn id="36" idx="3"/>
          </p:cNvCxnSpPr>
          <p:nvPr/>
        </p:nvCxnSpPr>
        <p:spPr>
          <a:xfrm>
            <a:off x="2977363" y="4934949"/>
            <a:ext cx="2088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直接连接符 40">
            <a:extLst>
              <a:ext uri="{FF2B5EF4-FFF2-40B4-BE49-F238E27FC236}">
                <a16:creationId xmlns:a16="http://schemas.microsoft.com/office/drawing/2014/main" id="{03353DC3-72D6-47D3-1715-B61A42FA5AFA}"/>
              </a:ext>
            </a:extLst>
          </p:cNvPr>
          <p:cNvCxnSpPr>
            <a:cxnSpLocks/>
            <a:stCxn id="36" idx="0"/>
            <a:endCxn id="36" idx="2"/>
          </p:cNvCxnSpPr>
          <p:nvPr/>
        </p:nvCxnSpPr>
        <p:spPr>
          <a:xfrm>
            <a:off x="4021479" y="4394889"/>
            <a:ext cx="0" cy="10801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2" name="文本框 41">
            <a:extLst>
              <a:ext uri="{FF2B5EF4-FFF2-40B4-BE49-F238E27FC236}">
                <a16:creationId xmlns:a16="http://schemas.microsoft.com/office/drawing/2014/main" id="{5216D658-0953-718A-0670-B1E934A15291}"/>
              </a:ext>
            </a:extLst>
          </p:cNvPr>
          <p:cNvSpPr txBox="1"/>
          <p:nvPr/>
        </p:nvSpPr>
        <p:spPr>
          <a:xfrm>
            <a:off x="3876194" y="4140973"/>
            <a:ext cx="13981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layoutX</a:t>
            </a:r>
            <a:r>
              <a:rPr lang="en-US" altLang="zh-CN" sz="1050" dirty="0"/>
              <a:t>, </a:t>
            </a:r>
            <a:r>
              <a:rPr lang="en-US" altLang="zh-CN" sz="1050" dirty="0" err="1"/>
              <a:t>layoutY</a:t>
            </a:r>
            <a:r>
              <a:rPr lang="en-US" altLang="zh-CN" sz="1050" dirty="0"/>
              <a:t> = 0, 0</a:t>
            </a:r>
            <a:endParaRPr lang="zh-CN" altLang="en-US" sz="1050" dirty="0"/>
          </a:p>
        </p:txBody>
      </p:sp>
      <p:sp>
        <p:nvSpPr>
          <p:cNvPr id="43" name="箭头: 下 42">
            <a:extLst>
              <a:ext uri="{FF2B5EF4-FFF2-40B4-BE49-F238E27FC236}">
                <a16:creationId xmlns:a16="http://schemas.microsoft.com/office/drawing/2014/main" id="{FB883FC9-15C5-A195-BE5F-0BD579B11A64}"/>
              </a:ext>
            </a:extLst>
          </p:cNvPr>
          <p:cNvSpPr/>
          <p:nvPr/>
        </p:nvSpPr>
        <p:spPr>
          <a:xfrm rot="10800000">
            <a:off x="3362043" y="5109394"/>
            <a:ext cx="83370" cy="634447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箭头: 下 46">
            <a:extLst>
              <a:ext uri="{FF2B5EF4-FFF2-40B4-BE49-F238E27FC236}">
                <a16:creationId xmlns:a16="http://schemas.microsoft.com/office/drawing/2014/main" id="{D285D022-37F1-E29C-4C99-F40B2E353496}"/>
              </a:ext>
            </a:extLst>
          </p:cNvPr>
          <p:cNvSpPr/>
          <p:nvPr/>
        </p:nvSpPr>
        <p:spPr>
          <a:xfrm rot="10800000">
            <a:off x="4558219" y="5125705"/>
            <a:ext cx="83370" cy="634447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62D5B22E-297E-5289-D07D-ACAF2CCA4C54}"/>
              </a:ext>
            </a:extLst>
          </p:cNvPr>
          <p:cNvSpPr txBox="1"/>
          <p:nvPr/>
        </p:nvSpPr>
        <p:spPr>
          <a:xfrm>
            <a:off x="2617323" y="5760152"/>
            <a:ext cx="12923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startX</a:t>
            </a:r>
            <a:r>
              <a:rPr lang="en-US" altLang="zh-CN" sz="1050" dirty="0"/>
              <a:t> = CELLSIZE / 2</a:t>
            </a:r>
          </a:p>
          <a:p>
            <a:r>
              <a:rPr lang="en-US" altLang="zh-CN" sz="1050" dirty="0" err="1"/>
              <a:t>startY</a:t>
            </a:r>
            <a:r>
              <a:rPr lang="en-US" altLang="zh-CN" sz="1050" dirty="0"/>
              <a:t> = CELLSIZE / 2</a:t>
            </a:r>
            <a:endParaRPr lang="zh-CN" altLang="en-US" sz="1050" dirty="0"/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A00D3499-9D38-23D6-9F26-F335B1B4DA82}"/>
              </a:ext>
            </a:extLst>
          </p:cNvPr>
          <p:cNvSpPr txBox="1"/>
          <p:nvPr/>
        </p:nvSpPr>
        <p:spPr>
          <a:xfrm>
            <a:off x="539723" y="4504801"/>
            <a:ext cx="2280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StackPane</a:t>
            </a:r>
            <a:r>
              <a:rPr lang="en-US" altLang="zh-CN" sz="1200" dirty="0"/>
              <a:t> Instance’s</a:t>
            </a:r>
          </a:p>
          <a:p>
            <a:r>
              <a:rPr lang="en-US" altLang="zh-CN" sz="1200" b="1" dirty="0" err="1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</a:t>
            </a:r>
            <a:r>
              <a:rPr lang="en-US" altLang="zh-CN" sz="1200" b="0" dirty="0" err="1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200" b="1" dirty="0" err="1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CENTER</a:t>
            </a:r>
            <a:r>
              <a:rPr lang="en-US" altLang="zh-CN" sz="1200" dirty="0">
                <a:solidFill>
                  <a:srgbClr val="333333"/>
                </a:solidFill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dirty="0"/>
              <a:t>(Default)</a:t>
            </a:r>
          </a:p>
          <a:p>
            <a:r>
              <a:rPr lang="en-US" altLang="zh-CN" sz="1200" b="1" dirty="0" err="1">
                <a:solidFill>
                  <a:srgbClr val="AA37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setMinSize</a:t>
            </a:r>
            <a:r>
              <a:rPr lang="en-US" altLang="zh-CN" sz="1200" b="0" dirty="0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CELL_SIZE</a:t>
            </a:r>
            <a:r>
              <a:rPr lang="en-US" altLang="zh-CN" sz="1200" b="0" dirty="0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CELL_SIZE</a:t>
            </a:r>
            <a:r>
              <a:rPr lang="en-US" altLang="zh-CN" sz="1200" b="0" dirty="0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1200" dirty="0"/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59A15FF1-FDB4-E3D7-773A-A2974D6AC2A2}"/>
              </a:ext>
            </a:extLst>
          </p:cNvPr>
          <p:cNvSpPr txBox="1"/>
          <p:nvPr/>
        </p:nvSpPr>
        <p:spPr>
          <a:xfrm>
            <a:off x="4129491" y="5770921"/>
            <a:ext cx="10663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endX</a:t>
            </a:r>
            <a:r>
              <a:rPr lang="en-US" altLang="zh-CN" sz="1050" dirty="0"/>
              <a:t> = CELLSIZE</a:t>
            </a:r>
          </a:p>
          <a:p>
            <a:r>
              <a:rPr lang="en-US" altLang="zh-CN" sz="1050" dirty="0" err="1"/>
              <a:t>endY</a:t>
            </a:r>
            <a:r>
              <a:rPr lang="en-US" altLang="zh-CN" sz="1050" dirty="0"/>
              <a:t> = CELLSIZE</a:t>
            </a:r>
            <a:endParaRPr lang="zh-CN" altLang="en-US" sz="1050" dirty="0"/>
          </a:p>
        </p:txBody>
      </p:sp>
      <p:cxnSp>
        <p:nvCxnSpPr>
          <p:cNvPr id="54" name="直接连接符 53">
            <a:extLst>
              <a:ext uri="{FF2B5EF4-FFF2-40B4-BE49-F238E27FC236}">
                <a16:creationId xmlns:a16="http://schemas.microsoft.com/office/drawing/2014/main" id="{AA27C61A-57BA-6F95-8497-5877771564AE}"/>
              </a:ext>
            </a:extLst>
          </p:cNvPr>
          <p:cNvCxnSpPr/>
          <p:nvPr/>
        </p:nvCxnSpPr>
        <p:spPr>
          <a:xfrm>
            <a:off x="335360" y="3573016"/>
            <a:ext cx="11521280" cy="0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cxnSp>
        <p:nvCxnSpPr>
          <p:cNvPr id="55" name="直接连接符 54">
            <a:extLst>
              <a:ext uri="{FF2B5EF4-FFF2-40B4-BE49-F238E27FC236}">
                <a16:creationId xmlns:a16="http://schemas.microsoft.com/office/drawing/2014/main" id="{56ADA6AB-EAB3-8B96-7B7A-E1FB2AF2C19D}"/>
              </a:ext>
            </a:extLst>
          </p:cNvPr>
          <p:cNvCxnSpPr>
            <a:cxnSpLocks/>
          </p:cNvCxnSpPr>
          <p:nvPr/>
        </p:nvCxnSpPr>
        <p:spPr>
          <a:xfrm>
            <a:off x="6090061" y="3645024"/>
            <a:ext cx="0" cy="2808312"/>
          </a:xfrm>
          <a:prstGeom prst="line">
            <a:avLst/>
          </a:prstGeom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60" name="矩形 59">
            <a:extLst>
              <a:ext uri="{FF2B5EF4-FFF2-40B4-BE49-F238E27FC236}">
                <a16:creationId xmlns:a16="http://schemas.microsoft.com/office/drawing/2014/main" id="{7267D746-7072-9D07-A451-5E6A13130019}"/>
              </a:ext>
            </a:extLst>
          </p:cNvPr>
          <p:cNvSpPr/>
          <p:nvPr/>
        </p:nvSpPr>
        <p:spPr>
          <a:xfrm>
            <a:off x="8963384" y="4394889"/>
            <a:ext cx="2088232" cy="1080120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61" name="文本框 60">
            <a:extLst>
              <a:ext uri="{FF2B5EF4-FFF2-40B4-BE49-F238E27FC236}">
                <a16:creationId xmlns:a16="http://schemas.microsoft.com/office/drawing/2014/main" id="{7766994F-1F91-07E7-1688-ECD61ACC329A}"/>
              </a:ext>
            </a:extLst>
          </p:cNvPr>
          <p:cNvSpPr txBox="1"/>
          <p:nvPr/>
        </p:nvSpPr>
        <p:spPr>
          <a:xfrm>
            <a:off x="9001288" y="4547251"/>
            <a:ext cx="850678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/>
              <a:t>StackPane</a:t>
            </a:r>
            <a:endParaRPr lang="zh-CN" altLang="en-US" sz="1200" dirty="0"/>
          </a:p>
        </p:txBody>
      </p:sp>
      <p:sp>
        <p:nvSpPr>
          <p:cNvPr id="1048576" name="箭头: 下 1048575">
            <a:extLst>
              <a:ext uri="{FF2B5EF4-FFF2-40B4-BE49-F238E27FC236}">
                <a16:creationId xmlns:a16="http://schemas.microsoft.com/office/drawing/2014/main" id="{0AFA6D90-14C2-E153-CEF6-EEAB9E59D0B7}"/>
              </a:ext>
            </a:extLst>
          </p:cNvPr>
          <p:cNvSpPr/>
          <p:nvPr/>
        </p:nvSpPr>
        <p:spPr>
          <a:xfrm rot="2161550">
            <a:off x="8971342" y="3954456"/>
            <a:ext cx="108153" cy="380102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048577" name="直接连接符 1048576">
            <a:extLst>
              <a:ext uri="{FF2B5EF4-FFF2-40B4-BE49-F238E27FC236}">
                <a16:creationId xmlns:a16="http://schemas.microsoft.com/office/drawing/2014/main" id="{6824AA42-049F-84F0-50DF-A21448343DCB}"/>
              </a:ext>
            </a:extLst>
          </p:cNvPr>
          <p:cNvCxnSpPr>
            <a:stCxn id="60" idx="1"/>
            <a:endCxn id="60" idx="3"/>
          </p:cNvCxnSpPr>
          <p:nvPr/>
        </p:nvCxnSpPr>
        <p:spPr>
          <a:xfrm>
            <a:off x="8963384" y="4934949"/>
            <a:ext cx="2088232" cy="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48579" name="直接连接符 1048578">
            <a:extLst>
              <a:ext uri="{FF2B5EF4-FFF2-40B4-BE49-F238E27FC236}">
                <a16:creationId xmlns:a16="http://schemas.microsoft.com/office/drawing/2014/main" id="{7A1BCAA8-60DA-F5F0-B31B-2587FCCE4FDC}"/>
              </a:ext>
            </a:extLst>
          </p:cNvPr>
          <p:cNvCxnSpPr>
            <a:cxnSpLocks/>
            <a:stCxn id="60" idx="0"/>
            <a:endCxn id="60" idx="2"/>
          </p:cNvCxnSpPr>
          <p:nvPr/>
        </p:nvCxnSpPr>
        <p:spPr>
          <a:xfrm>
            <a:off x="10007500" y="4394889"/>
            <a:ext cx="0" cy="1080120"/>
          </a:xfrm>
          <a:prstGeom prst="line">
            <a:avLst/>
          </a:prstGeom>
          <a:ln>
            <a:solidFill>
              <a:schemeClr val="tx1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048580" name="文本框 1048579">
            <a:extLst>
              <a:ext uri="{FF2B5EF4-FFF2-40B4-BE49-F238E27FC236}">
                <a16:creationId xmlns:a16="http://schemas.microsoft.com/office/drawing/2014/main" id="{D124B27E-1171-4696-1197-37DFF5E4463C}"/>
              </a:ext>
            </a:extLst>
          </p:cNvPr>
          <p:cNvSpPr txBox="1"/>
          <p:nvPr/>
        </p:nvSpPr>
        <p:spPr>
          <a:xfrm>
            <a:off x="9142770" y="3847836"/>
            <a:ext cx="1398140" cy="253916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layoutX</a:t>
            </a:r>
            <a:r>
              <a:rPr lang="en-US" altLang="zh-CN" sz="1050" dirty="0"/>
              <a:t>, </a:t>
            </a:r>
            <a:r>
              <a:rPr lang="en-US" altLang="zh-CN" sz="1050" dirty="0" err="1"/>
              <a:t>layoutY</a:t>
            </a:r>
            <a:r>
              <a:rPr lang="en-US" altLang="zh-CN" sz="1050" dirty="0"/>
              <a:t> = 0, 0</a:t>
            </a:r>
            <a:endParaRPr lang="zh-CN" altLang="en-US" sz="1050" dirty="0"/>
          </a:p>
        </p:txBody>
      </p:sp>
      <p:sp>
        <p:nvSpPr>
          <p:cNvPr id="1048581" name="箭头: 下 1048580">
            <a:extLst>
              <a:ext uri="{FF2B5EF4-FFF2-40B4-BE49-F238E27FC236}">
                <a16:creationId xmlns:a16="http://schemas.microsoft.com/office/drawing/2014/main" id="{A7C8FAE9-5AB0-FCCA-C7C8-C3411A1C2939}"/>
              </a:ext>
            </a:extLst>
          </p:cNvPr>
          <p:cNvSpPr/>
          <p:nvPr/>
        </p:nvSpPr>
        <p:spPr>
          <a:xfrm rot="10800000">
            <a:off x="8852359" y="4527615"/>
            <a:ext cx="73269" cy="1133629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2" name="箭头: 下 1048581">
            <a:extLst>
              <a:ext uri="{FF2B5EF4-FFF2-40B4-BE49-F238E27FC236}">
                <a16:creationId xmlns:a16="http://schemas.microsoft.com/office/drawing/2014/main" id="{03F3C317-CB54-4B06-C4C3-D8D09BAF0CB9}"/>
              </a:ext>
            </a:extLst>
          </p:cNvPr>
          <p:cNvSpPr/>
          <p:nvPr/>
        </p:nvSpPr>
        <p:spPr>
          <a:xfrm rot="10800000">
            <a:off x="10036072" y="4530200"/>
            <a:ext cx="83369" cy="1158387"/>
          </a:xfrm>
          <a:prstGeom prst="downArrow">
            <a:avLst>
              <a:gd name="adj1" fmla="val 27399"/>
              <a:gd name="adj2" fmla="val 50000"/>
            </a:avLst>
          </a:pr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583" name="文本框 1048582">
            <a:extLst>
              <a:ext uri="{FF2B5EF4-FFF2-40B4-BE49-F238E27FC236}">
                <a16:creationId xmlns:a16="http://schemas.microsoft.com/office/drawing/2014/main" id="{38B57FD5-BA74-94B4-AB4E-06A63C6CF6F2}"/>
              </a:ext>
            </a:extLst>
          </p:cNvPr>
          <p:cNvSpPr txBox="1"/>
          <p:nvPr/>
        </p:nvSpPr>
        <p:spPr>
          <a:xfrm>
            <a:off x="8206188" y="5701165"/>
            <a:ext cx="1292341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startX</a:t>
            </a:r>
            <a:r>
              <a:rPr lang="en-US" altLang="zh-CN" sz="1050" dirty="0"/>
              <a:t> = CELLSIZE / 2</a:t>
            </a:r>
          </a:p>
          <a:p>
            <a:r>
              <a:rPr lang="en-US" altLang="zh-CN" sz="1050" dirty="0" err="1"/>
              <a:t>startY</a:t>
            </a:r>
            <a:r>
              <a:rPr lang="en-US" altLang="zh-CN" sz="1050" dirty="0"/>
              <a:t> = CELLSIZE / 2</a:t>
            </a:r>
            <a:endParaRPr lang="zh-CN" altLang="en-US" sz="1050" dirty="0"/>
          </a:p>
        </p:txBody>
      </p:sp>
      <p:sp>
        <p:nvSpPr>
          <p:cNvPr id="1048584" name="文本框 1048583">
            <a:extLst>
              <a:ext uri="{FF2B5EF4-FFF2-40B4-BE49-F238E27FC236}">
                <a16:creationId xmlns:a16="http://schemas.microsoft.com/office/drawing/2014/main" id="{C51B1ACC-E0F8-2B61-58B5-37975EE2AC08}"/>
              </a:ext>
            </a:extLst>
          </p:cNvPr>
          <p:cNvSpPr txBox="1"/>
          <p:nvPr/>
        </p:nvSpPr>
        <p:spPr>
          <a:xfrm>
            <a:off x="6525744" y="4504801"/>
            <a:ext cx="2280689" cy="83099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200" dirty="0" err="1"/>
              <a:t>StackPane</a:t>
            </a:r>
            <a:r>
              <a:rPr lang="en-US" altLang="zh-CN" sz="1200" dirty="0"/>
              <a:t> Instance’s</a:t>
            </a:r>
          </a:p>
          <a:p>
            <a:r>
              <a:rPr lang="en-US" altLang="zh-CN" sz="1200" b="1" dirty="0" err="1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Pos</a:t>
            </a:r>
            <a:r>
              <a:rPr lang="en-US" altLang="zh-CN" sz="1200" b="0" dirty="0" err="1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.</a:t>
            </a:r>
            <a:r>
              <a:rPr lang="en-US" altLang="zh-CN" sz="1200" b="1" dirty="0" err="1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TOP_LEFT</a:t>
            </a:r>
            <a:r>
              <a:rPr lang="en-US" altLang="zh-CN" sz="1200" dirty="0"/>
              <a:t>(Default)</a:t>
            </a:r>
          </a:p>
          <a:p>
            <a:r>
              <a:rPr lang="en-US" altLang="zh-CN" sz="1200" b="1" dirty="0" err="1">
                <a:solidFill>
                  <a:srgbClr val="AA3731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setMinSize</a:t>
            </a:r>
            <a:r>
              <a:rPr lang="en-US" altLang="zh-CN" sz="1200" b="0" dirty="0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(</a:t>
            </a:r>
            <a:r>
              <a:rPr lang="en-US" altLang="zh-CN" sz="1200" b="0" dirty="0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CELL_SIZE</a:t>
            </a:r>
            <a:r>
              <a:rPr lang="en-US" altLang="zh-CN" sz="1200" b="0" dirty="0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,</a:t>
            </a:r>
            <a:r>
              <a:rPr lang="en-US" altLang="zh-CN" sz="1200" b="0" dirty="0">
                <a:solidFill>
                  <a:srgbClr val="333333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 </a:t>
            </a:r>
            <a:r>
              <a:rPr lang="en-US" altLang="zh-CN" sz="1200" b="0" dirty="0">
                <a:solidFill>
                  <a:srgbClr val="7A3E9D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CELL_SIZE</a:t>
            </a:r>
            <a:r>
              <a:rPr lang="en-US" altLang="zh-CN" sz="1200" b="0" dirty="0">
                <a:solidFill>
                  <a:srgbClr val="777777"/>
                </a:solidFill>
                <a:effectLst/>
                <a:latin typeface="Calibri" panose="020F0502020204030204" pitchFamily="34" charset="0"/>
                <a:ea typeface="Calibri" panose="020F0502020204030204" pitchFamily="34" charset="0"/>
                <a:cs typeface="Calibri" panose="020F0502020204030204" pitchFamily="34" charset="0"/>
              </a:rPr>
              <a:t>)</a:t>
            </a:r>
            <a:endParaRPr lang="en-US" altLang="zh-CN" sz="1200" b="0" dirty="0">
              <a:solidFill>
                <a:srgbClr val="333333"/>
              </a:solidFill>
              <a:effectLst/>
              <a:latin typeface="Calibri" panose="020F0502020204030204" pitchFamily="34" charset="0"/>
              <a:ea typeface="Calibri" panose="020F0502020204030204" pitchFamily="34" charset="0"/>
              <a:cs typeface="Calibri" panose="020F0502020204030204" pitchFamily="34" charset="0"/>
            </a:endParaRPr>
          </a:p>
          <a:p>
            <a:endParaRPr lang="zh-CN" altLang="en-US" sz="1200" dirty="0"/>
          </a:p>
        </p:txBody>
      </p:sp>
      <p:sp>
        <p:nvSpPr>
          <p:cNvPr id="1048585" name="文本框 1048584">
            <a:extLst>
              <a:ext uri="{FF2B5EF4-FFF2-40B4-BE49-F238E27FC236}">
                <a16:creationId xmlns:a16="http://schemas.microsoft.com/office/drawing/2014/main" id="{F182F515-580E-C7DB-E3DD-1C012A141314}"/>
              </a:ext>
            </a:extLst>
          </p:cNvPr>
          <p:cNvSpPr txBox="1"/>
          <p:nvPr/>
        </p:nvSpPr>
        <p:spPr>
          <a:xfrm>
            <a:off x="9718834" y="5701165"/>
            <a:ext cx="1066318" cy="415498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1050" dirty="0" err="1"/>
              <a:t>endX</a:t>
            </a:r>
            <a:r>
              <a:rPr lang="en-US" altLang="zh-CN" sz="1050" dirty="0"/>
              <a:t> = CELLSIZE</a:t>
            </a:r>
          </a:p>
          <a:p>
            <a:r>
              <a:rPr lang="en-US" altLang="zh-CN" sz="1050" dirty="0" err="1"/>
              <a:t>endY</a:t>
            </a:r>
            <a:r>
              <a:rPr lang="en-US" altLang="zh-CN" sz="1050" dirty="0"/>
              <a:t> = CELLSIZE</a:t>
            </a:r>
            <a:endParaRPr lang="zh-CN" altLang="en-US" sz="1050" dirty="0"/>
          </a:p>
        </p:txBody>
      </p:sp>
      <p:sp>
        <p:nvSpPr>
          <p:cNvPr id="63" name="流程图: 过程 62">
            <a:extLst>
              <a:ext uri="{FF2B5EF4-FFF2-40B4-BE49-F238E27FC236}">
                <a16:creationId xmlns:a16="http://schemas.microsoft.com/office/drawing/2014/main" id="{2B9A0F29-6A08-716A-3167-C9B7C84C9713}"/>
              </a:ext>
            </a:extLst>
          </p:cNvPr>
          <p:cNvSpPr/>
          <p:nvPr/>
        </p:nvSpPr>
        <p:spPr>
          <a:xfrm>
            <a:off x="8925629" y="4328656"/>
            <a:ext cx="1152128" cy="144016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100" dirty="0">
                <a:solidFill>
                  <a:schemeClr val="tx1"/>
                </a:solidFill>
              </a:rPr>
              <a:t>Line</a:t>
            </a:r>
            <a:endParaRPr lang="zh-CN" altLang="en-US" sz="1100" dirty="0">
              <a:solidFill>
                <a:schemeClr val="tx1"/>
              </a:solidFill>
            </a:endParaRPr>
          </a:p>
        </p:txBody>
      </p:sp>
      <p:cxnSp>
        <p:nvCxnSpPr>
          <p:cNvPr id="1048587" name="直接连接符 1048586">
            <a:extLst>
              <a:ext uri="{FF2B5EF4-FFF2-40B4-BE49-F238E27FC236}">
                <a16:creationId xmlns:a16="http://schemas.microsoft.com/office/drawing/2014/main" id="{3CD3B22D-B031-A1B4-CA5C-41B320365AD4}"/>
              </a:ext>
            </a:extLst>
          </p:cNvPr>
          <p:cNvCxnSpPr>
            <a:cxnSpLocks/>
          </p:cNvCxnSpPr>
          <p:nvPr/>
        </p:nvCxnSpPr>
        <p:spPr>
          <a:xfrm flipH="1">
            <a:off x="9002521" y="1587680"/>
            <a:ext cx="892775" cy="1378111"/>
          </a:xfrm>
          <a:prstGeom prst="line">
            <a:avLst/>
          </a:prstGeom>
          <a:ln>
            <a:prstDash val="dash"/>
          </a:ln>
        </p:spPr>
        <p:style>
          <a:lnRef idx="1">
            <a:schemeClr val="dk1"/>
          </a:lnRef>
          <a:fillRef idx="0">
            <a:schemeClr val="dk1"/>
          </a:fillRef>
          <a:effectRef idx="0">
            <a:schemeClr val="dk1"/>
          </a:effectRef>
          <a:fontRef idx="minor">
            <a:schemeClr val="tx1"/>
          </a:fontRef>
        </p:style>
      </p:cxnSp>
      <p:sp>
        <p:nvSpPr>
          <p:cNvPr id="1048588" name="矩形 1048587">
            <a:extLst>
              <a:ext uri="{FF2B5EF4-FFF2-40B4-BE49-F238E27FC236}">
                <a16:creationId xmlns:a16="http://schemas.microsoft.com/office/drawing/2014/main" id="{1DEF78EF-EBF0-C6AD-43AE-9D79ECB35A25}"/>
              </a:ext>
            </a:extLst>
          </p:cNvPr>
          <p:cNvSpPr/>
          <p:nvPr/>
        </p:nvSpPr>
        <p:spPr>
          <a:xfrm>
            <a:off x="10155497" y="1966722"/>
            <a:ext cx="1096131" cy="1038338"/>
          </a:xfrm>
          <a:prstGeom prst="rect">
            <a:avLst/>
          </a:prstGeom>
          <a:noFill/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zh-CN" altLang="en-US" dirty="0"/>
          </a:p>
        </p:txBody>
      </p:sp>
      <p:sp>
        <p:nvSpPr>
          <p:cNvPr id="1048590" name="流程图: 过程 1048589">
            <a:extLst>
              <a:ext uri="{FF2B5EF4-FFF2-40B4-BE49-F238E27FC236}">
                <a16:creationId xmlns:a16="http://schemas.microsoft.com/office/drawing/2014/main" id="{BE93B013-DE65-3946-6B22-0879A63DD1D4}"/>
              </a:ext>
            </a:extLst>
          </p:cNvPr>
          <p:cNvSpPr/>
          <p:nvPr/>
        </p:nvSpPr>
        <p:spPr>
          <a:xfrm rot="5400000">
            <a:off x="10238312" y="2416872"/>
            <a:ext cx="929884" cy="11494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48592" name="流程图: 过程 1048591">
            <a:extLst>
              <a:ext uri="{FF2B5EF4-FFF2-40B4-BE49-F238E27FC236}">
                <a16:creationId xmlns:a16="http://schemas.microsoft.com/office/drawing/2014/main" id="{65223FB4-EDEF-F194-B987-5E79CF053A4B}"/>
              </a:ext>
            </a:extLst>
          </p:cNvPr>
          <p:cNvSpPr/>
          <p:nvPr/>
        </p:nvSpPr>
        <p:spPr>
          <a:xfrm>
            <a:off x="10238312" y="2415430"/>
            <a:ext cx="929884" cy="114942"/>
          </a:xfrm>
          <a:prstGeom prst="flowChartProcess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 sz="1100" dirty="0">
              <a:solidFill>
                <a:schemeClr val="tx1"/>
              </a:solidFill>
            </a:endParaRPr>
          </a:p>
        </p:txBody>
      </p:sp>
      <p:sp>
        <p:nvSpPr>
          <p:cNvPr id="1048593" name="文本框 1048592">
            <a:extLst>
              <a:ext uri="{FF2B5EF4-FFF2-40B4-BE49-F238E27FC236}">
                <a16:creationId xmlns:a16="http://schemas.microsoft.com/office/drawing/2014/main" id="{0C866F0D-98B9-F23C-3E89-AA597513CDBE}"/>
              </a:ext>
            </a:extLst>
          </p:cNvPr>
          <p:cNvSpPr txBox="1"/>
          <p:nvPr/>
        </p:nvSpPr>
        <p:spPr>
          <a:xfrm>
            <a:off x="7844554" y="1023863"/>
            <a:ext cx="17078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accent1"/>
                </a:solidFill>
              </a:rPr>
              <a:t>Size of the </a:t>
            </a:r>
            <a:r>
              <a:rPr lang="en-US" altLang="zh-CN" sz="1100" dirty="0" err="1">
                <a:solidFill>
                  <a:schemeClr val="accent1"/>
                </a:solidFill>
              </a:rPr>
              <a:t>StackPane</a:t>
            </a:r>
            <a:r>
              <a:rPr lang="en-US" altLang="zh-CN" sz="1100" dirty="0">
                <a:solidFill>
                  <a:schemeClr val="accent1"/>
                </a:solidFill>
              </a:rPr>
              <a:t> </a:t>
            </a:r>
            <a:r>
              <a:rPr lang="en-US" altLang="zh-CN" sz="1100" dirty="0"/>
              <a:t>instance (approximately):</a:t>
            </a:r>
          </a:p>
          <a:p>
            <a:r>
              <a:rPr lang="en-US" altLang="zh-CN" sz="1100" dirty="0"/>
              <a:t>Height = </a:t>
            </a:r>
            <a:r>
              <a:rPr lang="en-US" altLang="zh-CN" sz="1100" dirty="0" err="1"/>
              <a:t>LineWidth</a:t>
            </a:r>
            <a:endParaRPr lang="en-US" altLang="zh-CN" sz="1100" dirty="0"/>
          </a:p>
          <a:p>
            <a:r>
              <a:rPr lang="en-US" altLang="zh-CN" sz="1100" dirty="0"/>
              <a:t>Width = CELLSIZE / 2</a:t>
            </a:r>
          </a:p>
        </p:txBody>
      </p:sp>
      <p:sp>
        <p:nvSpPr>
          <p:cNvPr id="1048595" name="文本框 1048594">
            <a:extLst>
              <a:ext uri="{FF2B5EF4-FFF2-40B4-BE49-F238E27FC236}">
                <a16:creationId xmlns:a16="http://schemas.microsoft.com/office/drawing/2014/main" id="{328BC0A1-70DD-A6F8-3DCF-6B62578E82FF}"/>
              </a:ext>
            </a:extLst>
          </p:cNvPr>
          <p:cNvSpPr txBox="1"/>
          <p:nvPr/>
        </p:nvSpPr>
        <p:spPr>
          <a:xfrm>
            <a:off x="10194647" y="1041517"/>
            <a:ext cx="1707830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>
                <a:solidFill>
                  <a:schemeClr val="accent1"/>
                </a:solidFill>
              </a:rPr>
              <a:t>Add one vertical line:</a:t>
            </a:r>
          </a:p>
          <a:p>
            <a:r>
              <a:rPr lang="en-US" altLang="zh-CN" sz="1100" dirty="0"/>
              <a:t>Height = CELLSIZE / 2</a:t>
            </a:r>
          </a:p>
          <a:p>
            <a:r>
              <a:rPr lang="en-US" altLang="zh-CN" sz="1100" dirty="0"/>
              <a:t>Width = CELLSIZE / 2</a:t>
            </a:r>
          </a:p>
          <a:p>
            <a:r>
              <a:rPr lang="en-US" altLang="zh-CN" sz="1100" dirty="0"/>
              <a:t>(A minimum closure for inner contents)</a:t>
            </a:r>
          </a:p>
        </p:txBody>
      </p:sp>
    </p:spTree>
    <p:extLst>
      <p:ext uri="{BB962C8B-B14F-4D97-AF65-F5344CB8AC3E}">
        <p14:creationId xmlns:p14="http://schemas.microsoft.com/office/powerpoint/2010/main" val="84618622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A278C8D-28DA-EC0B-39B3-1DCF3BC07D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9" name="标题 4">
            <a:extLst>
              <a:ext uri="{FF2B5EF4-FFF2-40B4-BE49-F238E27FC236}">
                <a16:creationId xmlns:a16="http://schemas.microsoft.com/office/drawing/2014/main" id="{6DA0CD4A-C500-5C18-F20F-0BBD1A5C4DB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91344" y="71541"/>
            <a:ext cx="7884064" cy="835874"/>
          </a:xfrm>
        </p:spPr>
        <p:txBody>
          <a:bodyPr>
            <a:noAutofit/>
          </a:bodyPr>
          <a:lstStyle/>
          <a:p>
            <a:r>
              <a:rPr lang="en-US" altLang="zh-CN" sz="3200" dirty="0"/>
              <a:t>Rendering in JavaFX – via Canvas</a:t>
            </a:r>
            <a:endParaRPr lang="zh-CN" sz="3200" dirty="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4988B94-DB40-433B-5DDE-33DA1434929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35360" y="1196752"/>
            <a:ext cx="3600400" cy="5315282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810D4C80-23F8-B92B-0CDC-4487CB32C44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133376" y="1766160"/>
            <a:ext cx="4267934" cy="2526935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83158869-AD8D-C621-51BD-991205C99544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160099" y="1196752"/>
            <a:ext cx="4240157" cy="500509"/>
          </a:xfrm>
          <a:prstGeom prst="rect">
            <a:avLst/>
          </a:prstGeom>
        </p:spPr>
      </p:pic>
      <p:sp>
        <p:nvSpPr>
          <p:cNvPr id="6" name="文本框 5">
            <a:extLst>
              <a:ext uri="{FF2B5EF4-FFF2-40B4-BE49-F238E27FC236}">
                <a16:creationId xmlns:a16="http://schemas.microsoft.com/office/drawing/2014/main" id="{AB802B6F-3453-457B-D8A0-1F4D5C56F987}"/>
              </a:ext>
            </a:extLst>
          </p:cNvPr>
          <p:cNvSpPr txBox="1"/>
          <p:nvPr/>
        </p:nvSpPr>
        <p:spPr>
          <a:xfrm>
            <a:off x="4157436" y="4722086"/>
            <a:ext cx="5202979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Only the canvas can provide `GraphicsContext2D`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May draw the line first and draw each stone in each move</a:t>
            </a:r>
            <a:r>
              <a:rPr lang="zh-CN" altLang="en-US" dirty="0"/>
              <a:t> </a:t>
            </a:r>
            <a:r>
              <a:rPr lang="en-US" altLang="zh-CN" dirty="0"/>
              <a:t>rather than redraw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altLang="zh-CN" dirty="0"/>
              <a:t>However, redrawing is convenience when we reset the whole game</a:t>
            </a:r>
          </a:p>
        </p:txBody>
      </p:sp>
      <p:grpSp>
        <p:nvGrpSpPr>
          <p:cNvPr id="1048577" name="组合 1048576">
            <a:extLst>
              <a:ext uri="{FF2B5EF4-FFF2-40B4-BE49-F238E27FC236}">
                <a16:creationId xmlns:a16="http://schemas.microsoft.com/office/drawing/2014/main" id="{D52F91FE-8631-1EC5-1DBF-33A75535C077}"/>
              </a:ext>
            </a:extLst>
          </p:cNvPr>
          <p:cNvGrpSpPr/>
          <p:nvPr/>
        </p:nvGrpSpPr>
        <p:grpSpPr>
          <a:xfrm>
            <a:off x="10488488" y="1262104"/>
            <a:ext cx="1016951" cy="1008112"/>
            <a:chOff x="10272464" y="1268760"/>
            <a:chExt cx="1368152" cy="1008112"/>
          </a:xfrm>
        </p:grpSpPr>
        <p:cxnSp>
          <p:nvCxnSpPr>
            <p:cNvPr id="1048578" name="直接连接符 1048577">
              <a:extLst>
                <a:ext uri="{FF2B5EF4-FFF2-40B4-BE49-F238E27FC236}">
                  <a16:creationId xmlns:a16="http://schemas.microsoft.com/office/drawing/2014/main" id="{8B50A2DA-6271-1DBF-E99B-3468FC025B4C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268760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79" name="直接连接符 1048578">
              <a:extLst>
                <a:ext uri="{FF2B5EF4-FFF2-40B4-BE49-F238E27FC236}">
                  <a16:creationId xmlns:a16="http://schemas.microsoft.com/office/drawing/2014/main" id="{9981B629-A824-1E26-9765-8E646EEA930B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41277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0" name="直接连接符 1048579">
              <a:extLst>
                <a:ext uri="{FF2B5EF4-FFF2-40B4-BE49-F238E27FC236}">
                  <a16:creationId xmlns:a16="http://schemas.microsoft.com/office/drawing/2014/main" id="{017ED6CB-7636-3431-56CC-7CC0254F1765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55013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1" name="直接连接符 1048580">
              <a:extLst>
                <a:ext uri="{FF2B5EF4-FFF2-40B4-BE49-F238E27FC236}">
                  <a16:creationId xmlns:a16="http://schemas.microsoft.com/office/drawing/2014/main" id="{043A3606-4E29-18B7-BE87-DE8D77C869CC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700808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2" name="直接连接符 1048581">
              <a:extLst>
                <a:ext uri="{FF2B5EF4-FFF2-40B4-BE49-F238E27FC236}">
                  <a16:creationId xmlns:a16="http://schemas.microsoft.com/office/drawing/2014/main" id="{446A39CC-4336-99A2-CDB2-FB1FC57C395C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84482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3" name="直接连接符 1048582">
              <a:extLst>
                <a:ext uri="{FF2B5EF4-FFF2-40B4-BE49-F238E27FC236}">
                  <a16:creationId xmlns:a16="http://schemas.microsoft.com/office/drawing/2014/main" id="{70295C6D-46EC-E807-04AF-55692D4683B9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988840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4" name="直接连接符 1048583">
              <a:extLst>
                <a:ext uri="{FF2B5EF4-FFF2-40B4-BE49-F238E27FC236}">
                  <a16:creationId xmlns:a16="http://schemas.microsoft.com/office/drawing/2014/main" id="{30DBB5D9-692B-8A26-1D56-26A4E2CA14E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13285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5" name="直接连接符 1048584">
              <a:extLst>
                <a:ext uri="{FF2B5EF4-FFF2-40B4-BE49-F238E27FC236}">
                  <a16:creationId xmlns:a16="http://schemas.microsoft.com/office/drawing/2014/main" id="{59695806-5A5A-E1D1-491D-39D533E4593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340768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6" name="直接连接符 1048585">
              <a:extLst>
                <a:ext uri="{FF2B5EF4-FFF2-40B4-BE49-F238E27FC236}">
                  <a16:creationId xmlns:a16="http://schemas.microsoft.com/office/drawing/2014/main" id="{826A8798-3D60-B3F5-0A81-78D569AE0DD9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48478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7" name="直接连接符 1048586">
              <a:extLst>
                <a:ext uri="{FF2B5EF4-FFF2-40B4-BE49-F238E27FC236}">
                  <a16:creationId xmlns:a16="http://schemas.microsoft.com/office/drawing/2014/main" id="{FD3D8586-86C2-37B2-107F-B725852D6CAA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62214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88" name="直接连接符 1048587">
              <a:extLst>
                <a:ext uri="{FF2B5EF4-FFF2-40B4-BE49-F238E27FC236}">
                  <a16:creationId xmlns:a16="http://schemas.microsoft.com/office/drawing/2014/main" id="{5954D887-7A83-5487-06FD-D5332EC4183D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77281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0" name="直接连接符 1048589">
              <a:extLst>
                <a:ext uri="{FF2B5EF4-FFF2-40B4-BE49-F238E27FC236}">
                  <a16:creationId xmlns:a16="http://schemas.microsoft.com/office/drawing/2014/main" id="{02F95ADD-A231-CAE5-A9F7-D008595D2ED0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916832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1" name="直接连接符 1048590">
              <a:extLst>
                <a:ext uri="{FF2B5EF4-FFF2-40B4-BE49-F238E27FC236}">
                  <a16:creationId xmlns:a16="http://schemas.microsoft.com/office/drawing/2014/main" id="{C405DECD-0D9C-3883-893A-950BB21E78C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060848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2" name="直接连接符 1048591">
              <a:extLst>
                <a:ext uri="{FF2B5EF4-FFF2-40B4-BE49-F238E27FC236}">
                  <a16:creationId xmlns:a16="http://schemas.microsoft.com/office/drawing/2014/main" id="{08C66065-FBC5-2D06-26A3-DF4452A10CB3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20486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3" name="直接连接符 1048592">
              <a:extLst>
                <a:ext uri="{FF2B5EF4-FFF2-40B4-BE49-F238E27FC236}">
                  <a16:creationId xmlns:a16="http://schemas.microsoft.com/office/drawing/2014/main" id="{D89F431E-3C4B-42B5-4511-E23D8D64F75B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276872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grpSp>
        <p:nvGrpSpPr>
          <p:cNvPr id="1048594" name="组合 1048593">
            <a:extLst>
              <a:ext uri="{FF2B5EF4-FFF2-40B4-BE49-F238E27FC236}">
                <a16:creationId xmlns:a16="http://schemas.microsoft.com/office/drawing/2014/main" id="{A2EE7016-1A6C-3951-992E-2F4B21105AC2}"/>
              </a:ext>
            </a:extLst>
          </p:cNvPr>
          <p:cNvGrpSpPr/>
          <p:nvPr/>
        </p:nvGrpSpPr>
        <p:grpSpPr>
          <a:xfrm rot="5400000">
            <a:off x="10492907" y="2613253"/>
            <a:ext cx="1016951" cy="1008112"/>
            <a:chOff x="10272464" y="1268760"/>
            <a:chExt cx="1368152" cy="1008112"/>
          </a:xfrm>
        </p:grpSpPr>
        <p:cxnSp>
          <p:nvCxnSpPr>
            <p:cNvPr id="1048595" name="直接连接符 1048594">
              <a:extLst>
                <a:ext uri="{FF2B5EF4-FFF2-40B4-BE49-F238E27FC236}">
                  <a16:creationId xmlns:a16="http://schemas.microsoft.com/office/drawing/2014/main" id="{26AAE6A1-8275-B41B-5E3D-0731FE3F068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268760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6" name="直接连接符 1048595">
              <a:extLst>
                <a:ext uri="{FF2B5EF4-FFF2-40B4-BE49-F238E27FC236}">
                  <a16:creationId xmlns:a16="http://schemas.microsoft.com/office/drawing/2014/main" id="{851E1286-551F-DFC2-C1E9-1C4FA21DDB7A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41277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7" name="直接连接符 1048596">
              <a:extLst>
                <a:ext uri="{FF2B5EF4-FFF2-40B4-BE49-F238E27FC236}">
                  <a16:creationId xmlns:a16="http://schemas.microsoft.com/office/drawing/2014/main" id="{742950E2-41F1-8985-4BE7-9BFF6BB7986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55013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8" name="直接连接符 1048597">
              <a:extLst>
                <a:ext uri="{FF2B5EF4-FFF2-40B4-BE49-F238E27FC236}">
                  <a16:creationId xmlns:a16="http://schemas.microsoft.com/office/drawing/2014/main" id="{31795D5C-6EEC-376C-B8FD-18E777CC7462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700808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599" name="直接连接符 1048598">
              <a:extLst>
                <a:ext uri="{FF2B5EF4-FFF2-40B4-BE49-F238E27FC236}">
                  <a16:creationId xmlns:a16="http://schemas.microsoft.com/office/drawing/2014/main" id="{556CB633-801E-1410-DFF4-E2B8D722D042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84482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0" name="直接连接符 1048599">
              <a:extLst>
                <a:ext uri="{FF2B5EF4-FFF2-40B4-BE49-F238E27FC236}">
                  <a16:creationId xmlns:a16="http://schemas.microsoft.com/office/drawing/2014/main" id="{CCDD2A21-2869-3391-2820-3D6754CF2127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988840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1" name="直接连接符 1048600">
              <a:extLst>
                <a:ext uri="{FF2B5EF4-FFF2-40B4-BE49-F238E27FC236}">
                  <a16:creationId xmlns:a16="http://schemas.microsoft.com/office/drawing/2014/main" id="{5729B1A3-422C-ED3D-B88B-211A2B35E682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13285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2" name="直接连接符 1048601">
              <a:extLst>
                <a:ext uri="{FF2B5EF4-FFF2-40B4-BE49-F238E27FC236}">
                  <a16:creationId xmlns:a16="http://schemas.microsoft.com/office/drawing/2014/main" id="{A1CDB4E6-6917-70E5-C7A7-55143ABB8C0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340768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3" name="直接连接符 1048602">
              <a:extLst>
                <a:ext uri="{FF2B5EF4-FFF2-40B4-BE49-F238E27FC236}">
                  <a16:creationId xmlns:a16="http://schemas.microsoft.com/office/drawing/2014/main" id="{79C8948D-B65C-5582-CB8B-C3FC49CDF5F2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48478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4" name="直接连接符 1048603">
              <a:extLst>
                <a:ext uri="{FF2B5EF4-FFF2-40B4-BE49-F238E27FC236}">
                  <a16:creationId xmlns:a16="http://schemas.microsoft.com/office/drawing/2014/main" id="{A32E5D8C-9AC0-E73A-4CA0-8AF89B79B8CB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62214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5" name="直接连接符 1048604">
              <a:extLst>
                <a:ext uri="{FF2B5EF4-FFF2-40B4-BE49-F238E27FC236}">
                  <a16:creationId xmlns:a16="http://schemas.microsoft.com/office/drawing/2014/main" id="{2C43689A-C1CB-2A22-3F98-CD7302BFF47F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772816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6" name="直接连接符 1048605">
              <a:extLst>
                <a:ext uri="{FF2B5EF4-FFF2-40B4-BE49-F238E27FC236}">
                  <a16:creationId xmlns:a16="http://schemas.microsoft.com/office/drawing/2014/main" id="{08E356E5-D9C5-E9A6-DA5D-4F0A92CED526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1916832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7" name="直接连接符 1048606">
              <a:extLst>
                <a:ext uri="{FF2B5EF4-FFF2-40B4-BE49-F238E27FC236}">
                  <a16:creationId xmlns:a16="http://schemas.microsoft.com/office/drawing/2014/main" id="{79D143FC-904B-FC16-4183-51E7119BCE6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060848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8" name="直接连接符 1048607">
              <a:extLst>
                <a:ext uri="{FF2B5EF4-FFF2-40B4-BE49-F238E27FC236}">
                  <a16:creationId xmlns:a16="http://schemas.microsoft.com/office/drawing/2014/main" id="{B75FEEB9-352C-5FD2-6D75-BFF0F6506394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204864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  <p:cxnSp>
          <p:nvCxnSpPr>
            <p:cNvPr id="1048609" name="直接连接符 1048608">
              <a:extLst>
                <a:ext uri="{FF2B5EF4-FFF2-40B4-BE49-F238E27FC236}">
                  <a16:creationId xmlns:a16="http://schemas.microsoft.com/office/drawing/2014/main" id="{B024A502-3E3F-3367-8613-5C0DBD9C5429}"/>
                </a:ext>
              </a:extLst>
            </p:cNvPr>
            <p:cNvCxnSpPr>
              <a:cxnSpLocks/>
            </p:cNvCxnSpPr>
            <p:nvPr/>
          </p:nvCxnSpPr>
          <p:spPr>
            <a:xfrm>
              <a:off x="10272464" y="2276872"/>
              <a:ext cx="1368152" cy="0"/>
            </a:xfrm>
            <a:prstGeom prst="line">
              <a:avLst/>
            </a:prstGeom>
          </p:spPr>
          <p:style>
            <a:lnRef idx="1">
              <a:schemeClr val="dk1"/>
            </a:lnRef>
            <a:fillRef idx="0">
              <a:schemeClr val="dk1"/>
            </a:fillRef>
            <a:effectRef idx="0">
              <a:schemeClr val="dk1"/>
            </a:effectRef>
            <a:fontRef idx="minor">
              <a:schemeClr val="tx1"/>
            </a:fontRef>
          </p:style>
        </p:cxnSp>
      </p:grpSp>
      <p:sp>
        <p:nvSpPr>
          <p:cNvPr id="1048610" name="文本框 1048609">
            <a:extLst>
              <a:ext uri="{FF2B5EF4-FFF2-40B4-BE49-F238E27FC236}">
                <a16:creationId xmlns:a16="http://schemas.microsoft.com/office/drawing/2014/main" id="{BAA8A7CA-F9B7-4993-BAB1-4F1920CA37DD}"/>
              </a:ext>
            </a:extLst>
          </p:cNvPr>
          <p:cNvSpPr txBox="1"/>
          <p:nvPr/>
        </p:nvSpPr>
        <p:spPr>
          <a:xfrm>
            <a:off x="8483387" y="1521641"/>
            <a:ext cx="2085947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Draw Horizontal Lines</a:t>
            </a:r>
          </a:p>
        </p:txBody>
      </p:sp>
      <p:sp>
        <p:nvSpPr>
          <p:cNvPr id="1048611" name="文本框 1048610">
            <a:extLst>
              <a:ext uri="{FF2B5EF4-FFF2-40B4-BE49-F238E27FC236}">
                <a16:creationId xmlns:a16="http://schemas.microsoft.com/office/drawing/2014/main" id="{D6ACBC44-3D5C-F446-2B99-CBDE0787D18A}"/>
              </a:ext>
            </a:extLst>
          </p:cNvPr>
          <p:cNvSpPr txBox="1"/>
          <p:nvPr/>
        </p:nvSpPr>
        <p:spPr>
          <a:xfrm>
            <a:off x="8531037" y="2948032"/>
            <a:ext cx="1957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Draw Vertical Lines</a:t>
            </a:r>
          </a:p>
        </p:txBody>
      </p:sp>
      <p:grpSp>
        <p:nvGrpSpPr>
          <p:cNvPr id="1048644" name="组合 1048643">
            <a:extLst>
              <a:ext uri="{FF2B5EF4-FFF2-40B4-BE49-F238E27FC236}">
                <a16:creationId xmlns:a16="http://schemas.microsoft.com/office/drawing/2014/main" id="{3C579479-BE32-478C-F842-118C44CB6D9B}"/>
              </a:ext>
            </a:extLst>
          </p:cNvPr>
          <p:cNvGrpSpPr/>
          <p:nvPr/>
        </p:nvGrpSpPr>
        <p:grpSpPr>
          <a:xfrm>
            <a:off x="10497326" y="4362921"/>
            <a:ext cx="1016951" cy="1016951"/>
            <a:chOff x="10483450" y="4368642"/>
            <a:chExt cx="1016951" cy="1016951"/>
          </a:xfrm>
        </p:grpSpPr>
        <p:grpSp>
          <p:nvGrpSpPr>
            <p:cNvPr id="1048612" name="组合 1048611">
              <a:extLst>
                <a:ext uri="{FF2B5EF4-FFF2-40B4-BE49-F238E27FC236}">
                  <a16:creationId xmlns:a16="http://schemas.microsoft.com/office/drawing/2014/main" id="{A934B3C6-5764-7E52-5FEC-72679E967036}"/>
                </a:ext>
              </a:extLst>
            </p:cNvPr>
            <p:cNvGrpSpPr/>
            <p:nvPr/>
          </p:nvGrpSpPr>
          <p:grpSpPr>
            <a:xfrm>
              <a:off x="10483450" y="4374423"/>
              <a:ext cx="1016951" cy="1008112"/>
              <a:chOff x="10272464" y="1268760"/>
              <a:chExt cx="1368152" cy="1008112"/>
            </a:xfrm>
          </p:grpSpPr>
          <p:cxnSp>
            <p:nvCxnSpPr>
              <p:cNvPr id="1048613" name="直接连接符 1048612">
                <a:extLst>
                  <a:ext uri="{FF2B5EF4-FFF2-40B4-BE49-F238E27FC236}">
                    <a16:creationId xmlns:a16="http://schemas.microsoft.com/office/drawing/2014/main" id="{3FAD0A0B-3600-F22F-0C11-68C2CCB01C3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268760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14" name="直接连接符 1048613">
                <a:extLst>
                  <a:ext uri="{FF2B5EF4-FFF2-40B4-BE49-F238E27FC236}">
                    <a16:creationId xmlns:a16="http://schemas.microsoft.com/office/drawing/2014/main" id="{7CA6A906-AD86-CE49-58EE-426FA566B7B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41277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15" name="直接连接符 1048614">
                <a:extLst>
                  <a:ext uri="{FF2B5EF4-FFF2-40B4-BE49-F238E27FC236}">
                    <a16:creationId xmlns:a16="http://schemas.microsoft.com/office/drawing/2014/main" id="{81E9F891-2B6F-08B0-4D87-4992BEAA651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55013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16" name="直接连接符 1048615">
                <a:extLst>
                  <a:ext uri="{FF2B5EF4-FFF2-40B4-BE49-F238E27FC236}">
                    <a16:creationId xmlns:a16="http://schemas.microsoft.com/office/drawing/2014/main" id="{0E8917CF-2E7A-5A31-A42B-8AA07474A3A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700808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17" name="直接连接符 1048616">
                <a:extLst>
                  <a:ext uri="{FF2B5EF4-FFF2-40B4-BE49-F238E27FC236}">
                    <a16:creationId xmlns:a16="http://schemas.microsoft.com/office/drawing/2014/main" id="{5130E126-0F85-2115-9FF3-F6B51360FEB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84482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18" name="直接连接符 1048617">
                <a:extLst>
                  <a:ext uri="{FF2B5EF4-FFF2-40B4-BE49-F238E27FC236}">
                    <a16:creationId xmlns:a16="http://schemas.microsoft.com/office/drawing/2014/main" id="{631B7022-3D07-6605-956C-23D6E6D9260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988840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19" name="直接连接符 1048618">
                <a:extLst>
                  <a:ext uri="{FF2B5EF4-FFF2-40B4-BE49-F238E27FC236}">
                    <a16:creationId xmlns:a16="http://schemas.microsoft.com/office/drawing/2014/main" id="{078CD895-C2FE-C0A7-B8BB-F42453C117F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13285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0" name="直接连接符 1048619">
                <a:extLst>
                  <a:ext uri="{FF2B5EF4-FFF2-40B4-BE49-F238E27FC236}">
                    <a16:creationId xmlns:a16="http://schemas.microsoft.com/office/drawing/2014/main" id="{8AC68814-1F58-529B-0180-870B5EC44B82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340768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1" name="直接连接符 1048620">
                <a:extLst>
                  <a:ext uri="{FF2B5EF4-FFF2-40B4-BE49-F238E27FC236}">
                    <a16:creationId xmlns:a16="http://schemas.microsoft.com/office/drawing/2014/main" id="{2A04ACDE-BBFF-0B0E-57DB-F23C068E3BE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48478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2" name="直接连接符 1048621">
                <a:extLst>
                  <a:ext uri="{FF2B5EF4-FFF2-40B4-BE49-F238E27FC236}">
                    <a16:creationId xmlns:a16="http://schemas.microsoft.com/office/drawing/2014/main" id="{E644493B-2395-78E9-43AC-978FA6FB589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62214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3" name="直接连接符 1048622">
                <a:extLst>
                  <a:ext uri="{FF2B5EF4-FFF2-40B4-BE49-F238E27FC236}">
                    <a16:creationId xmlns:a16="http://schemas.microsoft.com/office/drawing/2014/main" id="{67380E09-1D9C-5AAF-532B-FFB79914645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77281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4" name="直接连接符 1048623">
                <a:extLst>
                  <a:ext uri="{FF2B5EF4-FFF2-40B4-BE49-F238E27FC236}">
                    <a16:creationId xmlns:a16="http://schemas.microsoft.com/office/drawing/2014/main" id="{EB46491A-0189-F6BB-0ECB-8E3172334C23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916832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5" name="直接连接符 1048624">
                <a:extLst>
                  <a:ext uri="{FF2B5EF4-FFF2-40B4-BE49-F238E27FC236}">
                    <a16:creationId xmlns:a16="http://schemas.microsoft.com/office/drawing/2014/main" id="{F84AED8F-9781-C5F3-AE4D-BD3E0A9F806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060848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6" name="直接连接符 1048625">
                <a:extLst>
                  <a:ext uri="{FF2B5EF4-FFF2-40B4-BE49-F238E27FC236}">
                    <a16:creationId xmlns:a16="http://schemas.microsoft.com/office/drawing/2014/main" id="{9EF4417C-F96B-FC69-0AF7-8D144E774ACB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20486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27" name="直接连接符 1048626">
                <a:extLst>
                  <a:ext uri="{FF2B5EF4-FFF2-40B4-BE49-F238E27FC236}">
                    <a16:creationId xmlns:a16="http://schemas.microsoft.com/office/drawing/2014/main" id="{F924A515-9422-9D2A-20DB-D2324DC90F9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276872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  <p:grpSp>
          <p:nvGrpSpPr>
            <p:cNvPr id="1048628" name="组合 1048627">
              <a:extLst>
                <a:ext uri="{FF2B5EF4-FFF2-40B4-BE49-F238E27FC236}">
                  <a16:creationId xmlns:a16="http://schemas.microsoft.com/office/drawing/2014/main" id="{3DEA901B-FEE7-4BCB-8E22-1D8C15446860}"/>
                </a:ext>
              </a:extLst>
            </p:cNvPr>
            <p:cNvGrpSpPr/>
            <p:nvPr/>
          </p:nvGrpSpPr>
          <p:grpSpPr>
            <a:xfrm rot="5400000">
              <a:off x="10479030" y="4373062"/>
              <a:ext cx="1016951" cy="1008112"/>
              <a:chOff x="10272464" y="1268760"/>
              <a:chExt cx="1368152" cy="1008112"/>
            </a:xfrm>
          </p:grpSpPr>
          <p:cxnSp>
            <p:nvCxnSpPr>
              <p:cNvPr id="1048629" name="直接连接符 1048628">
                <a:extLst>
                  <a:ext uri="{FF2B5EF4-FFF2-40B4-BE49-F238E27FC236}">
                    <a16:creationId xmlns:a16="http://schemas.microsoft.com/office/drawing/2014/main" id="{780C0D33-3ABF-5ECB-C32A-100E99EC84D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268760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0" name="直接连接符 1048629">
                <a:extLst>
                  <a:ext uri="{FF2B5EF4-FFF2-40B4-BE49-F238E27FC236}">
                    <a16:creationId xmlns:a16="http://schemas.microsoft.com/office/drawing/2014/main" id="{FDB4A3F3-31AF-FC4D-72AB-722146F4F47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41277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1" name="直接连接符 1048630">
                <a:extLst>
                  <a:ext uri="{FF2B5EF4-FFF2-40B4-BE49-F238E27FC236}">
                    <a16:creationId xmlns:a16="http://schemas.microsoft.com/office/drawing/2014/main" id="{86AE6C7D-D4D2-A451-94FD-8A804D3CBF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55013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2" name="直接连接符 1048631">
                <a:extLst>
                  <a:ext uri="{FF2B5EF4-FFF2-40B4-BE49-F238E27FC236}">
                    <a16:creationId xmlns:a16="http://schemas.microsoft.com/office/drawing/2014/main" id="{1518C72D-1B92-0740-ACCB-027323FCBC9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700808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3" name="直接连接符 1048632">
                <a:extLst>
                  <a:ext uri="{FF2B5EF4-FFF2-40B4-BE49-F238E27FC236}">
                    <a16:creationId xmlns:a16="http://schemas.microsoft.com/office/drawing/2014/main" id="{D397132C-37FE-6972-4C09-22C0EAC2CAB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84482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4" name="直接连接符 1048633">
                <a:extLst>
                  <a:ext uri="{FF2B5EF4-FFF2-40B4-BE49-F238E27FC236}">
                    <a16:creationId xmlns:a16="http://schemas.microsoft.com/office/drawing/2014/main" id="{0549ADDF-5A64-796F-B87A-C6A948A5E46E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988840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5" name="直接连接符 1048634">
                <a:extLst>
                  <a:ext uri="{FF2B5EF4-FFF2-40B4-BE49-F238E27FC236}">
                    <a16:creationId xmlns:a16="http://schemas.microsoft.com/office/drawing/2014/main" id="{6C986943-E301-A573-EEC6-AE22A0D10ACA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13285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6" name="直接连接符 1048635">
                <a:extLst>
                  <a:ext uri="{FF2B5EF4-FFF2-40B4-BE49-F238E27FC236}">
                    <a16:creationId xmlns:a16="http://schemas.microsoft.com/office/drawing/2014/main" id="{4D6CB3F8-A276-02C6-D410-59BD4C717647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340768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7" name="直接连接符 1048636">
                <a:extLst>
                  <a:ext uri="{FF2B5EF4-FFF2-40B4-BE49-F238E27FC236}">
                    <a16:creationId xmlns:a16="http://schemas.microsoft.com/office/drawing/2014/main" id="{D835A498-C03F-A473-15EF-51994DA27151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48478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8" name="直接连接符 1048637">
                <a:extLst>
                  <a:ext uri="{FF2B5EF4-FFF2-40B4-BE49-F238E27FC236}">
                    <a16:creationId xmlns:a16="http://schemas.microsoft.com/office/drawing/2014/main" id="{CD61B97A-BFC0-8A66-5D0A-D6A66094CAE4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62214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39" name="直接连接符 1048638">
                <a:extLst>
                  <a:ext uri="{FF2B5EF4-FFF2-40B4-BE49-F238E27FC236}">
                    <a16:creationId xmlns:a16="http://schemas.microsoft.com/office/drawing/2014/main" id="{68C5BB2C-9A58-421C-4734-AFC7F15EF409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772816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40" name="直接连接符 1048639">
                <a:extLst>
                  <a:ext uri="{FF2B5EF4-FFF2-40B4-BE49-F238E27FC236}">
                    <a16:creationId xmlns:a16="http://schemas.microsoft.com/office/drawing/2014/main" id="{BDF3886D-ABFA-ACBB-F145-1999266A5798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1916832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41" name="直接连接符 1048640">
                <a:extLst>
                  <a:ext uri="{FF2B5EF4-FFF2-40B4-BE49-F238E27FC236}">
                    <a16:creationId xmlns:a16="http://schemas.microsoft.com/office/drawing/2014/main" id="{99D3B7F9-6ED9-5ECF-5F63-F20C784071E5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060848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42" name="直接连接符 1048641">
                <a:extLst>
                  <a:ext uri="{FF2B5EF4-FFF2-40B4-BE49-F238E27FC236}">
                    <a16:creationId xmlns:a16="http://schemas.microsoft.com/office/drawing/2014/main" id="{18CDBF9F-D33A-D1A5-35AC-768A92514F00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204864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  <p:cxnSp>
            <p:nvCxnSpPr>
              <p:cNvPr id="1048643" name="直接连接符 1048642">
                <a:extLst>
                  <a:ext uri="{FF2B5EF4-FFF2-40B4-BE49-F238E27FC236}">
                    <a16:creationId xmlns:a16="http://schemas.microsoft.com/office/drawing/2014/main" id="{0D6EDDCA-5843-63C8-6995-6C05A6F583CC}"/>
                  </a:ext>
                </a:extLst>
              </p:cNvPr>
              <p:cNvCxnSpPr>
                <a:cxnSpLocks/>
              </p:cNvCxnSpPr>
              <p:nvPr/>
            </p:nvCxnSpPr>
            <p:spPr>
              <a:xfrm>
                <a:off x="10272464" y="2276872"/>
                <a:ext cx="1368152" cy="0"/>
              </a:xfrm>
              <a:prstGeom prst="line">
                <a:avLst/>
              </a:prstGeom>
            </p:spPr>
            <p:style>
              <a:lnRef idx="1">
                <a:schemeClr val="dk1"/>
              </a:lnRef>
              <a:fillRef idx="0">
                <a:schemeClr val="dk1"/>
              </a:fillRef>
              <a:effectRef idx="0">
                <a:schemeClr val="dk1"/>
              </a:effectRef>
              <a:fontRef idx="minor">
                <a:schemeClr val="tx1"/>
              </a:fontRef>
            </p:style>
          </p:cxnSp>
        </p:grpSp>
      </p:grpSp>
      <p:sp>
        <p:nvSpPr>
          <p:cNvPr id="1048645" name="箭头: 下 1048644">
            <a:extLst>
              <a:ext uri="{FF2B5EF4-FFF2-40B4-BE49-F238E27FC236}">
                <a16:creationId xmlns:a16="http://schemas.microsoft.com/office/drawing/2014/main" id="{859C7A5B-1CAB-7C8D-C307-4BE5AF2313DE}"/>
              </a:ext>
            </a:extLst>
          </p:cNvPr>
          <p:cNvSpPr/>
          <p:nvPr/>
        </p:nvSpPr>
        <p:spPr>
          <a:xfrm>
            <a:off x="10833653" y="3928955"/>
            <a:ext cx="326620" cy="236813"/>
          </a:xfrm>
          <a:prstGeom prst="downArrow">
            <a:avLst/>
          </a:prstGeom>
          <a:ln/>
        </p:spPr>
        <p:style>
          <a:lnRef idx="2">
            <a:schemeClr val="accent5">
              <a:shade val="15000"/>
            </a:schemeClr>
          </a:lnRef>
          <a:fillRef idx="1">
            <a:schemeClr val="accent5"/>
          </a:fillRef>
          <a:effectRef idx="0">
            <a:schemeClr val="accent5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048646" name="文本框 1048645">
            <a:extLst>
              <a:ext uri="{FF2B5EF4-FFF2-40B4-BE49-F238E27FC236}">
                <a16:creationId xmlns:a16="http://schemas.microsoft.com/office/drawing/2014/main" id="{3ECFF975-0A04-DFA1-9C5A-FF462F8102C7}"/>
              </a:ext>
            </a:extLst>
          </p:cNvPr>
          <p:cNvSpPr txBox="1"/>
          <p:nvPr/>
        </p:nvSpPr>
        <p:spPr>
          <a:xfrm>
            <a:off x="10094663" y="5538617"/>
            <a:ext cx="195745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600" dirty="0"/>
              <a:t>Chess Board Attained</a:t>
            </a:r>
          </a:p>
        </p:txBody>
      </p:sp>
    </p:spTree>
    <p:extLst>
      <p:ext uri="{BB962C8B-B14F-4D97-AF65-F5344CB8AC3E}">
        <p14:creationId xmlns:p14="http://schemas.microsoft.com/office/powerpoint/2010/main" val="871368556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8583" name="Subtitle 14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lang="zh-TW" sz="2800" b="1"/>
              <a:t>林天麟 教授</a:t>
            </a:r>
            <a:endParaRPr lang="en-US" sz="2800" b="1"/>
          </a:p>
          <a:p>
            <a:r>
              <a:rPr lang="zh-CN"/>
              <a:t>香港中文大学（深圳）</a:t>
            </a:r>
            <a:endParaRPr lang="en-US"/>
          </a:p>
          <a:p>
            <a:r>
              <a:rPr lang="zh-CN"/>
              <a:t>机器人与</a:t>
            </a:r>
            <a:r>
              <a:rPr lang="zh-TW"/>
              <a:t>人工智能实验室</a:t>
            </a:r>
            <a:endParaRPr lang="en-US"/>
          </a:p>
          <a:p>
            <a:r>
              <a:rPr lang="en-US"/>
              <a:t>WeChat: tinlunlam</a:t>
            </a:r>
            <a:endParaRPr lang="zh-CN"/>
          </a:p>
        </p:txBody>
      </p:sp>
      <p:sp>
        <p:nvSpPr>
          <p:cNvPr id="1048584" name="AutoShape 2"/>
          <p:cNvSpPr>
            <a:spLocks noChangeAspect="1" noChangeArrowheads="1"/>
          </p:cNvSpPr>
          <p:nvPr/>
        </p:nvSpPr>
        <p:spPr>
          <a:xfrm>
            <a:off x="155575" y="-144463"/>
            <a:ext cx="304800" cy="304801"/>
          </a:xfrm>
          <a:prstGeom prst="rect">
            <a:avLst/>
          </a:prstGeom>
          <a:noFill/>
        </p:spPr>
        <p:txBody>
          <a:bodyPr vert="horz" wrap="square" lIns="91440" tIns="45720" rIns="91440" bIns="45720" numCol="1" anchor="t" anchorCtr="0"/>
          <a:lstStyle/>
          <a:p>
            <a:endParaRPr lang="en-US"/>
          </a:p>
        </p:txBody>
      </p:sp>
      <p:pic>
        <p:nvPicPr>
          <p:cNvPr id="2097154" name="Picture 4"/>
          <p:cNvPicPr>
            <a:picLocks noChangeAspect="1" noChangeArrowheads="1"/>
          </p:cNvPicPr>
          <p:nvPr/>
        </p:nvPicPr>
        <p:blipFill>
          <a:blip r:embed="rId2"/>
          <a:stretch>
            <a:fillRect/>
          </a:stretch>
        </p:blipFill>
        <p:spPr>
          <a:xfrm>
            <a:off x="-1" y="0"/>
            <a:ext cx="12344399" cy="6858000"/>
          </a:xfrm>
          <a:prstGeom prst="rect">
            <a:avLst/>
          </a:prstGeom>
          <a:noFill/>
        </p:spPr>
      </p:pic>
      <p:sp>
        <p:nvSpPr>
          <p:cNvPr id="1048585" name="Title 18"/>
          <p:cNvSpPr>
            <a:spLocks noGrp="1"/>
          </p:cNvSpPr>
          <p:nvPr>
            <p:ph type="title"/>
          </p:nvPr>
        </p:nvSpPr>
        <p:spPr>
          <a:xfrm>
            <a:off x="3552037" y="2894570"/>
            <a:ext cx="5087926" cy="1783234"/>
          </a:xfrm>
        </p:spPr>
        <p:txBody>
          <a:bodyPr/>
          <a:lstStyle/>
          <a:p>
            <a:pPr algn="ctr"/>
            <a:r>
              <a:rPr lang="en-US" sz="6000" dirty="0"/>
              <a:t>T</a:t>
            </a:r>
            <a:r>
              <a:rPr lang="en-US" sz="4800" dirty="0"/>
              <a:t>HANK </a:t>
            </a:r>
            <a:r>
              <a:rPr lang="en-US" sz="6000" dirty="0"/>
              <a:t>Y</a:t>
            </a:r>
            <a:r>
              <a:rPr lang="en-US" sz="4800" dirty="0"/>
              <a:t>OU</a:t>
            </a:r>
          </a:p>
        </p:txBody>
      </p:sp>
    </p:spTree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KSO_WPP_MARK_KEY" val="1fe9a046-a2a9-43bc-a645-b850c7246860"/>
  <p:tag name="COMMONDATA" val="eyJoZGlkIjoiZTA3OWNmMjM5Yzk3NTBiMmZkZTUxNTExMWY5ZTUxMGQifQ=="/>
</p:tagLst>
</file>

<file path=ppt/theme/theme1.xml><?xml version="1.0" encoding="utf-8"?>
<a:theme xmlns:a="http://schemas.openxmlformats.org/drawingml/2006/main" name="Office 主题​​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微软雅黑"/>
        <a:ea typeface=""/>
        <a:cs typeface=""/>
        <a:font script="Jpan" typeface="游ゴシック Light"/>
        <a:font script="Hang" typeface="맑은 고딕"/>
        <a:font script="Hans" typeface="微软雅黑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微软雅黑"/>
        <a:ea typeface=""/>
        <a:cs typeface=""/>
        <a:font script="Jpan" typeface="游ゴシック"/>
        <a:font script="Hang" typeface="맑은 고딕"/>
        <a:font script="Hans" typeface="微软雅黑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8521</TotalTime>
  <Words>870</Words>
  <Application>Microsoft Office PowerPoint</Application>
  <PresentationFormat>宽屏</PresentationFormat>
  <Paragraphs>116</Paragraphs>
  <Slides>9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8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9</vt:i4>
      </vt:variant>
    </vt:vector>
  </HeadingPairs>
  <TitlesOfParts>
    <vt:vector size="18" baseType="lpstr">
      <vt:lpstr>等线</vt:lpstr>
      <vt:lpstr>楷体</vt:lpstr>
      <vt:lpstr>微软雅黑</vt:lpstr>
      <vt:lpstr>Arial</vt:lpstr>
      <vt:lpstr>Calibri</vt:lpstr>
      <vt:lpstr>Calibri Light</vt:lpstr>
      <vt:lpstr>Segoe UI</vt:lpstr>
      <vt:lpstr>Wingdings</vt:lpstr>
      <vt:lpstr>Office 主题​​</vt:lpstr>
      <vt:lpstr>CSC1004 Tutorial 7 Ruixing Jin</vt:lpstr>
      <vt:lpstr>Class Design &amp; Control Flow (Recall)</vt:lpstr>
      <vt:lpstr>Lambda Expression</vt:lpstr>
      <vt:lpstr>Lambda Expression</vt:lpstr>
      <vt:lpstr>Rendering in JavaFX – via Layout</vt:lpstr>
      <vt:lpstr>Rendering in JavaFX – via Layout</vt:lpstr>
      <vt:lpstr>Rendering in JavaFX – via Layout</vt:lpstr>
      <vt:lpstr>Rendering in JavaFX – via Canvas</vt:lpstr>
      <vt:lpstr>THANK YOU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脉象组近期工作 20310917</dc:title>
  <dc:creator>TEL-AN00a</dc:creator>
  <cp:lastModifiedBy>Jin, Ruixing</cp:lastModifiedBy>
  <cp:revision>438</cp:revision>
  <dcterms:created xsi:type="dcterms:W3CDTF">2021-09-16T09:09:00Z</dcterms:created>
  <dcterms:modified xsi:type="dcterms:W3CDTF">2026-03-26T09:48:53Z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DEF2CC9F1FF44862A3C220416D675C3E</vt:lpwstr>
  </property>
  <property fmtid="{D5CDD505-2E9C-101B-9397-08002B2CF9AE}" pid="3" name="KSOProductBuildVer">
    <vt:lpwstr>2052-11.1.0.13703</vt:lpwstr>
  </property>
</Properties>
</file>