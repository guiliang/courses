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3.xml" ContentType="application/vnd.openxmlformats-officedocument.theme+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4.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notesSlides/notesSlide3.xml" ContentType="application/vnd.openxmlformats-officedocument.presentationml.notesSlide+xml"/>
  <Override PartName="/ppt/tags/tag4.xml" ContentType="application/vnd.openxmlformats-officedocument.presentationml.tags+xml"/>
  <Override PartName="/ppt/notesSlides/notesSlide4.xml" ContentType="application/vnd.openxmlformats-officedocument.presentationml.notesSlide+xml"/>
  <Override PartName="/ppt/tags/tag5.xml" ContentType="application/vnd.openxmlformats-officedocument.presentationml.tags+xml"/>
  <Override PartName="/ppt/notesSlides/notesSlide5.xml" ContentType="application/vnd.openxmlformats-officedocument.presentationml.notesSlide+xml"/>
  <Override PartName="/ppt/tags/tag6.xml" ContentType="application/vnd.openxmlformats-officedocument.presentationml.tags+xml"/>
  <Override PartName="/ppt/notesSlides/notesSlide6.xml" ContentType="application/vnd.openxmlformats-officedocument.presentationml.notesSlide+xml"/>
  <Override PartName="/ppt/tags/tag7.xml" ContentType="application/vnd.openxmlformats-officedocument.presentationml.tags+xml"/>
  <Override PartName="/ppt/notesSlides/notesSlide7.xml" ContentType="application/vnd.openxmlformats-officedocument.presentationml.notesSlide+xml"/>
  <Override PartName="/ppt/tags/tag8.xml" ContentType="application/vnd.openxmlformats-officedocument.presentationml.tags+xml"/>
  <Override PartName="/ppt/notesSlides/notesSlide8.xml" ContentType="application/vnd.openxmlformats-officedocument.presentationml.notesSlide+xml"/>
  <Override PartName="/ppt/tags/tag9.xml" ContentType="application/vnd.openxmlformats-officedocument.presentationml.tags+xml"/>
  <Override PartName="/ppt/notesSlides/notesSlide9.xml" ContentType="application/vnd.openxmlformats-officedocument.presentationml.notesSlide+xml"/>
  <Override PartName="/ppt/tags/tag10.xml" ContentType="application/vnd.openxmlformats-officedocument.presentationml.tags+xml"/>
  <Override PartName="/ppt/notesSlides/notesSlide10.xml" ContentType="application/vnd.openxmlformats-officedocument.presentationml.notesSlide+xml"/>
  <Override PartName="/ppt/tags/tag11.xml" ContentType="application/vnd.openxmlformats-officedocument.presentationml.tags+xml"/>
  <Override PartName="/ppt/notesSlides/notesSlide11.xml" ContentType="application/vnd.openxmlformats-officedocument.presentationml.notesSlide+xml"/>
  <Override PartName="/ppt/tags/tag12.xml" ContentType="application/vnd.openxmlformats-officedocument.presentationml.tags+xml"/>
  <Override PartName="/ppt/notesSlides/notesSlide12.xml" ContentType="application/vnd.openxmlformats-officedocument.presentationml.notesSlide+xml"/>
  <Override PartName="/ppt/tags/tag13.xml" ContentType="application/vnd.openxmlformats-officedocument.presentationml.tags+xml"/>
  <Override PartName="/ppt/notesSlides/notesSlide13.xml" ContentType="application/vnd.openxmlformats-officedocument.presentationml.notesSlide+xml"/>
  <Override PartName="/ppt/tags/tag14.xml" ContentType="application/vnd.openxmlformats-officedocument.presentationml.tags+xml"/>
  <Override PartName="/ppt/notesSlides/notesSlide14.xml" ContentType="application/vnd.openxmlformats-officedocument.presentationml.notesSlide+xml"/>
  <Override PartName="/ppt/tags/tag15.xml" ContentType="application/vnd.openxmlformats-officedocument.presentationml.tags+xml"/>
  <Override PartName="/ppt/notesSlides/notesSlide15.xml" ContentType="application/vnd.openxmlformats-officedocument.presentationml.notesSlide+xml"/>
  <Override PartName="/ppt/tags/tag16.xml" ContentType="application/vnd.openxmlformats-officedocument.presentationml.tags+xml"/>
  <Override PartName="/ppt/notesSlides/notesSlide16.xml" ContentType="application/vnd.openxmlformats-officedocument.presentationml.notesSlide+xml"/>
  <Override PartName="/ppt/tags/tag17.xml" ContentType="application/vnd.openxmlformats-officedocument.presentationml.tags+xml"/>
  <Override PartName="/ppt/notesSlides/notesSlide17.xml" ContentType="application/vnd.openxmlformats-officedocument.presentationml.notesSlide+xml"/>
  <Override PartName="/ppt/tags/tag18.xml" ContentType="application/vnd.openxmlformats-officedocument.presentationml.tags+xml"/>
  <Override PartName="/ppt/notesSlides/notesSlide18.xml" ContentType="application/vnd.openxmlformats-officedocument.presentationml.notesSlide+xml"/>
  <Override PartName="/ppt/tags/tag19.xml" ContentType="application/vnd.openxmlformats-officedocument.presentationml.tags+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55" r:id="rId2"/>
    <p:sldMasterId id="2147483662" r:id="rId3"/>
    <p:sldMasterId id="2147483669" r:id="rId4"/>
    <p:sldMasterId id="2147483676" r:id="rId5"/>
  </p:sldMasterIdLst>
  <p:notesMasterIdLst>
    <p:notesMasterId r:id="rId25"/>
  </p:notesMasterIdLst>
  <p:handoutMasterIdLst>
    <p:handoutMasterId r:id="rId26"/>
  </p:handoutMasterIdLst>
  <p:sldIdLst>
    <p:sldId id="256" r:id="rId6"/>
    <p:sldId id="259" r:id="rId7"/>
    <p:sldId id="261" r:id="rId8"/>
    <p:sldId id="324" r:id="rId9"/>
    <p:sldId id="327" r:id="rId10"/>
    <p:sldId id="328" r:id="rId11"/>
    <p:sldId id="329" r:id="rId12"/>
    <p:sldId id="330" r:id="rId13"/>
    <p:sldId id="331" r:id="rId14"/>
    <p:sldId id="332" r:id="rId15"/>
    <p:sldId id="333" r:id="rId16"/>
    <p:sldId id="334" r:id="rId17"/>
    <p:sldId id="335" r:id="rId18"/>
    <p:sldId id="336" r:id="rId19"/>
    <p:sldId id="337" r:id="rId20"/>
    <p:sldId id="338" r:id="rId21"/>
    <p:sldId id="341" r:id="rId22"/>
    <p:sldId id="340" r:id="rId23"/>
    <p:sldId id="274" r:id="rId24"/>
  </p:sldIdLst>
  <p:sldSz cx="9144000" cy="5143500" type="screen16x9"/>
  <p:notesSz cx="5143500" cy="9144000"/>
  <p:custDataLst>
    <p:tags r:id="rId27"/>
  </p:custData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7"/>
    <p:restoredTop sz="94610"/>
  </p:normalViewPr>
  <p:slideViewPr>
    <p:cSldViewPr snapToGrid="0" snapToObjects="1">
      <p:cViewPr varScale="1">
        <p:scale>
          <a:sx n="166" d="100"/>
          <a:sy n="166" d="100"/>
        </p:scale>
        <p:origin x="32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handoutMaster" Target="handoutMasters/handoutMaster1.xml"/><Relationship Id="rId3" Type="http://schemas.openxmlformats.org/officeDocument/2006/relationships/slideMaster" Target="slideMasters/slideMaster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presProps" Target="presProp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tags" Target="tags/tag1.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1671638" cy="458788"/>
          </a:xfrm>
          <a:prstGeom prst="rect">
            <a:avLst/>
          </a:prstGeom>
        </p:spPr>
        <p:txBody>
          <a:bodyPr vert="horz" lIns="91440" tIns="45720" rIns="91440" bIns="45720" rtlCol="0"/>
          <a:lstStyle>
            <a:lvl1pPr algn="l">
              <a:defRPr sz="675"/>
            </a:lvl1pPr>
          </a:lstStyle>
          <a:p>
            <a:endParaRPr lang="zh-CN" altLang="en-US"/>
          </a:p>
        </p:txBody>
      </p:sp>
      <p:sp>
        <p:nvSpPr>
          <p:cNvPr id="3" name="日期占位符 2"/>
          <p:cNvSpPr>
            <a:spLocks noGrp="1"/>
          </p:cNvSpPr>
          <p:nvPr>
            <p:ph type="dt" sz="quarter" idx="1"/>
          </p:nvPr>
        </p:nvSpPr>
        <p:spPr>
          <a:xfrm>
            <a:off x="2185095" y="0"/>
            <a:ext cx="1671638" cy="458788"/>
          </a:xfrm>
          <a:prstGeom prst="rect">
            <a:avLst/>
          </a:prstGeom>
        </p:spPr>
        <p:txBody>
          <a:bodyPr vert="horz" lIns="91440" tIns="45720" rIns="91440" bIns="45720" rtlCol="0"/>
          <a:lstStyle>
            <a:lvl1pPr algn="r">
              <a:defRPr sz="675"/>
            </a:lvl1pPr>
          </a:lstStyle>
          <a:p>
            <a:fld id="{0F9B84EA-7D68-4D60-9CB1-D50884785D1C}" type="datetimeFigureOut">
              <a:rPr lang="zh-CN" altLang="en-US" smtClean="0"/>
              <a:t>2026/4/9</a:t>
            </a:fld>
            <a:endParaRPr lang="zh-CN" altLang="en-US"/>
          </a:p>
        </p:txBody>
      </p:sp>
      <p:sp>
        <p:nvSpPr>
          <p:cNvPr id="4" name="页脚占位符 3"/>
          <p:cNvSpPr>
            <a:spLocks noGrp="1"/>
          </p:cNvSpPr>
          <p:nvPr>
            <p:ph type="ftr" sz="quarter" idx="2"/>
          </p:nvPr>
        </p:nvSpPr>
        <p:spPr>
          <a:xfrm>
            <a:off x="0" y="8685213"/>
            <a:ext cx="1671638" cy="458787"/>
          </a:xfrm>
          <a:prstGeom prst="rect">
            <a:avLst/>
          </a:prstGeom>
        </p:spPr>
        <p:txBody>
          <a:bodyPr vert="horz" lIns="91440" tIns="45720" rIns="91440" bIns="45720" rtlCol="0" anchor="b"/>
          <a:lstStyle>
            <a:lvl1pPr algn="l">
              <a:defRPr sz="675"/>
            </a:lvl1pPr>
          </a:lstStyle>
          <a:p>
            <a:endParaRPr lang="zh-CN" altLang="en-US"/>
          </a:p>
        </p:txBody>
      </p:sp>
      <p:sp>
        <p:nvSpPr>
          <p:cNvPr id="5" name="灯片编号占位符 4"/>
          <p:cNvSpPr>
            <a:spLocks noGrp="1"/>
          </p:cNvSpPr>
          <p:nvPr>
            <p:ph type="sldNum" sz="quarter" idx="3"/>
          </p:nvPr>
        </p:nvSpPr>
        <p:spPr>
          <a:xfrm>
            <a:off x="2185095" y="8685213"/>
            <a:ext cx="1671638" cy="458787"/>
          </a:xfrm>
          <a:prstGeom prst="rect">
            <a:avLst/>
          </a:prstGeom>
        </p:spPr>
        <p:txBody>
          <a:bodyPr vert="horz" lIns="91440" tIns="45720" rIns="91440" bIns="45720" rtlCol="0" anchor="b"/>
          <a:lstStyle>
            <a:lvl1pPr algn="r">
              <a:defRPr sz="675"/>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4/9/26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1.png"/><Relationship Id="rId1" Type="http://schemas.openxmlformats.org/officeDocument/2006/relationships/slideMaster" Target="../slideMasters/slideMaster5.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9.png"/><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_slides">
    <p:bg>
      <p:bgPr>
        <a:solidFill>
          <a:srgbClr val="FFFFFF"/>
        </a:solidFill>
        <a:effectLst/>
      </p:bgPr>
    </p:bg>
    <p:spTree>
      <p:nvGrpSpPr>
        <p:cNvPr id="1" name=""/>
        <p:cNvGrpSpPr/>
        <p:nvPr/>
      </p:nvGrpSpPr>
      <p:grpSpPr>
        <a:xfrm>
          <a:off x="0" y="0"/>
          <a:ext cx="0" cy="0"/>
          <a:chOff x="0" y="0"/>
          <a:chExt cx="0" cy="0"/>
        </a:xfrm>
      </p:grpSpPr>
      <p:pic>
        <p:nvPicPr>
          <p:cNvPr id="2" name="Image 0" descr="https://assets.mindshow.fun/themes/purpleyellow_ribbon_20221011/Cover-bg.svg"/>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9144000" cy="51435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atalog_slides">
    <p:bg>
      <p:bgPr>
        <a:solidFill>
          <a:srgbClr val="FFFFFF"/>
        </a:solidFill>
        <a:effectLst/>
      </p:bgPr>
    </p:bg>
    <p:spTree>
      <p:nvGrpSpPr>
        <p:cNvPr id="1" name=""/>
        <p:cNvGrpSpPr/>
        <p:nvPr/>
      </p:nvGrpSpPr>
      <p:grpSpPr>
        <a:xfrm>
          <a:off x="0" y="0"/>
          <a:ext cx="0" cy="0"/>
          <a:chOff x="0" y="0"/>
          <a:chExt cx="0" cy="0"/>
        </a:xfrm>
      </p:grpSpPr>
      <p:pic>
        <p:nvPicPr>
          <p:cNvPr id="2" name="Image 0" descr="https://assets.mindshow.fun/themes/purpleyellow_ribbon_20221011/Catalog-bg.svg"/>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9144000" cy="514350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ssion_slides">
    <p:bg>
      <p:bgPr>
        <a:solidFill>
          <a:srgbClr val="FFFFFF"/>
        </a:solidFill>
        <a:effectLst/>
      </p:bgPr>
    </p:bg>
    <p:spTree>
      <p:nvGrpSpPr>
        <p:cNvPr id="1" name=""/>
        <p:cNvGrpSpPr/>
        <p:nvPr/>
      </p:nvGrpSpPr>
      <p:grpSpPr>
        <a:xfrm>
          <a:off x="0" y="0"/>
          <a:ext cx="0" cy="0"/>
          <a:chOff x="0" y="0"/>
          <a:chExt cx="0" cy="0"/>
        </a:xfrm>
      </p:grpSpPr>
      <p:pic>
        <p:nvPicPr>
          <p:cNvPr id="2" name="Image 0" descr="https://assets.mindshow.fun/themes/purpleyellow_ribbon_20221011/Session-bg.svg"/>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9144000" cy="514350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_slides">
    <p:bg>
      <p:bgPr>
        <a:solidFill>
          <a:srgbClr val="FFFFFF"/>
        </a:solidFill>
        <a:effectLst/>
      </p:bgPr>
    </p:bg>
    <p:spTree>
      <p:nvGrpSpPr>
        <p:cNvPr id="1" name=""/>
        <p:cNvGrpSpPr/>
        <p:nvPr/>
      </p:nvGrpSpPr>
      <p:grpSpPr>
        <a:xfrm>
          <a:off x="0" y="0"/>
          <a:ext cx="0" cy="0"/>
          <a:chOff x="0" y="0"/>
          <a:chExt cx="0" cy="0"/>
        </a:xfrm>
      </p:grpSpPr>
      <p:pic>
        <p:nvPicPr>
          <p:cNvPr id="2" name="Image 0" descr="https://assets.mindshow.fun/themes/purpleyellow_ribbon_20221011/Content-bg.svg"/>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9144000" cy="514350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End_slides">
    <p:bg>
      <p:bgPr>
        <a:solidFill>
          <a:srgbClr val="FFFFFF"/>
        </a:solidFill>
        <a:effectLst/>
      </p:bgPr>
    </p:bg>
    <p:spTree>
      <p:nvGrpSpPr>
        <p:cNvPr id="1" name=""/>
        <p:cNvGrpSpPr/>
        <p:nvPr/>
      </p:nvGrpSpPr>
      <p:grpSpPr>
        <a:xfrm>
          <a:off x="0" y="0"/>
          <a:ext cx="0" cy="0"/>
          <a:chOff x="0" y="0"/>
          <a:chExt cx="0" cy="0"/>
        </a:xfrm>
      </p:grpSpPr>
      <p:pic>
        <p:nvPicPr>
          <p:cNvPr id="2" name="Image 0" descr="https://assets.mindshow.fun/themes/purpleyellow_ribbon_20221011/End-bg.svg"/>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9144000" cy="514350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ver_slides">
    <p:bg>
      <p:bgPr>
        <a:solidFill>
          <a:srgbClr val="FFFFFF"/>
        </a:solidFill>
        <a:effectLst/>
      </p:bgPr>
    </p:bg>
    <p:spTree>
      <p:nvGrpSpPr>
        <p:cNvPr id="1" name=""/>
        <p:cNvGrpSpPr/>
        <p:nvPr/>
      </p:nvGrpSpPr>
      <p:grpSpPr>
        <a:xfrm>
          <a:off x="0" y="0"/>
          <a:ext cx="0" cy="0"/>
          <a:chOff x="0" y="0"/>
          <a:chExt cx="0" cy="0"/>
        </a:xfrm>
      </p:grpSpPr>
      <p:pic>
        <p:nvPicPr>
          <p:cNvPr id="2" name="Image 0" descr="https://assets.mindshow.fun/themes/purpleyellow_ribbon_20221011/Cover-bg.svg"/>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9144000" cy="514350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atalog_slides">
    <p:bg>
      <p:bgPr>
        <a:solidFill>
          <a:srgbClr val="FFFFFF"/>
        </a:solidFill>
        <a:effectLst/>
      </p:bgPr>
    </p:bg>
    <p:spTree>
      <p:nvGrpSpPr>
        <p:cNvPr id="1" name=""/>
        <p:cNvGrpSpPr/>
        <p:nvPr/>
      </p:nvGrpSpPr>
      <p:grpSpPr>
        <a:xfrm>
          <a:off x="0" y="0"/>
          <a:ext cx="0" cy="0"/>
          <a:chOff x="0" y="0"/>
          <a:chExt cx="0" cy="0"/>
        </a:xfrm>
      </p:grpSpPr>
      <p:pic>
        <p:nvPicPr>
          <p:cNvPr id="2" name="Image 0" descr="https://assets.mindshow.fun/themes/purpleyellow_ribbon_20221011/Catalog-bg.svg"/>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9144000" cy="514350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ssion_slides">
    <p:bg>
      <p:bgPr>
        <a:solidFill>
          <a:srgbClr val="FFFFFF"/>
        </a:solidFill>
        <a:effectLst/>
      </p:bgPr>
    </p:bg>
    <p:spTree>
      <p:nvGrpSpPr>
        <p:cNvPr id="1" name=""/>
        <p:cNvGrpSpPr/>
        <p:nvPr/>
      </p:nvGrpSpPr>
      <p:grpSpPr>
        <a:xfrm>
          <a:off x="0" y="0"/>
          <a:ext cx="0" cy="0"/>
          <a:chOff x="0" y="0"/>
          <a:chExt cx="0" cy="0"/>
        </a:xfrm>
      </p:grpSpPr>
      <p:pic>
        <p:nvPicPr>
          <p:cNvPr id="2" name="Image 0" descr="https://assets.mindshow.fun/themes/purpleyellow_ribbon_20221011/Session-bg.svg"/>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9144000" cy="514350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_slides">
    <p:bg>
      <p:bgPr>
        <a:solidFill>
          <a:srgbClr val="FFFFFF"/>
        </a:solidFill>
        <a:effectLst/>
      </p:bgPr>
    </p:bg>
    <p:spTree>
      <p:nvGrpSpPr>
        <p:cNvPr id="1" name=""/>
        <p:cNvGrpSpPr/>
        <p:nvPr/>
      </p:nvGrpSpPr>
      <p:grpSpPr>
        <a:xfrm>
          <a:off x="0" y="0"/>
          <a:ext cx="0" cy="0"/>
          <a:chOff x="0" y="0"/>
          <a:chExt cx="0" cy="0"/>
        </a:xfrm>
      </p:grpSpPr>
      <p:pic>
        <p:nvPicPr>
          <p:cNvPr id="2" name="Image 0" descr="https://assets.mindshow.fun/themes/purpleyellow_ribbon_20221011/Content-bg.svg"/>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9144000" cy="514350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End_slides">
    <p:bg>
      <p:bgPr>
        <a:solidFill>
          <a:srgbClr val="FFFFFF"/>
        </a:solidFill>
        <a:effectLst/>
      </p:bgPr>
    </p:bg>
    <p:spTree>
      <p:nvGrpSpPr>
        <p:cNvPr id="1" name=""/>
        <p:cNvGrpSpPr/>
        <p:nvPr/>
      </p:nvGrpSpPr>
      <p:grpSpPr>
        <a:xfrm>
          <a:off x="0" y="0"/>
          <a:ext cx="0" cy="0"/>
          <a:chOff x="0" y="0"/>
          <a:chExt cx="0" cy="0"/>
        </a:xfrm>
      </p:grpSpPr>
      <p:pic>
        <p:nvPicPr>
          <p:cNvPr id="2" name="Image 0" descr="https://assets.mindshow.fun/themes/purpleyellow_ribbon_20221011/End-bg.svg"/>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9144000" cy="514350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ver_slides">
    <p:bg>
      <p:bgPr>
        <a:solidFill>
          <a:srgbClr val="FFFFFF"/>
        </a:solidFill>
        <a:effectLst/>
      </p:bgPr>
    </p:bg>
    <p:spTree>
      <p:nvGrpSpPr>
        <p:cNvPr id="1" name=""/>
        <p:cNvGrpSpPr/>
        <p:nvPr/>
      </p:nvGrpSpPr>
      <p:grpSpPr>
        <a:xfrm>
          <a:off x="0" y="0"/>
          <a:ext cx="0" cy="0"/>
          <a:chOff x="0" y="0"/>
          <a:chExt cx="0" cy="0"/>
        </a:xfrm>
      </p:grpSpPr>
      <p:pic>
        <p:nvPicPr>
          <p:cNvPr id="2" name="Image 0" descr="https://assets.mindshow.fun/themes/purpleyellow_ribbon_20221011/Cover-bg.svg"/>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9144000" cy="5143500"/>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atalog_slides">
    <p:bg>
      <p:bgPr>
        <a:solidFill>
          <a:srgbClr val="FFFFFF"/>
        </a:solidFill>
        <a:effectLst/>
      </p:bgPr>
    </p:bg>
    <p:spTree>
      <p:nvGrpSpPr>
        <p:cNvPr id="1" name=""/>
        <p:cNvGrpSpPr/>
        <p:nvPr/>
      </p:nvGrpSpPr>
      <p:grpSpPr>
        <a:xfrm>
          <a:off x="0" y="0"/>
          <a:ext cx="0" cy="0"/>
          <a:chOff x="0" y="0"/>
          <a:chExt cx="0" cy="0"/>
        </a:xfrm>
      </p:grpSpPr>
      <p:pic>
        <p:nvPicPr>
          <p:cNvPr id="2" name="Image 0" descr="https://assets.mindshow.fun/themes/purpleyellow_ribbon_20221011/Catalog-bg.svg"/>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9144000" cy="5143500"/>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ession_slides">
    <p:bg>
      <p:bgPr>
        <a:solidFill>
          <a:srgbClr val="FFFFFF"/>
        </a:solidFill>
        <a:effectLst/>
      </p:bgPr>
    </p:bg>
    <p:spTree>
      <p:nvGrpSpPr>
        <p:cNvPr id="1" name=""/>
        <p:cNvGrpSpPr/>
        <p:nvPr/>
      </p:nvGrpSpPr>
      <p:grpSpPr>
        <a:xfrm>
          <a:off x="0" y="0"/>
          <a:ext cx="0" cy="0"/>
          <a:chOff x="0" y="0"/>
          <a:chExt cx="0" cy="0"/>
        </a:xfrm>
      </p:grpSpPr>
      <p:pic>
        <p:nvPicPr>
          <p:cNvPr id="2" name="Image 0" descr="https://assets.mindshow.fun/themes/purpleyellow_ribbon_20221011/Session-bg.svg"/>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9144000" cy="5143500"/>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_slides">
    <p:bg>
      <p:bgPr>
        <a:solidFill>
          <a:srgbClr val="FFFFFF"/>
        </a:solidFill>
        <a:effectLst/>
      </p:bgPr>
    </p:bg>
    <p:spTree>
      <p:nvGrpSpPr>
        <p:cNvPr id="1" name=""/>
        <p:cNvGrpSpPr/>
        <p:nvPr/>
      </p:nvGrpSpPr>
      <p:grpSpPr>
        <a:xfrm>
          <a:off x="0" y="0"/>
          <a:ext cx="0" cy="0"/>
          <a:chOff x="0" y="0"/>
          <a:chExt cx="0" cy="0"/>
        </a:xfrm>
      </p:grpSpPr>
      <p:pic>
        <p:nvPicPr>
          <p:cNvPr id="2" name="Image 0" descr="https://assets.mindshow.fun/themes/purpleyellow_ribbon_20221011/Content-bg.svg"/>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9144000" cy="5143500"/>
          </a:xfrm>
          <a:prstGeom prst="rect">
            <a:avLst/>
          </a:prstGeom>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End_slides">
    <p:bg>
      <p:bgPr>
        <a:solidFill>
          <a:srgbClr val="FFFFFF"/>
        </a:solidFill>
        <a:effectLst/>
      </p:bgPr>
    </p:bg>
    <p:spTree>
      <p:nvGrpSpPr>
        <p:cNvPr id="1" name=""/>
        <p:cNvGrpSpPr/>
        <p:nvPr/>
      </p:nvGrpSpPr>
      <p:grpSpPr>
        <a:xfrm>
          <a:off x="0" y="0"/>
          <a:ext cx="0" cy="0"/>
          <a:chOff x="0" y="0"/>
          <a:chExt cx="0" cy="0"/>
        </a:xfrm>
      </p:grpSpPr>
      <p:pic>
        <p:nvPicPr>
          <p:cNvPr id="2" name="Image 0" descr="https://assets.mindshow.fun/themes/purpleyellow_ribbon_20221011/End-bg.svg"/>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9144000" cy="5143500"/>
          </a:xfrm>
          <a:prstGeom prst="rect">
            <a:avLst/>
          </a:prstGeom>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ver_slides">
    <p:bg>
      <p:bgPr>
        <a:solidFill>
          <a:srgbClr val="FFFFFF"/>
        </a:solidFill>
        <a:effectLst/>
      </p:bgPr>
    </p:bg>
    <p:spTree>
      <p:nvGrpSpPr>
        <p:cNvPr id="1" name=""/>
        <p:cNvGrpSpPr/>
        <p:nvPr/>
      </p:nvGrpSpPr>
      <p:grpSpPr>
        <a:xfrm>
          <a:off x="0" y="0"/>
          <a:ext cx="0" cy="0"/>
          <a:chOff x="0" y="0"/>
          <a:chExt cx="0" cy="0"/>
        </a:xfrm>
      </p:grpSpPr>
      <p:pic>
        <p:nvPicPr>
          <p:cNvPr id="2" name="Image 0" descr="https://assets.mindshow.fun/themes/purpleyellow_ribbon_20221011/Cover-bg.svg"/>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9144000" cy="5143500"/>
          </a:xfrm>
          <a:prstGeom prst="rect">
            <a:avLst/>
          </a:prstGeom>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atalog_slides">
    <p:bg>
      <p:bgPr>
        <a:solidFill>
          <a:srgbClr val="FFFFFF"/>
        </a:solidFill>
        <a:effectLst/>
      </p:bgPr>
    </p:bg>
    <p:spTree>
      <p:nvGrpSpPr>
        <p:cNvPr id="1" name=""/>
        <p:cNvGrpSpPr/>
        <p:nvPr/>
      </p:nvGrpSpPr>
      <p:grpSpPr>
        <a:xfrm>
          <a:off x="0" y="0"/>
          <a:ext cx="0" cy="0"/>
          <a:chOff x="0" y="0"/>
          <a:chExt cx="0" cy="0"/>
        </a:xfrm>
      </p:grpSpPr>
      <p:pic>
        <p:nvPicPr>
          <p:cNvPr id="2" name="Image 0" descr="https://assets.mindshow.fun/themes/purpleyellow_ribbon_20221011/Catalog-bg.svg"/>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9144000" cy="5143500"/>
          </a:xfrm>
          <a:prstGeom prst="rect">
            <a:avLst/>
          </a:prstGeom>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Session_slides">
    <p:bg>
      <p:bgPr>
        <a:solidFill>
          <a:srgbClr val="FFFFFF"/>
        </a:solidFill>
        <a:effectLst/>
      </p:bgPr>
    </p:bg>
    <p:spTree>
      <p:nvGrpSpPr>
        <p:cNvPr id="1" name=""/>
        <p:cNvGrpSpPr/>
        <p:nvPr/>
      </p:nvGrpSpPr>
      <p:grpSpPr>
        <a:xfrm>
          <a:off x="0" y="0"/>
          <a:ext cx="0" cy="0"/>
          <a:chOff x="0" y="0"/>
          <a:chExt cx="0" cy="0"/>
        </a:xfrm>
      </p:grpSpPr>
      <p:pic>
        <p:nvPicPr>
          <p:cNvPr id="2" name="Image 0" descr="https://assets.mindshow.fun/themes/purpleyellow_ribbon_20221011/Session-bg.svg"/>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9144000" cy="5143500"/>
          </a:xfrm>
          <a:prstGeom prst="rect">
            <a:avLst/>
          </a:prstGeom>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_slides">
    <p:bg>
      <p:bgPr>
        <a:solidFill>
          <a:srgbClr val="FFFFFF"/>
        </a:solidFill>
        <a:effectLst/>
      </p:bgPr>
    </p:bg>
    <p:spTree>
      <p:nvGrpSpPr>
        <p:cNvPr id="1" name=""/>
        <p:cNvGrpSpPr/>
        <p:nvPr/>
      </p:nvGrpSpPr>
      <p:grpSpPr>
        <a:xfrm>
          <a:off x="0" y="0"/>
          <a:ext cx="0" cy="0"/>
          <a:chOff x="0" y="0"/>
          <a:chExt cx="0" cy="0"/>
        </a:xfrm>
      </p:grpSpPr>
      <p:pic>
        <p:nvPicPr>
          <p:cNvPr id="2" name="Image 0" descr="https://assets.mindshow.fun/themes/purpleyellow_ribbon_20221011/Content-bg.svg"/>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9144000" cy="5143500"/>
          </a:xfrm>
          <a:prstGeom prst="rect">
            <a:avLst/>
          </a:prstGeom>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End_slides">
    <p:bg>
      <p:bgPr>
        <a:solidFill>
          <a:srgbClr val="FFFFFF"/>
        </a:solidFill>
        <a:effectLst/>
      </p:bgPr>
    </p:bg>
    <p:spTree>
      <p:nvGrpSpPr>
        <p:cNvPr id="1" name=""/>
        <p:cNvGrpSpPr/>
        <p:nvPr/>
      </p:nvGrpSpPr>
      <p:grpSpPr>
        <a:xfrm>
          <a:off x="0" y="0"/>
          <a:ext cx="0" cy="0"/>
          <a:chOff x="0" y="0"/>
          <a:chExt cx="0" cy="0"/>
        </a:xfrm>
      </p:grpSpPr>
      <p:pic>
        <p:nvPicPr>
          <p:cNvPr id="2" name="Image 0" descr="https://assets.mindshow.fun/themes/purpleyellow_ribbon_20221011/End-bg.svg"/>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9144000" cy="5143500"/>
          </a:xfrm>
          <a:prstGeom prst="rect">
            <a:avLst/>
          </a:prstGeom>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ver_slides">
    <p:bg>
      <p:bgPr>
        <a:solidFill>
          <a:srgbClr val="FFFFFF"/>
        </a:solidFill>
        <a:effectLst/>
      </p:bgPr>
    </p:bg>
    <p:spTree>
      <p:nvGrpSpPr>
        <p:cNvPr id="1" name=""/>
        <p:cNvGrpSpPr/>
        <p:nvPr/>
      </p:nvGrpSpPr>
      <p:grpSpPr>
        <a:xfrm>
          <a:off x="0" y="0"/>
          <a:ext cx="0" cy="0"/>
          <a:chOff x="0" y="0"/>
          <a:chExt cx="0" cy="0"/>
        </a:xfrm>
      </p:grpSpPr>
      <p:pic>
        <p:nvPicPr>
          <p:cNvPr id="2" name="Image 0" descr="https://assets.mindshow.fun/themes/purpleyellow_ribbon_20221011/Cover-bg.svg"/>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9144000" cy="5143500"/>
          </a:xfrm>
          <a:prstGeom prst="rect">
            <a:avLst/>
          </a:prstGeom>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atalog_slides">
    <p:bg>
      <p:bgPr>
        <a:solidFill>
          <a:srgbClr val="FFFFFF"/>
        </a:solidFill>
        <a:effectLst/>
      </p:bgPr>
    </p:bg>
    <p:spTree>
      <p:nvGrpSpPr>
        <p:cNvPr id="1" name=""/>
        <p:cNvGrpSpPr/>
        <p:nvPr/>
      </p:nvGrpSpPr>
      <p:grpSpPr>
        <a:xfrm>
          <a:off x="0" y="0"/>
          <a:ext cx="0" cy="0"/>
          <a:chOff x="0" y="0"/>
          <a:chExt cx="0" cy="0"/>
        </a:xfrm>
      </p:grpSpPr>
      <p:pic>
        <p:nvPicPr>
          <p:cNvPr id="2" name="Image 0" descr="https://assets.mindshow.fun/themes/purpleyellow_ribbon_20221011/Catalog-bg.svg"/>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9144000" cy="5143500"/>
          </a:xfrm>
          <a:prstGeom prst="rect">
            <a:avLst/>
          </a:prstGeom>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Session_slides">
    <p:bg>
      <p:bgPr>
        <a:solidFill>
          <a:srgbClr val="FFFFFF"/>
        </a:solidFill>
        <a:effectLst/>
      </p:bgPr>
    </p:bg>
    <p:spTree>
      <p:nvGrpSpPr>
        <p:cNvPr id="1" name=""/>
        <p:cNvGrpSpPr/>
        <p:nvPr/>
      </p:nvGrpSpPr>
      <p:grpSpPr>
        <a:xfrm>
          <a:off x="0" y="0"/>
          <a:ext cx="0" cy="0"/>
          <a:chOff x="0" y="0"/>
          <a:chExt cx="0" cy="0"/>
        </a:xfrm>
      </p:grpSpPr>
      <p:pic>
        <p:nvPicPr>
          <p:cNvPr id="2" name="Image 0" descr="https://assets.mindshow.fun/themes/purpleyellow_ribbon_20221011/Session-bg.svg"/>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9144000" cy="5143500"/>
          </a:xfrm>
          <a:prstGeom prst="rect">
            <a:avLst/>
          </a:prstGeom>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_slides">
    <p:bg>
      <p:bgPr>
        <a:solidFill>
          <a:srgbClr val="FFFFFF"/>
        </a:solidFill>
        <a:effectLst/>
      </p:bgPr>
    </p:bg>
    <p:spTree>
      <p:nvGrpSpPr>
        <p:cNvPr id="1" name=""/>
        <p:cNvGrpSpPr/>
        <p:nvPr/>
      </p:nvGrpSpPr>
      <p:grpSpPr>
        <a:xfrm>
          <a:off x="0" y="0"/>
          <a:ext cx="0" cy="0"/>
          <a:chOff x="0" y="0"/>
          <a:chExt cx="0" cy="0"/>
        </a:xfrm>
      </p:grpSpPr>
      <p:pic>
        <p:nvPicPr>
          <p:cNvPr id="2" name="Image 0" descr="https://assets.mindshow.fun/themes/purpleyellow_ribbon_20221011/Content-bg.svg"/>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9144000" cy="5143500"/>
          </a:xfrm>
          <a:prstGeom prst="rect">
            <a:avLst/>
          </a:prstGeom>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End_slides">
    <p:bg>
      <p:bgPr>
        <a:solidFill>
          <a:srgbClr val="FFFFFF"/>
        </a:solidFill>
        <a:effectLst/>
      </p:bgPr>
    </p:bg>
    <p:spTree>
      <p:nvGrpSpPr>
        <p:cNvPr id="1" name=""/>
        <p:cNvGrpSpPr/>
        <p:nvPr/>
      </p:nvGrpSpPr>
      <p:grpSpPr>
        <a:xfrm>
          <a:off x="0" y="0"/>
          <a:ext cx="0" cy="0"/>
          <a:chOff x="0" y="0"/>
          <a:chExt cx="0" cy="0"/>
        </a:xfrm>
      </p:grpSpPr>
      <p:pic>
        <p:nvPicPr>
          <p:cNvPr id="2" name="Image 0" descr="https://assets.mindshow.fun/themes/purpleyellow_ribbon_20221011/End-bg.svg"/>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9144000" cy="51435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9.xml"/><Relationship Id="rId7" Type="http://schemas.openxmlformats.org/officeDocument/2006/relationships/theme" Target="../theme/theme2.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5" Type="http://schemas.openxmlformats.org/officeDocument/2006/relationships/slideLayout" Target="../slideLayouts/slideLayout11.xml"/><Relationship Id="rId4" Type="http://schemas.openxmlformats.org/officeDocument/2006/relationships/slideLayout" Target="../slideLayouts/slideLayout10.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5.xml"/><Relationship Id="rId7" Type="http://schemas.openxmlformats.org/officeDocument/2006/relationships/theme" Target="../theme/theme3.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21.xml"/><Relationship Id="rId7" Type="http://schemas.openxmlformats.org/officeDocument/2006/relationships/theme" Target="../theme/theme4.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5" Type="http://schemas.openxmlformats.org/officeDocument/2006/relationships/slideLayout" Target="../slideLayouts/slideLayout23.xml"/><Relationship Id="rId4" Type="http://schemas.openxmlformats.org/officeDocument/2006/relationships/slideLayout" Target="../slideLayouts/slideLayout22.xml"/></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27.xml"/><Relationship Id="rId7" Type="http://schemas.openxmlformats.org/officeDocument/2006/relationships/theme" Target="../theme/theme5.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5" Type="http://schemas.openxmlformats.org/officeDocument/2006/relationships/slideLayout" Target="../slideLayouts/slideLayout29.xml"/><Relationship Id="rId4"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9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9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6" r:id="rId1"/>
    <p:sldLayoutId id="2147483657" r:id="rId2"/>
    <p:sldLayoutId id="2147483658" r:id="rId3"/>
    <p:sldLayoutId id="2147483659" r:id="rId4"/>
    <p:sldLayoutId id="2147483660" r:id="rId5"/>
    <p:sldLayoutId id="2147483661"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9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9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9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9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9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9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9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9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5.xml"/><Relationship Id="rId1" Type="http://schemas.openxmlformats.org/officeDocument/2006/relationships/tags" Target="../tags/tag2.xml"/><Relationship Id="rId4" Type="http://schemas.openxmlformats.org/officeDocument/2006/relationships/image" Target="../media/image2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5.xml"/><Relationship Id="rId1" Type="http://schemas.openxmlformats.org/officeDocument/2006/relationships/tags" Target="../tags/tag3.xml"/><Relationship Id="rId5" Type="http://schemas.openxmlformats.org/officeDocument/2006/relationships/image" Target="../media/image23.png"/><Relationship Id="rId4" Type="http://schemas.openxmlformats.org/officeDocument/2006/relationships/image" Target="../media/image22.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1.xml"/><Relationship Id="rId1" Type="http://schemas.openxmlformats.org/officeDocument/2006/relationships/tags" Target="../tags/tag4.xml"/><Relationship Id="rId6" Type="http://schemas.openxmlformats.org/officeDocument/2006/relationships/image" Target="../media/image22.png"/><Relationship Id="rId5" Type="http://schemas.openxmlformats.org/officeDocument/2006/relationships/image" Target="../media/image25.png"/><Relationship Id="rId4" Type="http://schemas.openxmlformats.org/officeDocument/2006/relationships/image" Target="../media/image24.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7.xml"/><Relationship Id="rId1" Type="http://schemas.openxmlformats.org/officeDocument/2006/relationships/tags" Target="../tags/tag5.xml"/><Relationship Id="rId5" Type="http://schemas.openxmlformats.org/officeDocument/2006/relationships/image" Target="../media/image22.png"/><Relationship Id="rId4" Type="http://schemas.openxmlformats.org/officeDocument/2006/relationships/image" Target="../media/image24.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7.xml"/><Relationship Id="rId1" Type="http://schemas.openxmlformats.org/officeDocument/2006/relationships/tags" Target="../tags/tag6.xml"/><Relationship Id="rId5" Type="http://schemas.openxmlformats.org/officeDocument/2006/relationships/image" Target="../media/image26.png"/><Relationship Id="rId4" Type="http://schemas.openxmlformats.org/officeDocument/2006/relationships/image" Target="../media/image22.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7.xml"/><Relationship Id="rId1" Type="http://schemas.openxmlformats.org/officeDocument/2006/relationships/tags" Target="../tags/tag7.xml"/><Relationship Id="rId5" Type="http://schemas.openxmlformats.org/officeDocument/2006/relationships/image" Target="../media/image27.png"/><Relationship Id="rId4" Type="http://schemas.openxmlformats.org/officeDocument/2006/relationships/image" Target="../media/image22.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7.xml"/><Relationship Id="rId1" Type="http://schemas.openxmlformats.org/officeDocument/2006/relationships/tags" Target="../tags/tag8.xml"/><Relationship Id="rId5" Type="http://schemas.openxmlformats.org/officeDocument/2006/relationships/image" Target="../media/image28.png"/><Relationship Id="rId4" Type="http://schemas.openxmlformats.org/officeDocument/2006/relationships/image" Target="../media/image22.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7.xml"/><Relationship Id="rId1" Type="http://schemas.openxmlformats.org/officeDocument/2006/relationships/tags" Target="../tags/tag9.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2.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7.xml"/><Relationship Id="rId1" Type="http://schemas.openxmlformats.org/officeDocument/2006/relationships/tags" Target="../tags/tag10.xml"/><Relationship Id="rId5" Type="http://schemas.openxmlformats.org/officeDocument/2006/relationships/image" Target="../media/image31.png"/><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7.xml"/><Relationship Id="rId1" Type="http://schemas.openxmlformats.org/officeDocument/2006/relationships/tags" Target="../tags/tag11.xml"/><Relationship Id="rId5" Type="http://schemas.openxmlformats.org/officeDocument/2006/relationships/image" Target="../media/image32.png"/><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7.xml"/><Relationship Id="rId1" Type="http://schemas.openxmlformats.org/officeDocument/2006/relationships/tags" Target="../tags/tag12.xml"/><Relationship Id="rId5" Type="http://schemas.openxmlformats.org/officeDocument/2006/relationships/image" Target="../media/image33.png"/><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7.xml"/><Relationship Id="rId1" Type="http://schemas.openxmlformats.org/officeDocument/2006/relationships/tags" Target="../tags/tag13.xml"/><Relationship Id="rId5" Type="http://schemas.openxmlformats.org/officeDocument/2006/relationships/image" Target="../media/image34.png"/><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7.xml"/><Relationship Id="rId1" Type="http://schemas.openxmlformats.org/officeDocument/2006/relationships/tags" Target="../tags/tag14.xml"/><Relationship Id="rId5" Type="http://schemas.openxmlformats.org/officeDocument/2006/relationships/image" Target="../media/image35.png"/><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7.xml"/><Relationship Id="rId1" Type="http://schemas.openxmlformats.org/officeDocument/2006/relationships/tags" Target="../tags/tag15.xml"/><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7.xml"/><Relationship Id="rId1" Type="http://schemas.openxmlformats.org/officeDocument/2006/relationships/tags" Target="../tags/tag16.xml"/><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9.xml"/><Relationship Id="rId1" Type="http://schemas.openxmlformats.org/officeDocument/2006/relationships/tags" Target="../tags/tag17.xml"/><Relationship Id="rId5" Type="http://schemas.openxmlformats.org/officeDocument/2006/relationships/image" Target="../media/image36.png"/><Relationship Id="rId4" Type="http://schemas.openxmlformats.org/officeDocument/2006/relationships/image" Target="../media/image22.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3.xml"/><Relationship Id="rId1" Type="http://schemas.openxmlformats.org/officeDocument/2006/relationships/tags" Target="../tags/tag18.xml"/><Relationship Id="rId5" Type="http://schemas.openxmlformats.org/officeDocument/2006/relationships/image" Target="../media/image37.png"/><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6.xml"/><Relationship Id="rId1" Type="http://schemas.openxmlformats.org/officeDocument/2006/relationships/tags" Target="../tags/tag19.xml"/><Relationship Id="rId4"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930275" y="1090295"/>
            <a:ext cx="7333615" cy="1333500"/>
          </a:xfrm>
          <a:prstGeom prst="rect">
            <a:avLst/>
          </a:prstGeom>
          <a:noFill/>
        </p:spPr>
        <p:txBody>
          <a:bodyPr wrap="square" rtlCol="0" anchor="b"/>
          <a:lstStyle/>
          <a:p>
            <a:pPr marL="0" indent="0" algn="ctr">
              <a:buNone/>
            </a:pPr>
            <a:r>
              <a:rPr lang="en-US" sz="2750" b="1" dirty="0">
                <a:solidFill>
                  <a:srgbClr val="2E0158"/>
                </a:solidFill>
                <a:latin typeface="Times New Roman" panose="02020503050405090304" charset="0"/>
                <a:ea typeface="Times New Roman" panose="02020503050405090304" charset="0"/>
                <a:cs typeface="Times New Roman" panose="02020503050405090304" charset="0"/>
              </a:rPr>
              <a:t>CSC 1004: Tutorial 8 </a:t>
            </a:r>
          </a:p>
          <a:p>
            <a:pPr marL="0" indent="0" algn="ctr">
              <a:buNone/>
            </a:pPr>
            <a:r>
              <a:rPr lang="en-US" sz="2750" b="1" dirty="0">
                <a:solidFill>
                  <a:srgbClr val="2E0158"/>
                </a:solidFill>
                <a:latin typeface="Times New Roman" panose="02020503050405090304" charset="0"/>
                <a:ea typeface="Times New Roman" panose="02020503050405090304" charset="0"/>
                <a:cs typeface="Times New Roman" panose="02020503050405090304" charset="0"/>
                <a:sym typeface="+mn-ea"/>
              </a:rPr>
              <a:t>Introduction of </a:t>
            </a:r>
            <a:r>
              <a:rPr lang="en-US" sz="2750" b="1" dirty="0">
                <a:solidFill>
                  <a:srgbClr val="2E0158"/>
                </a:solidFill>
                <a:latin typeface="Times New Roman" panose="02020503050405090304" charset="0"/>
                <a:ea typeface="Times New Roman" panose="02020503050405090304" charset="0"/>
                <a:cs typeface="Times New Roman" panose="02020503050405090304" charset="0"/>
              </a:rPr>
              <a:t>Snake Game and</a:t>
            </a:r>
          </a:p>
          <a:p>
            <a:pPr marL="0" indent="0" algn="ctr">
              <a:buNone/>
            </a:pPr>
            <a:r>
              <a:rPr lang="en-US" sz="2750" b="1" dirty="0">
                <a:solidFill>
                  <a:srgbClr val="2E0158"/>
                </a:solidFill>
                <a:latin typeface="Times New Roman" panose="02020503050405090304" charset="0"/>
                <a:ea typeface="Times New Roman" panose="02020503050405090304" charset="0"/>
                <a:cs typeface="Times New Roman" panose="02020503050405090304" charset="0"/>
              </a:rPr>
              <a:t>Python Tkinter</a:t>
            </a:r>
          </a:p>
        </p:txBody>
      </p:sp>
      <p:sp>
        <p:nvSpPr>
          <p:cNvPr id="3" name="Text 1"/>
          <p:cNvSpPr/>
          <p:nvPr/>
        </p:nvSpPr>
        <p:spPr>
          <a:xfrm>
            <a:off x="1536065" y="2717800"/>
            <a:ext cx="6106160" cy="899795"/>
          </a:xfrm>
          <a:prstGeom prst="rect">
            <a:avLst/>
          </a:prstGeom>
          <a:noFill/>
        </p:spPr>
        <p:txBody>
          <a:bodyPr wrap="square" rtlCol="0" anchor="t"/>
          <a:lstStyle/>
          <a:p>
            <a:pPr marL="0" indent="0" algn="ctr">
              <a:buNone/>
            </a:pPr>
            <a:r>
              <a:rPr lang="en-US" sz="2400" dirty="0">
                <a:solidFill>
                  <a:srgbClr val="646464"/>
                </a:solidFill>
                <a:latin typeface="Times New Roman" panose="02020503050405090304" charset="0"/>
                <a:ea typeface="Times New Roman" panose="02020503050405090304" charset="0"/>
                <a:cs typeface="Times New Roman" panose="02020503050405090304" charset="0"/>
              </a:rPr>
              <a:t> Bo Yue</a:t>
            </a:r>
            <a:endParaRPr lang="en-US" sz="2000" dirty="0">
              <a:solidFill>
                <a:srgbClr val="646464"/>
              </a:solidFill>
              <a:latin typeface="Times New Roman" panose="02020503050405090304" charset="0"/>
              <a:ea typeface="Times New Roman" panose="02020503050405090304" charset="0"/>
              <a:cs typeface="Times New Roman" panose="02020503050405090304" charset="0"/>
            </a:endParaRPr>
          </a:p>
          <a:p>
            <a:pPr marL="0" indent="0" algn="ctr">
              <a:buNone/>
            </a:pPr>
            <a:r>
              <a:rPr lang="en-US" sz="2000" dirty="0">
                <a:solidFill>
                  <a:srgbClr val="646464"/>
                </a:solidFill>
                <a:latin typeface="Times New Roman" panose="02020503050405090304" charset="0"/>
                <a:ea typeface="Times New Roman" panose="02020503050405090304" charset="0"/>
                <a:cs typeface="Times New Roman" panose="02020503050405090304" charset="0"/>
              </a:rPr>
              <a:t>SDS, CUHK-SZ</a:t>
            </a:r>
          </a:p>
        </p:txBody>
      </p:sp>
      <p:pic>
        <p:nvPicPr>
          <p:cNvPr id="7" name="图片 6" descr="zh-hans_logo"/>
          <p:cNvPicPr>
            <a:picLocks noChangeAspect="1"/>
          </p:cNvPicPr>
          <p:nvPr/>
        </p:nvPicPr>
        <p:blipFill>
          <a:blip r:embed="rId3"/>
          <a:stretch>
            <a:fillRect/>
          </a:stretch>
        </p:blipFill>
        <p:spPr>
          <a:xfrm>
            <a:off x="0" y="85090"/>
            <a:ext cx="4361180" cy="62547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62000" y="825818"/>
            <a:ext cx="8135303" cy="552450"/>
          </a:xfrm>
          <a:prstGeom prst="rect">
            <a:avLst/>
          </a:prstGeom>
          <a:noFill/>
        </p:spPr>
        <p:txBody>
          <a:bodyPr wrap="square" rtlCol="0" anchor="ctr"/>
          <a:lstStyle/>
          <a:p>
            <a:pPr marL="0" indent="0">
              <a:buNone/>
            </a:pPr>
            <a:r>
              <a:rPr lang="en-US" sz="2400" b="1" dirty="0">
                <a:latin typeface="Times New Roman" panose="02020503050405090304" charset="0"/>
                <a:cs typeface="Times New Roman" panose="02020503050405090304" charset="0"/>
              </a:rPr>
              <a:t>Basic Function</a:t>
            </a:r>
          </a:p>
        </p:txBody>
      </p:sp>
      <p:sp>
        <p:nvSpPr>
          <p:cNvPr id="3" name="Text 1"/>
          <p:cNvSpPr/>
          <p:nvPr/>
        </p:nvSpPr>
        <p:spPr>
          <a:xfrm>
            <a:off x="762000" y="1320800"/>
            <a:ext cx="7937500" cy="3395980"/>
          </a:xfrm>
          <a:prstGeom prst="rect">
            <a:avLst/>
          </a:prstGeom>
          <a:noFill/>
        </p:spPr>
        <p:txBody>
          <a:bodyPr wrap="square" rtlCol="0" anchor="t"/>
          <a:lstStyle/>
          <a:p>
            <a:pPr marL="342900" indent="-342900" algn="l">
              <a:lnSpc>
                <a:spcPct val="150000"/>
              </a:lnSpc>
              <a:buSzPct val="100000"/>
              <a:buChar char="•"/>
            </a:pPr>
            <a:r>
              <a:rPr lang="en-US" sz="1200" dirty="0"/>
              <a:t>The player's goal is to control a snake to </a:t>
            </a:r>
            <a:r>
              <a:rPr lang="en-US" sz="1200" dirty="0">
                <a:highlight>
                  <a:srgbClr val="FFFF00"/>
                </a:highlight>
              </a:rPr>
              <a:t>eat as much food as possible</a:t>
            </a:r>
            <a:r>
              <a:rPr lang="en-US" sz="1200" dirty="0"/>
              <a:t>, causing the snake to grow longer </a:t>
            </a:r>
            <a:r>
              <a:rPr lang="en-US" altLang="zh-CN" sz="1200" dirty="0"/>
              <a:t>and learning a higher score</a:t>
            </a:r>
            <a:r>
              <a:rPr lang="en-US" sz="1200" dirty="0"/>
              <a:t>.</a:t>
            </a:r>
          </a:p>
          <a:p>
            <a:pPr marL="342900" indent="-342900" algn="l">
              <a:lnSpc>
                <a:spcPct val="150000"/>
              </a:lnSpc>
              <a:buSzPct val="100000"/>
              <a:buChar char="•"/>
            </a:pPr>
            <a:r>
              <a:rPr lang="en-US" altLang="zh-CN" sz="1200" dirty="0"/>
              <a:t>The snake continuously moves forward, and the player can </a:t>
            </a:r>
            <a:r>
              <a:rPr lang="en-US" altLang="zh-CN" sz="1200" i="1" u="sng" dirty="0"/>
              <a:t>control its direction</a:t>
            </a:r>
            <a:r>
              <a:rPr lang="en-US" altLang="zh-CN" sz="1200" dirty="0"/>
              <a:t> to find food at a fixed speed.</a:t>
            </a:r>
          </a:p>
          <a:p>
            <a:pPr marL="342900" indent="-342900" algn="l">
              <a:lnSpc>
                <a:spcPct val="150000"/>
              </a:lnSpc>
              <a:buSzPct val="100000"/>
              <a:buChar char="•"/>
            </a:pPr>
            <a:r>
              <a:rPr lang="en-US" altLang="zh-CN" sz="1200" i="1" u="sng" dirty="0"/>
              <a:t>Food items randomly appear on the game board</a:t>
            </a:r>
            <a:r>
              <a:rPr lang="en-US" altLang="zh-CN" sz="1200" dirty="0"/>
              <a:t>, typically represented as small dots or icons. The snake must consume these food items to increase its length and score. Once the snake eats the food, new food appears at another location on the map.</a:t>
            </a:r>
          </a:p>
          <a:p>
            <a:pPr marL="342900" indent="-342900" algn="l">
              <a:lnSpc>
                <a:spcPct val="150000"/>
              </a:lnSpc>
              <a:buSzPct val="100000"/>
              <a:buChar char="•"/>
            </a:pPr>
            <a:r>
              <a:rPr lang="en-US" altLang="zh-CN" sz="1200" dirty="0"/>
              <a:t>There should be </a:t>
            </a:r>
            <a:r>
              <a:rPr lang="en-US" altLang="zh-CN" sz="1200" i="1" u="sng" dirty="0"/>
              <a:t>two types of foods</a:t>
            </a:r>
            <a:r>
              <a:rPr lang="en-US" altLang="zh-CN" sz="1200" dirty="0"/>
              <a:t>. Each food corresponds to a different increasing of the snake's length. Every time the snake consumes food, its length increases either one or two units.</a:t>
            </a:r>
          </a:p>
          <a:p>
            <a:pPr marL="342900" indent="-342900" algn="l">
              <a:lnSpc>
                <a:spcPct val="150000"/>
              </a:lnSpc>
              <a:buSzPct val="100000"/>
              <a:buChar char="•"/>
            </a:pPr>
            <a:r>
              <a:rPr lang="en-US" altLang="zh-CN" sz="1200" dirty="0"/>
              <a:t>The game </a:t>
            </a:r>
            <a:r>
              <a:rPr lang="en-US" altLang="zh-CN" sz="1200" i="1" u="sng" dirty="0"/>
              <a:t>ends</a:t>
            </a:r>
            <a:r>
              <a:rPr lang="en-US" altLang="zh-CN" sz="1200" dirty="0"/>
              <a:t> under the following conditions: 1) The snake collides with the boundaries of the game area. 2) The snake collides with its own body, essentially running into itself. 3) The snake reaches its maximum length (8 units).</a:t>
            </a:r>
          </a:p>
        </p:txBody>
      </p:sp>
      <p:pic>
        <p:nvPicPr>
          <p:cNvPr id="7" name="图片 6" descr="zh-hans_logo"/>
          <p:cNvPicPr>
            <a:picLocks noChangeAspect="1"/>
          </p:cNvPicPr>
          <p:nvPr>
            <p:custDataLst>
              <p:tags r:id="rId1"/>
            </p:custDataLst>
          </p:nvPr>
        </p:nvPicPr>
        <p:blipFill>
          <a:blip r:embed="rId4"/>
          <a:stretch>
            <a:fillRect/>
          </a:stretch>
        </p:blipFill>
        <p:spPr>
          <a:xfrm>
            <a:off x="0" y="85090"/>
            <a:ext cx="4361180" cy="62547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62000" y="828993"/>
            <a:ext cx="8135303" cy="552450"/>
          </a:xfrm>
          <a:prstGeom prst="rect">
            <a:avLst/>
          </a:prstGeom>
          <a:noFill/>
        </p:spPr>
        <p:txBody>
          <a:bodyPr wrap="square" rtlCol="0" anchor="ctr"/>
          <a:lstStyle/>
          <a:p>
            <a:pPr marL="0" indent="0">
              <a:buNone/>
            </a:pPr>
            <a:r>
              <a:rPr lang="en-US" sz="2400" b="1" dirty="0">
                <a:solidFill>
                  <a:srgbClr val="2E0158"/>
                </a:solidFill>
                <a:latin typeface="Times New Roman" panose="02020503050405090304" charset="0"/>
                <a:ea typeface="Times New Roman" panose="02020503050405090304" charset="0"/>
                <a:cs typeface="Times New Roman" panose="02020503050405090304" charset="0"/>
              </a:rPr>
              <a:t>Advanced Function</a:t>
            </a:r>
            <a:endParaRPr lang="en-US" sz="2400" dirty="0"/>
          </a:p>
        </p:txBody>
      </p:sp>
      <p:sp>
        <p:nvSpPr>
          <p:cNvPr id="3" name="Text 1"/>
          <p:cNvSpPr/>
          <p:nvPr/>
        </p:nvSpPr>
        <p:spPr>
          <a:xfrm>
            <a:off x="762000" y="1500505"/>
            <a:ext cx="7715250" cy="3286125"/>
          </a:xfrm>
          <a:prstGeom prst="rect">
            <a:avLst/>
          </a:prstGeom>
          <a:noFill/>
        </p:spPr>
        <p:txBody>
          <a:bodyPr wrap="square" rtlCol="0" anchor="t"/>
          <a:lstStyle/>
          <a:p>
            <a:pPr marL="342900" indent="-342900" algn="l">
              <a:lnSpc>
                <a:spcPct val="150000"/>
              </a:lnSpc>
              <a:buSzPct val="100000"/>
              <a:buChar char="•"/>
            </a:pPr>
            <a:r>
              <a:rPr lang="en-US" sz="1470" dirty="0"/>
              <a:t>Different Effects of Food</a:t>
            </a:r>
          </a:p>
          <a:p>
            <a:pPr marL="342900" indent="-342900" algn="l">
              <a:lnSpc>
                <a:spcPct val="150000"/>
              </a:lnSpc>
              <a:buSzPct val="100000"/>
              <a:buChar char="•"/>
            </a:pPr>
            <a:r>
              <a:rPr lang="en-US" sz="1470" dirty="0"/>
              <a:t>Adding Obstacles</a:t>
            </a:r>
          </a:p>
          <a:p>
            <a:pPr marL="342900" indent="-342900" algn="l">
              <a:lnSpc>
                <a:spcPct val="150000"/>
              </a:lnSpc>
              <a:buSzPct val="100000"/>
              <a:buChar char="•"/>
            </a:pPr>
            <a:r>
              <a:rPr lang="en-US" sz="1470" dirty="0"/>
              <a:t>Adding score function</a:t>
            </a:r>
            <a:endParaRPr lang="en-US" sz="1470" dirty="0">
              <a:sym typeface="+mn-ea"/>
            </a:endParaRPr>
          </a:p>
          <a:p>
            <a:pPr marL="342900" indent="-342900" algn="l">
              <a:lnSpc>
                <a:spcPct val="150000"/>
              </a:lnSpc>
              <a:buSzPct val="100000"/>
              <a:buChar char="•"/>
            </a:pPr>
            <a:r>
              <a:rPr lang="en-US" sz="1470" dirty="0"/>
              <a:t>Multi-Level Challenges</a:t>
            </a:r>
          </a:p>
          <a:p>
            <a:pPr marL="342900" indent="-342900" algn="l">
              <a:lnSpc>
                <a:spcPct val="150000"/>
              </a:lnSpc>
              <a:buSzPct val="100000"/>
              <a:buChar char="•"/>
            </a:pPr>
            <a:r>
              <a:rPr lang="en-US" sz="1470" dirty="0"/>
              <a:t>Dynamic velocity</a:t>
            </a:r>
          </a:p>
          <a:p>
            <a:pPr marL="342900" indent="-342900" algn="l">
              <a:lnSpc>
                <a:spcPct val="150000"/>
              </a:lnSpc>
              <a:buSzPct val="100000"/>
              <a:buChar char="•"/>
            </a:pPr>
            <a:r>
              <a:rPr lang="en-US" sz="1470" dirty="0"/>
              <a:t>Adding start menu</a:t>
            </a:r>
          </a:p>
          <a:p>
            <a:pPr marL="342900" indent="-342900" algn="l">
              <a:lnSpc>
                <a:spcPct val="150000"/>
              </a:lnSpc>
              <a:buSzPct val="100000"/>
              <a:buChar char="•"/>
            </a:pPr>
            <a:r>
              <a:rPr lang="en-US" sz="2400" dirty="0"/>
              <a:t>More exploration ...</a:t>
            </a:r>
          </a:p>
        </p:txBody>
      </p:sp>
      <p:pic>
        <p:nvPicPr>
          <p:cNvPr id="7" name="图片 6" descr="zh-hans_logo"/>
          <p:cNvPicPr>
            <a:picLocks noChangeAspect="1"/>
          </p:cNvPicPr>
          <p:nvPr>
            <p:custDataLst>
              <p:tags r:id="rId1"/>
            </p:custDataLst>
          </p:nvPr>
        </p:nvPicPr>
        <p:blipFill>
          <a:blip r:embed="rId4"/>
          <a:stretch>
            <a:fillRect/>
          </a:stretch>
        </p:blipFill>
        <p:spPr>
          <a:xfrm>
            <a:off x="0" y="85090"/>
            <a:ext cx="4361180" cy="625475"/>
          </a:xfrm>
          <a:prstGeom prst="rect">
            <a:avLst/>
          </a:prstGeom>
        </p:spPr>
      </p:pic>
      <p:pic>
        <p:nvPicPr>
          <p:cNvPr id="4" name="图片 3"/>
          <p:cNvPicPr>
            <a:picLocks noChangeAspect="1"/>
          </p:cNvPicPr>
          <p:nvPr/>
        </p:nvPicPr>
        <p:blipFill>
          <a:blip r:embed="rId5"/>
          <a:stretch>
            <a:fillRect/>
          </a:stretch>
        </p:blipFill>
        <p:spPr>
          <a:xfrm>
            <a:off x="4201795" y="767715"/>
            <a:ext cx="3835400" cy="388874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4"/>
          <a:stretch>
            <a:fillRect/>
          </a:stretch>
        </a:blipFill>
        <a:effectLst/>
      </p:bgPr>
    </p:bg>
    <p:spTree>
      <p:nvGrpSpPr>
        <p:cNvPr id="1" name=""/>
        <p:cNvGrpSpPr/>
        <p:nvPr/>
      </p:nvGrpSpPr>
      <p:grpSpPr>
        <a:xfrm>
          <a:off x="0" y="0"/>
          <a:ext cx="0" cy="0"/>
          <a:chOff x="0" y="0"/>
          <a:chExt cx="0" cy="0"/>
        </a:xfrm>
      </p:grpSpPr>
      <p:pic>
        <p:nvPicPr>
          <p:cNvPr id="6" name="图片 5" descr="more_enhanced_snake_game_flowchart"/>
          <p:cNvPicPr>
            <a:picLocks noChangeAspect="1"/>
          </p:cNvPicPr>
          <p:nvPr/>
        </p:nvPicPr>
        <p:blipFill>
          <a:blip r:embed="rId5"/>
          <a:srcRect l="12310" t="24313" r="9391" b="11190"/>
          <a:stretch>
            <a:fillRect/>
          </a:stretch>
        </p:blipFill>
        <p:spPr>
          <a:xfrm>
            <a:off x="1945640" y="710565"/>
            <a:ext cx="6681470" cy="3882390"/>
          </a:xfrm>
          <a:prstGeom prst="rect">
            <a:avLst/>
          </a:prstGeom>
        </p:spPr>
      </p:pic>
      <p:sp>
        <p:nvSpPr>
          <p:cNvPr id="2" name="Text 0"/>
          <p:cNvSpPr/>
          <p:nvPr/>
        </p:nvSpPr>
        <p:spPr>
          <a:xfrm>
            <a:off x="468630" y="836295"/>
            <a:ext cx="2964180" cy="552450"/>
          </a:xfrm>
          <a:prstGeom prst="rect">
            <a:avLst/>
          </a:prstGeom>
          <a:noFill/>
        </p:spPr>
        <p:txBody>
          <a:bodyPr wrap="square" rtlCol="0" anchor="ctr"/>
          <a:lstStyle/>
          <a:p>
            <a:pPr marL="0" indent="0">
              <a:buNone/>
            </a:pPr>
            <a:r>
              <a:rPr lang="en-US" sz="2400" b="1" dirty="0">
                <a:solidFill>
                  <a:srgbClr val="2E0158"/>
                </a:solidFill>
                <a:latin typeface="Times New Roman" panose="02020503050405090304" charset="0"/>
                <a:ea typeface="Times New Roman" panose="02020503050405090304" charset="0"/>
                <a:cs typeface="Times New Roman" panose="02020503050405090304" charset="0"/>
              </a:rPr>
              <a:t>Project Logic Chain</a:t>
            </a:r>
            <a:endParaRPr lang="en-US" sz="2400" dirty="0"/>
          </a:p>
        </p:txBody>
      </p:sp>
      <p:sp>
        <p:nvSpPr>
          <p:cNvPr id="3" name="Text 1"/>
          <p:cNvSpPr/>
          <p:nvPr/>
        </p:nvSpPr>
        <p:spPr>
          <a:xfrm>
            <a:off x="762000" y="1513840"/>
            <a:ext cx="7715250" cy="3400425"/>
          </a:xfrm>
          <a:prstGeom prst="rect">
            <a:avLst/>
          </a:prstGeom>
          <a:noFill/>
        </p:spPr>
        <p:txBody>
          <a:bodyPr wrap="square" rtlCol="0" anchor="t"/>
          <a:lstStyle/>
          <a:p>
            <a:pPr marL="342900" indent="-342900" algn="l">
              <a:lnSpc>
                <a:spcPct val="150000"/>
              </a:lnSpc>
              <a:buSzPct val="100000"/>
              <a:buChar char="•"/>
            </a:pPr>
            <a:endParaRPr lang="en-US" sz="1600" dirty="0">
              <a:solidFill>
                <a:schemeClr val="tx1"/>
              </a:solidFill>
              <a:latin typeface="Times New Roman" panose="02020503050405090304" charset="0"/>
              <a:ea typeface="Times New Roman" panose="02020503050405090304" charset="0"/>
              <a:cs typeface="Times New Roman" panose="02020503050405090304" charset="0"/>
            </a:endParaRPr>
          </a:p>
        </p:txBody>
      </p:sp>
      <p:pic>
        <p:nvPicPr>
          <p:cNvPr id="7" name="图片 6" descr="zh-hans_logo"/>
          <p:cNvPicPr>
            <a:picLocks noChangeAspect="1"/>
          </p:cNvPicPr>
          <p:nvPr>
            <p:custDataLst>
              <p:tags r:id="rId1"/>
            </p:custDataLst>
          </p:nvPr>
        </p:nvPicPr>
        <p:blipFill>
          <a:blip r:embed="rId6"/>
          <a:stretch>
            <a:fillRect/>
          </a:stretch>
        </p:blipFill>
        <p:spPr>
          <a:xfrm>
            <a:off x="0" y="85090"/>
            <a:ext cx="4361180" cy="62547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4"/>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708025" y="555943"/>
            <a:ext cx="8135303" cy="552450"/>
          </a:xfrm>
          <a:prstGeom prst="rect">
            <a:avLst/>
          </a:prstGeom>
          <a:noFill/>
        </p:spPr>
        <p:txBody>
          <a:bodyPr wrap="square" rtlCol="0" anchor="ctr"/>
          <a:lstStyle/>
          <a:p>
            <a:pPr marL="0" indent="0">
              <a:buNone/>
            </a:pPr>
            <a:r>
              <a:rPr lang="en-US" sz="2400" b="1" dirty="0">
                <a:solidFill>
                  <a:srgbClr val="2E0158"/>
                </a:solidFill>
                <a:latin typeface="Times New Roman" panose="02020503050405090304" charset="0"/>
                <a:ea typeface="Times New Roman" panose="02020503050405090304" charset="0"/>
                <a:cs typeface="Times New Roman" panose="02020503050405090304" charset="0"/>
              </a:rPr>
              <a:t>project code framework</a:t>
            </a:r>
            <a:endParaRPr lang="en-US" sz="2400" dirty="0"/>
          </a:p>
        </p:txBody>
      </p:sp>
      <p:sp>
        <p:nvSpPr>
          <p:cNvPr id="3" name="Text 1"/>
          <p:cNvSpPr/>
          <p:nvPr/>
        </p:nvSpPr>
        <p:spPr>
          <a:xfrm>
            <a:off x="762000" y="1513840"/>
            <a:ext cx="7715250" cy="3400425"/>
          </a:xfrm>
          <a:prstGeom prst="rect">
            <a:avLst/>
          </a:prstGeom>
          <a:noFill/>
        </p:spPr>
        <p:txBody>
          <a:bodyPr wrap="square" rtlCol="0" anchor="t"/>
          <a:lstStyle/>
          <a:p>
            <a:pPr marL="342900" indent="-342900" algn="l">
              <a:lnSpc>
                <a:spcPct val="150000"/>
              </a:lnSpc>
              <a:buSzPct val="100000"/>
              <a:buChar char="•"/>
            </a:pPr>
            <a:endParaRPr lang="en-US" sz="1600" dirty="0">
              <a:solidFill>
                <a:schemeClr val="tx1"/>
              </a:solidFill>
              <a:latin typeface="Times New Roman" panose="02020503050405090304" charset="0"/>
              <a:ea typeface="Times New Roman" panose="02020503050405090304" charset="0"/>
              <a:cs typeface="Times New Roman" panose="02020503050405090304" charset="0"/>
            </a:endParaRPr>
          </a:p>
        </p:txBody>
      </p:sp>
      <p:pic>
        <p:nvPicPr>
          <p:cNvPr id="7" name="图片 6" descr="zh-hans_logo"/>
          <p:cNvPicPr>
            <a:picLocks noChangeAspect="1"/>
          </p:cNvPicPr>
          <p:nvPr>
            <p:custDataLst>
              <p:tags r:id="rId1"/>
            </p:custDataLst>
          </p:nvPr>
        </p:nvPicPr>
        <p:blipFill>
          <a:blip r:embed="rId5"/>
          <a:stretch>
            <a:fillRect/>
          </a:stretch>
        </p:blipFill>
        <p:spPr>
          <a:xfrm>
            <a:off x="0" y="85090"/>
            <a:ext cx="4361180" cy="625475"/>
          </a:xfrm>
          <a:prstGeom prst="rect">
            <a:avLst/>
          </a:prstGeom>
        </p:spPr>
      </p:pic>
      <p:sp>
        <p:nvSpPr>
          <p:cNvPr id="17" name="文本框 16"/>
          <p:cNvSpPr txBox="1"/>
          <p:nvPr/>
        </p:nvSpPr>
        <p:spPr>
          <a:xfrm>
            <a:off x="64135" y="1856105"/>
            <a:ext cx="2859405" cy="737235"/>
          </a:xfrm>
          <a:prstGeom prst="rect">
            <a:avLst/>
          </a:prstGeom>
          <a:noFill/>
          <a:ln w="25400">
            <a:solidFill>
              <a:schemeClr val="accent1"/>
            </a:solidFill>
          </a:ln>
        </p:spPr>
        <p:txBody>
          <a:bodyPr wrap="square" rtlCol="0" anchor="t">
            <a:spAutoFit/>
          </a:bodyPr>
          <a:lstStyle/>
          <a:p>
            <a:r>
              <a:rPr lang="zh-CN" altLang="en-US" sz="1400"/>
              <a:t>if __name__ == "__main__":</a:t>
            </a:r>
          </a:p>
          <a:p>
            <a:r>
              <a:rPr lang="zh-CN" altLang="en-US" sz="1400"/>
              <a:t>    game = SnakeGame()</a:t>
            </a:r>
          </a:p>
          <a:p>
            <a:r>
              <a:rPr lang="zh-CN" altLang="en-US" sz="1400"/>
              <a:t>    game.mainloop()</a:t>
            </a:r>
          </a:p>
        </p:txBody>
      </p:sp>
      <p:sp>
        <p:nvSpPr>
          <p:cNvPr id="19" name="文本框 18"/>
          <p:cNvSpPr txBox="1"/>
          <p:nvPr/>
        </p:nvSpPr>
        <p:spPr>
          <a:xfrm>
            <a:off x="817245" y="2109470"/>
            <a:ext cx="1296670" cy="230505"/>
          </a:xfrm>
          <a:prstGeom prst="rect">
            <a:avLst/>
          </a:prstGeom>
          <a:noFill/>
          <a:ln w="25400">
            <a:solidFill>
              <a:srgbClr val="FF0000"/>
            </a:solidFill>
          </a:ln>
        </p:spPr>
        <p:txBody>
          <a:bodyPr wrap="square" rtlCol="0">
            <a:noAutofit/>
          </a:bodyPr>
          <a:lstStyle/>
          <a:p>
            <a:endParaRPr lang="zh-CN" altLang="en-US"/>
          </a:p>
        </p:txBody>
      </p:sp>
      <p:sp>
        <p:nvSpPr>
          <p:cNvPr id="20" name="文本框 19"/>
          <p:cNvSpPr txBox="1"/>
          <p:nvPr/>
        </p:nvSpPr>
        <p:spPr>
          <a:xfrm>
            <a:off x="322580" y="2814320"/>
            <a:ext cx="2567940" cy="2030095"/>
          </a:xfrm>
          <a:prstGeom prst="rect">
            <a:avLst/>
          </a:prstGeom>
          <a:noFill/>
          <a:ln w="25400">
            <a:solidFill>
              <a:schemeClr val="accent1"/>
            </a:solidFill>
          </a:ln>
        </p:spPr>
        <p:txBody>
          <a:bodyPr wrap="square" rtlCol="0" anchor="t">
            <a:spAutoFit/>
          </a:bodyPr>
          <a:lstStyle/>
          <a:p>
            <a:r>
              <a:rPr lang="zh-CN" altLang="en-US" sz="1400"/>
              <a:t>class SnakeGame(tk.Tk):</a:t>
            </a:r>
          </a:p>
          <a:p>
            <a:r>
              <a:rPr lang="zh-CN" altLang="en-US" sz="1400"/>
              <a:t>    def __init__(self):</a:t>
            </a:r>
          </a:p>
          <a:p>
            <a:r>
              <a:rPr lang="zh-CN" altLang="en-US" sz="1400"/>
              <a:t>        super().__init__()</a:t>
            </a:r>
          </a:p>
          <a:p>
            <a:r>
              <a:rPr lang="zh-CN" altLang="en-US" sz="1400"/>
              <a:t>        self.title("Snake Game")</a:t>
            </a:r>
          </a:p>
          <a:p>
            <a:r>
              <a:rPr lang="zh-CN" altLang="en-US" sz="1400"/>
              <a:t>        self.geometry("800x800")</a:t>
            </a:r>
          </a:p>
          <a:p>
            <a:r>
              <a:rPr lang="zh-CN" altLang="en-US" sz="1400"/>
              <a:t>        self.resizable(False, False)</a:t>
            </a:r>
          </a:p>
          <a:p>
            <a:r>
              <a:rPr lang="en-US" altLang="zh-CN" sz="1400"/>
              <a:t>        ...</a:t>
            </a:r>
            <a:endParaRPr lang="zh-CN" altLang="en-US" sz="1400"/>
          </a:p>
          <a:p>
            <a:r>
              <a:rPr lang="zh-CN" altLang="en-US" sz="1400"/>
              <a:t>        self.start_game()</a:t>
            </a:r>
          </a:p>
        </p:txBody>
      </p:sp>
      <p:sp>
        <p:nvSpPr>
          <p:cNvPr id="21" name="文本框 20"/>
          <p:cNvSpPr txBox="1"/>
          <p:nvPr/>
        </p:nvSpPr>
        <p:spPr>
          <a:xfrm>
            <a:off x="817245" y="4559935"/>
            <a:ext cx="1296670" cy="230505"/>
          </a:xfrm>
          <a:prstGeom prst="rect">
            <a:avLst/>
          </a:prstGeom>
          <a:noFill/>
          <a:ln w="25400">
            <a:solidFill>
              <a:srgbClr val="FF0000"/>
            </a:solidFill>
          </a:ln>
        </p:spPr>
        <p:txBody>
          <a:bodyPr wrap="square" rtlCol="0">
            <a:noAutofit/>
          </a:bodyPr>
          <a:lstStyle/>
          <a:p>
            <a:endParaRPr lang="zh-CN" altLang="en-US"/>
          </a:p>
        </p:txBody>
      </p:sp>
      <p:cxnSp>
        <p:nvCxnSpPr>
          <p:cNvPr id="22" name="直接箭头连接符 21"/>
          <p:cNvCxnSpPr>
            <a:stCxn id="19" idx="3"/>
            <a:endCxn id="20" idx="0"/>
          </p:cNvCxnSpPr>
          <p:nvPr/>
        </p:nvCxnSpPr>
        <p:spPr>
          <a:xfrm flipH="1">
            <a:off x="1606550" y="2225040"/>
            <a:ext cx="507365" cy="589280"/>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sp>
        <p:nvSpPr>
          <p:cNvPr id="23" name="文本框 22"/>
          <p:cNvSpPr txBox="1"/>
          <p:nvPr/>
        </p:nvSpPr>
        <p:spPr>
          <a:xfrm>
            <a:off x="3023870" y="3870325"/>
            <a:ext cx="1840865" cy="860425"/>
          </a:xfrm>
          <a:prstGeom prst="rect">
            <a:avLst/>
          </a:prstGeom>
          <a:noFill/>
          <a:ln w="25400">
            <a:solidFill>
              <a:schemeClr val="accent1"/>
            </a:solidFill>
          </a:ln>
        </p:spPr>
        <p:txBody>
          <a:bodyPr wrap="square" rtlCol="0" anchor="t">
            <a:spAutoFit/>
          </a:bodyPr>
          <a:lstStyle/>
          <a:p>
            <a:r>
              <a:rPr lang="zh-CN" altLang="en-US" sz="1400"/>
              <a:t>  </a:t>
            </a:r>
            <a:r>
              <a:rPr lang="zh-CN" altLang="en-US" sz="1200"/>
              <a:t>  def start_game(self): </a:t>
            </a:r>
          </a:p>
          <a:p>
            <a:r>
              <a:rPr lang="zh-CN" altLang="en-US" sz="1200"/>
              <a:t> </a:t>
            </a:r>
            <a:r>
              <a:rPr lang="en-US" altLang="zh-CN" sz="1200"/>
              <a:t>       ...</a:t>
            </a:r>
            <a:r>
              <a:rPr lang="zh-CN" altLang="en-US" sz="1200"/>
              <a:t>      </a:t>
            </a:r>
          </a:p>
          <a:p>
            <a:r>
              <a:rPr lang="zh-CN" altLang="en-US" sz="1200"/>
              <a:t> </a:t>
            </a:r>
            <a:r>
              <a:rPr lang="en-US" altLang="zh-CN" sz="1200"/>
              <a:t>       </a:t>
            </a:r>
            <a:r>
              <a:rPr lang="zh-CN" altLang="en-US" sz="1200"/>
              <a:t>self.setup_ui()</a:t>
            </a:r>
          </a:p>
          <a:p>
            <a:r>
              <a:rPr lang="zh-CN" altLang="en-US" sz="1200"/>
              <a:t>        self.run_game()</a:t>
            </a:r>
          </a:p>
        </p:txBody>
      </p:sp>
      <p:sp>
        <p:nvSpPr>
          <p:cNvPr id="24" name="文本框 23"/>
          <p:cNvSpPr txBox="1"/>
          <p:nvPr/>
        </p:nvSpPr>
        <p:spPr>
          <a:xfrm>
            <a:off x="3310890" y="4272280"/>
            <a:ext cx="1111885" cy="233045"/>
          </a:xfrm>
          <a:prstGeom prst="rect">
            <a:avLst/>
          </a:prstGeom>
          <a:noFill/>
          <a:ln w="25400">
            <a:solidFill>
              <a:srgbClr val="FF0000"/>
            </a:solidFill>
          </a:ln>
        </p:spPr>
        <p:txBody>
          <a:bodyPr wrap="square" rtlCol="0">
            <a:noAutofit/>
          </a:bodyPr>
          <a:lstStyle/>
          <a:p>
            <a:endParaRPr lang="zh-CN" altLang="en-US"/>
          </a:p>
        </p:txBody>
      </p:sp>
      <p:sp>
        <p:nvSpPr>
          <p:cNvPr id="25" name="文本框 24"/>
          <p:cNvSpPr txBox="1"/>
          <p:nvPr/>
        </p:nvSpPr>
        <p:spPr>
          <a:xfrm>
            <a:off x="3267710" y="4530090"/>
            <a:ext cx="1247775" cy="213360"/>
          </a:xfrm>
          <a:prstGeom prst="rect">
            <a:avLst/>
          </a:prstGeom>
          <a:noFill/>
          <a:ln w="25400">
            <a:solidFill>
              <a:srgbClr val="FF0000"/>
            </a:solidFill>
          </a:ln>
        </p:spPr>
        <p:txBody>
          <a:bodyPr wrap="square" rtlCol="0">
            <a:noAutofit/>
          </a:bodyPr>
          <a:lstStyle/>
          <a:p>
            <a:endParaRPr lang="zh-CN" altLang="en-US"/>
          </a:p>
        </p:txBody>
      </p:sp>
      <p:cxnSp>
        <p:nvCxnSpPr>
          <p:cNvPr id="26" name="直接箭头连接符 25"/>
          <p:cNvCxnSpPr>
            <a:stCxn id="21" idx="2"/>
            <a:endCxn id="23" idx="0"/>
          </p:cNvCxnSpPr>
          <p:nvPr/>
        </p:nvCxnSpPr>
        <p:spPr>
          <a:xfrm flipV="1">
            <a:off x="1465580" y="3870325"/>
            <a:ext cx="2479040" cy="920115"/>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sp>
        <p:nvSpPr>
          <p:cNvPr id="27" name="文本框 26"/>
          <p:cNvSpPr txBox="1"/>
          <p:nvPr/>
        </p:nvSpPr>
        <p:spPr>
          <a:xfrm>
            <a:off x="4963795" y="4255770"/>
            <a:ext cx="3935730" cy="675640"/>
          </a:xfrm>
          <a:prstGeom prst="rect">
            <a:avLst/>
          </a:prstGeom>
          <a:noFill/>
          <a:ln w="25400">
            <a:solidFill>
              <a:schemeClr val="accent1"/>
            </a:solidFill>
          </a:ln>
        </p:spPr>
        <p:txBody>
          <a:bodyPr wrap="square" rtlCol="0" anchor="t">
            <a:spAutoFit/>
          </a:bodyPr>
          <a:lstStyle/>
          <a:p>
            <a:r>
              <a:rPr lang="zh-CN" altLang="en-US" sz="1400"/>
              <a:t>  </a:t>
            </a:r>
            <a:r>
              <a:rPr lang="zh-CN" altLang="en-US" sz="1200"/>
              <a:t>def setup_ui(self):</a:t>
            </a:r>
          </a:p>
          <a:p>
            <a:r>
              <a:rPr lang="zh-CN" altLang="en-US" sz="1200"/>
              <a:t>        self.update_ui()</a:t>
            </a:r>
          </a:p>
          <a:p>
            <a:r>
              <a:rPr lang="zh-CN" altLang="en-US" sz="1200"/>
              <a:t>       self.bind("&lt;KeyPress&gt;", </a:t>
            </a:r>
            <a:r>
              <a:rPr lang="en-US" altLang="zh-CN" sz="1200"/>
              <a:t> </a:t>
            </a:r>
            <a:r>
              <a:rPr lang="zh-CN" altLang="en-US" sz="1200"/>
              <a:t>self.change_direction)</a:t>
            </a:r>
          </a:p>
        </p:txBody>
      </p:sp>
      <p:sp>
        <p:nvSpPr>
          <p:cNvPr id="29" name="文本框 28"/>
          <p:cNvSpPr txBox="1"/>
          <p:nvPr/>
        </p:nvSpPr>
        <p:spPr>
          <a:xfrm>
            <a:off x="7020560" y="4683125"/>
            <a:ext cx="1465580" cy="233045"/>
          </a:xfrm>
          <a:prstGeom prst="rect">
            <a:avLst/>
          </a:prstGeom>
          <a:noFill/>
          <a:ln w="25400">
            <a:solidFill>
              <a:srgbClr val="FF0000"/>
            </a:solidFill>
          </a:ln>
        </p:spPr>
        <p:txBody>
          <a:bodyPr wrap="square" rtlCol="0">
            <a:noAutofit/>
          </a:bodyPr>
          <a:lstStyle/>
          <a:p>
            <a:endParaRPr lang="zh-CN" altLang="en-US"/>
          </a:p>
        </p:txBody>
      </p:sp>
      <p:cxnSp>
        <p:nvCxnSpPr>
          <p:cNvPr id="30" name="直接箭头连接符 29"/>
          <p:cNvCxnSpPr>
            <a:stCxn id="24" idx="3"/>
            <a:endCxn id="27" idx="1"/>
          </p:cNvCxnSpPr>
          <p:nvPr/>
        </p:nvCxnSpPr>
        <p:spPr>
          <a:xfrm>
            <a:off x="4422775" y="4389120"/>
            <a:ext cx="541020" cy="204470"/>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sp>
        <p:nvSpPr>
          <p:cNvPr id="31" name="文本框 30"/>
          <p:cNvSpPr txBox="1"/>
          <p:nvPr/>
        </p:nvSpPr>
        <p:spPr>
          <a:xfrm>
            <a:off x="5337175" y="4497705"/>
            <a:ext cx="1111885" cy="233045"/>
          </a:xfrm>
          <a:prstGeom prst="rect">
            <a:avLst/>
          </a:prstGeom>
          <a:noFill/>
          <a:ln w="25400">
            <a:solidFill>
              <a:srgbClr val="FF0000"/>
            </a:solidFill>
          </a:ln>
        </p:spPr>
        <p:txBody>
          <a:bodyPr wrap="square" rtlCol="0">
            <a:noAutofit/>
          </a:bodyPr>
          <a:lstStyle/>
          <a:p>
            <a:endParaRPr lang="zh-CN" altLang="en-US"/>
          </a:p>
        </p:txBody>
      </p:sp>
      <p:sp>
        <p:nvSpPr>
          <p:cNvPr id="32" name="文本框 31"/>
          <p:cNvSpPr txBox="1"/>
          <p:nvPr/>
        </p:nvSpPr>
        <p:spPr>
          <a:xfrm>
            <a:off x="4898390" y="3457575"/>
            <a:ext cx="2496820" cy="675640"/>
          </a:xfrm>
          <a:prstGeom prst="rect">
            <a:avLst/>
          </a:prstGeom>
          <a:noFill/>
          <a:ln w="25400">
            <a:solidFill>
              <a:schemeClr val="accent1"/>
            </a:solidFill>
          </a:ln>
        </p:spPr>
        <p:txBody>
          <a:bodyPr wrap="square" rtlCol="0" anchor="t">
            <a:spAutoFit/>
          </a:bodyPr>
          <a:lstStyle/>
          <a:p>
            <a:r>
              <a:rPr lang="zh-CN" altLang="en-US" sz="1400"/>
              <a:t>  </a:t>
            </a:r>
            <a:r>
              <a:rPr lang="zh-CN" altLang="en-US" sz="1200"/>
              <a:t>def run_game(self):</a:t>
            </a:r>
          </a:p>
          <a:p>
            <a:r>
              <a:rPr lang="zh-CN" altLang="en-US" sz="1200"/>
              <a:t>        self.move_snake()</a:t>
            </a:r>
          </a:p>
          <a:p>
            <a:r>
              <a:rPr lang="zh-CN" altLang="en-US" sz="1200"/>
              <a:t>        self.after(100, self.run_game)</a:t>
            </a:r>
          </a:p>
        </p:txBody>
      </p:sp>
      <p:sp>
        <p:nvSpPr>
          <p:cNvPr id="33" name="文本框 32"/>
          <p:cNvSpPr txBox="1"/>
          <p:nvPr/>
        </p:nvSpPr>
        <p:spPr>
          <a:xfrm>
            <a:off x="5293995" y="3708400"/>
            <a:ext cx="1379855" cy="203835"/>
          </a:xfrm>
          <a:prstGeom prst="rect">
            <a:avLst/>
          </a:prstGeom>
          <a:noFill/>
          <a:ln w="25400">
            <a:solidFill>
              <a:srgbClr val="FF0000"/>
            </a:solidFill>
          </a:ln>
        </p:spPr>
        <p:txBody>
          <a:bodyPr wrap="square" rtlCol="0">
            <a:noAutofit/>
          </a:bodyPr>
          <a:lstStyle/>
          <a:p>
            <a:endParaRPr lang="zh-CN" altLang="en-US"/>
          </a:p>
        </p:txBody>
      </p:sp>
      <p:cxnSp>
        <p:nvCxnSpPr>
          <p:cNvPr id="34" name="直接箭头连接符 33"/>
          <p:cNvCxnSpPr>
            <a:stCxn id="25" idx="3"/>
            <a:endCxn id="32" idx="1"/>
          </p:cNvCxnSpPr>
          <p:nvPr/>
        </p:nvCxnSpPr>
        <p:spPr>
          <a:xfrm flipV="1">
            <a:off x="4515485" y="3795395"/>
            <a:ext cx="382905" cy="841375"/>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sp>
        <p:nvSpPr>
          <p:cNvPr id="35" name="文本框 34"/>
          <p:cNvSpPr txBox="1"/>
          <p:nvPr/>
        </p:nvSpPr>
        <p:spPr>
          <a:xfrm>
            <a:off x="3012440" y="1009650"/>
            <a:ext cx="2666365" cy="2399665"/>
          </a:xfrm>
          <a:prstGeom prst="rect">
            <a:avLst/>
          </a:prstGeom>
          <a:noFill/>
          <a:ln w="25400">
            <a:solidFill>
              <a:schemeClr val="accent1"/>
            </a:solidFill>
          </a:ln>
        </p:spPr>
        <p:txBody>
          <a:bodyPr wrap="square" rtlCol="0" anchor="t">
            <a:spAutoFit/>
          </a:bodyPr>
          <a:lstStyle/>
          <a:p>
            <a:r>
              <a:rPr lang="zh-CN" altLang="en-US" sz="1000"/>
              <a:t>    def move_snake(self):</a:t>
            </a:r>
          </a:p>
          <a:p>
            <a:r>
              <a:rPr lang="zh-CN" altLang="en-US" sz="1000"/>
              <a:t>       </a:t>
            </a:r>
          </a:p>
          <a:p>
            <a:r>
              <a:rPr lang="zh-CN" altLang="en-US" sz="1000"/>
              <a:t>        if self.snake_direction == 'Left':</a:t>
            </a:r>
          </a:p>
          <a:p>
            <a:r>
              <a:rPr lang="zh-CN" altLang="en-US" sz="1000"/>
              <a:t> </a:t>
            </a:r>
            <a:r>
              <a:rPr lang="en-US" altLang="zh-CN" sz="1000"/>
              <a:t>       ...</a:t>
            </a:r>
            <a:endParaRPr lang="zh-CN" altLang="en-US" sz="1000"/>
          </a:p>
          <a:p>
            <a:r>
              <a:rPr lang="zh-CN" altLang="en-US" sz="1000"/>
              <a:t>        if new_head == self.food: </a:t>
            </a:r>
          </a:p>
          <a:p>
            <a:r>
              <a:rPr lang="zh-CN" altLang="en-US" sz="1000"/>
              <a:t> </a:t>
            </a:r>
            <a:r>
              <a:rPr lang="en-US" altLang="zh-CN" sz="1000"/>
              <a:t>           ...</a:t>
            </a:r>
            <a:r>
              <a:rPr lang="zh-CN" altLang="en-US" sz="1000"/>
              <a:t>  </a:t>
            </a:r>
            <a:r>
              <a:rPr lang="en-US" altLang="zh-CN" sz="1000"/>
              <a:t>                           </a:t>
            </a:r>
            <a:endParaRPr lang="zh-CN" altLang="en-US" sz="1000"/>
          </a:p>
          <a:p>
            <a:r>
              <a:rPr lang="zh-CN" altLang="en-US" sz="1000"/>
              <a:t>            self.food = self.create_food()</a:t>
            </a:r>
          </a:p>
          <a:p>
            <a:r>
              <a:rPr lang="zh-CN" altLang="en-US" sz="1000"/>
              <a:t>        if (new_head[0] &lt; 0 or new_head[0] &gt;= self.width or</a:t>
            </a:r>
          </a:p>
          <a:p>
            <a:r>
              <a:rPr lang="zh-CN" altLang="en-US" sz="1000"/>
              <a:t>            new_head[1] &lt; 0 or new_head[1] &gt;= self.height or</a:t>
            </a:r>
          </a:p>
          <a:p>
            <a:r>
              <a:rPr lang="zh-CN" altLang="en-US" sz="1000"/>
              <a:t>            new_head in self.snake[1:]):</a:t>
            </a:r>
          </a:p>
          <a:p>
            <a:r>
              <a:rPr lang="zh-CN" altLang="en-US" sz="1000"/>
              <a:t>            self.game_over()</a:t>
            </a:r>
          </a:p>
          <a:p>
            <a:r>
              <a:rPr lang="zh-CN" altLang="en-US" sz="1000"/>
              <a:t>            </a:t>
            </a:r>
            <a:r>
              <a:rPr lang="en-US" altLang="zh-CN" sz="1000"/>
              <a:t>...</a:t>
            </a:r>
            <a:r>
              <a:rPr lang="zh-CN" altLang="en-US" sz="1000"/>
              <a:t>        </a:t>
            </a:r>
          </a:p>
          <a:p>
            <a:r>
              <a:rPr lang="zh-CN" altLang="en-US" sz="1000"/>
              <a:t> </a:t>
            </a:r>
            <a:r>
              <a:rPr lang="en-US" altLang="zh-CN" sz="1000"/>
              <a:t>        </a:t>
            </a:r>
            <a:r>
              <a:rPr lang="zh-CN" altLang="en-US" sz="1000"/>
              <a:t>self.update_ui()</a:t>
            </a:r>
          </a:p>
        </p:txBody>
      </p:sp>
      <p:sp>
        <p:nvSpPr>
          <p:cNvPr id="36" name="文本框 35"/>
          <p:cNvSpPr txBox="1"/>
          <p:nvPr/>
        </p:nvSpPr>
        <p:spPr>
          <a:xfrm>
            <a:off x="3267710" y="3132455"/>
            <a:ext cx="1007110" cy="233045"/>
          </a:xfrm>
          <a:prstGeom prst="rect">
            <a:avLst/>
          </a:prstGeom>
          <a:noFill/>
          <a:ln w="25400">
            <a:solidFill>
              <a:srgbClr val="FF0000"/>
            </a:solidFill>
          </a:ln>
        </p:spPr>
        <p:txBody>
          <a:bodyPr wrap="square" rtlCol="0">
            <a:noAutofit/>
          </a:bodyPr>
          <a:lstStyle/>
          <a:p>
            <a:endParaRPr lang="zh-CN" altLang="en-US"/>
          </a:p>
        </p:txBody>
      </p:sp>
      <p:sp>
        <p:nvSpPr>
          <p:cNvPr id="37" name="文本框 36"/>
          <p:cNvSpPr txBox="1"/>
          <p:nvPr/>
        </p:nvSpPr>
        <p:spPr>
          <a:xfrm>
            <a:off x="3944620" y="1936750"/>
            <a:ext cx="1204595" cy="233045"/>
          </a:xfrm>
          <a:prstGeom prst="rect">
            <a:avLst/>
          </a:prstGeom>
          <a:noFill/>
          <a:ln w="25400">
            <a:solidFill>
              <a:srgbClr val="FF0000"/>
            </a:solidFill>
          </a:ln>
        </p:spPr>
        <p:txBody>
          <a:bodyPr wrap="square" rtlCol="0">
            <a:noAutofit/>
          </a:bodyPr>
          <a:lstStyle/>
          <a:p>
            <a:endParaRPr lang="zh-CN" altLang="en-US"/>
          </a:p>
        </p:txBody>
      </p:sp>
      <p:sp>
        <p:nvSpPr>
          <p:cNvPr id="38" name="文本框 37"/>
          <p:cNvSpPr txBox="1"/>
          <p:nvPr/>
        </p:nvSpPr>
        <p:spPr>
          <a:xfrm>
            <a:off x="3354705" y="2855595"/>
            <a:ext cx="1111885" cy="233045"/>
          </a:xfrm>
          <a:prstGeom prst="rect">
            <a:avLst/>
          </a:prstGeom>
          <a:noFill/>
          <a:ln w="25400">
            <a:solidFill>
              <a:srgbClr val="FF0000"/>
            </a:solidFill>
          </a:ln>
        </p:spPr>
        <p:txBody>
          <a:bodyPr wrap="square" rtlCol="0">
            <a:noAutofit/>
          </a:bodyPr>
          <a:lstStyle/>
          <a:p>
            <a:endParaRPr lang="zh-CN" altLang="en-US"/>
          </a:p>
        </p:txBody>
      </p:sp>
      <p:cxnSp>
        <p:nvCxnSpPr>
          <p:cNvPr id="39" name="直接箭头连接符 38"/>
          <p:cNvCxnSpPr>
            <a:stCxn id="33" idx="0"/>
            <a:endCxn id="35" idx="2"/>
          </p:cNvCxnSpPr>
          <p:nvPr/>
        </p:nvCxnSpPr>
        <p:spPr>
          <a:xfrm flipH="1" flipV="1">
            <a:off x="4345940" y="3409315"/>
            <a:ext cx="1638300" cy="299085"/>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sp>
        <p:nvSpPr>
          <p:cNvPr id="40" name="文本框 39"/>
          <p:cNvSpPr txBox="1"/>
          <p:nvPr/>
        </p:nvSpPr>
        <p:spPr>
          <a:xfrm>
            <a:off x="6025515" y="323850"/>
            <a:ext cx="2981960" cy="1476375"/>
          </a:xfrm>
          <a:prstGeom prst="rect">
            <a:avLst/>
          </a:prstGeom>
          <a:noFill/>
          <a:ln w="25400">
            <a:solidFill>
              <a:schemeClr val="accent1"/>
            </a:solidFill>
          </a:ln>
        </p:spPr>
        <p:txBody>
          <a:bodyPr wrap="square" rtlCol="0" anchor="t">
            <a:spAutoFit/>
          </a:bodyPr>
          <a:lstStyle/>
          <a:p>
            <a:r>
              <a:rPr lang="zh-CN" altLang="en-US" sz="1000"/>
              <a:t>    def create_food(self):</a:t>
            </a:r>
          </a:p>
          <a:p>
            <a:r>
              <a:rPr lang="zh-CN" altLang="en-US" sz="1000"/>
              <a:t>        while True:</a:t>
            </a:r>
          </a:p>
          <a:p>
            <a:r>
              <a:rPr lang="zh-CN" altLang="en-US" sz="1000"/>
              <a:t>            x = random.randint(0, (self.width//self.cell_size)-1) * self.cell_size</a:t>
            </a:r>
          </a:p>
          <a:p>
            <a:r>
              <a:rPr lang="zh-CN" altLang="en-US" sz="1000"/>
              <a:t>            y = random.randint(0, (self.height//self.cell_size)-1) * self.cell_size</a:t>
            </a:r>
          </a:p>
          <a:p>
            <a:r>
              <a:rPr lang="zh-CN" altLang="en-US" sz="1000"/>
              <a:t>            food = (x, y)</a:t>
            </a:r>
          </a:p>
          <a:p>
            <a:r>
              <a:rPr lang="zh-CN" altLang="en-US" sz="1000"/>
              <a:t>            if food not in self.snake:</a:t>
            </a:r>
          </a:p>
          <a:p>
            <a:r>
              <a:rPr lang="zh-CN" altLang="en-US" sz="1000"/>
              <a:t>                return food</a:t>
            </a:r>
          </a:p>
        </p:txBody>
      </p:sp>
      <p:cxnSp>
        <p:nvCxnSpPr>
          <p:cNvPr id="41" name="直接箭头连接符 40"/>
          <p:cNvCxnSpPr>
            <a:stCxn id="37" idx="0"/>
            <a:endCxn id="40" idx="1"/>
          </p:cNvCxnSpPr>
          <p:nvPr/>
        </p:nvCxnSpPr>
        <p:spPr>
          <a:xfrm flipV="1">
            <a:off x="4547235" y="1062355"/>
            <a:ext cx="1478280" cy="874395"/>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sp>
        <p:nvSpPr>
          <p:cNvPr id="42" name="文本框 41"/>
          <p:cNvSpPr txBox="1"/>
          <p:nvPr/>
        </p:nvSpPr>
        <p:spPr>
          <a:xfrm>
            <a:off x="5747385" y="1882140"/>
            <a:ext cx="3485515" cy="706755"/>
          </a:xfrm>
          <a:prstGeom prst="rect">
            <a:avLst/>
          </a:prstGeom>
          <a:noFill/>
          <a:ln w="25400">
            <a:solidFill>
              <a:schemeClr val="accent1"/>
            </a:solidFill>
          </a:ln>
        </p:spPr>
        <p:txBody>
          <a:bodyPr wrap="square" rtlCol="0" anchor="t">
            <a:spAutoFit/>
          </a:bodyPr>
          <a:lstStyle/>
          <a:p>
            <a:r>
              <a:rPr lang="zh-CN" altLang="en-US" sz="1000"/>
              <a:t>    def game_over(self):</a:t>
            </a:r>
          </a:p>
          <a:p>
            <a:r>
              <a:rPr lang="zh-CN" altLang="en-US" sz="1000"/>
              <a:t>        self.canvas.create_text(self.width//2, self.height//2, text="Game Over", fill="white", font=('TkDefaultFont', 24))</a:t>
            </a:r>
          </a:p>
          <a:p>
            <a:r>
              <a:rPr lang="zh-CN" altLang="en-US" sz="1000"/>
              <a:t>        self.unbind("&lt;KeyPress&gt;")</a:t>
            </a:r>
          </a:p>
        </p:txBody>
      </p:sp>
      <p:cxnSp>
        <p:nvCxnSpPr>
          <p:cNvPr id="43" name="直接箭头连接符 42"/>
          <p:cNvCxnSpPr>
            <a:stCxn id="38" idx="3"/>
            <a:endCxn id="42" idx="1"/>
          </p:cNvCxnSpPr>
          <p:nvPr/>
        </p:nvCxnSpPr>
        <p:spPr>
          <a:xfrm flipV="1">
            <a:off x="4466590" y="2235835"/>
            <a:ext cx="1280795" cy="736600"/>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sp>
        <p:nvSpPr>
          <p:cNvPr id="44" name="文本框 43"/>
          <p:cNvSpPr txBox="1"/>
          <p:nvPr/>
        </p:nvSpPr>
        <p:spPr>
          <a:xfrm>
            <a:off x="6096000" y="2621280"/>
            <a:ext cx="2878455" cy="706755"/>
          </a:xfrm>
          <a:prstGeom prst="rect">
            <a:avLst/>
          </a:prstGeom>
          <a:noFill/>
          <a:ln w="25400">
            <a:solidFill>
              <a:schemeClr val="accent1"/>
            </a:solidFill>
          </a:ln>
        </p:spPr>
        <p:txBody>
          <a:bodyPr wrap="square" rtlCol="0" anchor="t">
            <a:spAutoFit/>
          </a:bodyPr>
          <a:lstStyle/>
          <a:p>
            <a:r>
              <a:rPr lang="zh-CN" altLang="en-US" sz="1000"/>
              <a:t>    def update_ui(self):</a:t>
            </a:r>
          </a:p>
          <a:p>
            <a:r>
              <a:rPr lang="zh-CN" altLang="en-US" sz="1000"/>
              <a:t>        self.canvas.delete('all')</a:t>
            </a:r>
          </a:p>
          <a:p>
            <a:r>
              <a:rPr lang="zh-CN" altLang="en-US" sz="1000"/>
              <a:t>      </a:t>
            </a:r>
            <a:r>
              <a:rPr lang="en-US" altLang="zh-CN" sz="1000"/>
              <a:t>  ...</a:t>
            </a:r>
            <a:r>
              <a:rPr lang="zh-CN" altLang="en-US" sz="1000"/>
              <a:t>            </a:t>
            </a:r>
          </a:p>
          <a:p>
            <a:r>
              <a:rPr lang="zh-CN" altLang="en-US" sz="1000"/>
              <a:t> </a:t>
            </a:r>
            <a:r>
              <a:rPr lang="en-US" altLang="zh-CN" sz="1000"/>
              <a:t>     </a:t>
            </a:r>
            <a:r>
              <a:rPr lang="zh-CN" altLang="en-US" sz="1000"/>
              <a:t>self.canvas.create_rectangle</a:t>
            </a:r>
            <a:r>
              <a:rPr lang="en-US" altLang="zh-CN" sz="1000"/>
              <a:t>()</a:t>
            </a:r>
          </a:p>
        </p:txBody>
      </p:sp>
      <p:cxnSp>
        <p:nvCxnSpPr>
          <p:cNvPr id="45" name="直接箭头连接符 44"/>
          <p:cNvCxnSpPr>
            <a:stCxn id="36" idx="3"/>
            <a:endCxn id="44" idx="1"/>
          </p:cNvCxnSpPr>
          <p:nvPr/>
        </p:nvCxnSpPr>
        <p:spPr>
          <a:xfrm flipV="1">
            <a:off x="4274820" y="2974975"/>
            <a:ext cx="1821180" cy="274320"/>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cxnSp>
        <p:nvCxnSpPr>
          <p:cNvPr id="46" name="直接箭头连接符 45"/>
          <p:cNvCxnSpPr>
            <a:stCxn id="31" idx="3"/>
            <a:endCxn id="44" idx="1"/>
          </p:cNvCxnSpPr>
          <p:nvPr/>
        </p:nvCxnSpPr>
        <p:spPr>
          <a:xfrm flipH="1" flipV="1">
            <a:off x="6096000" y="2974975"/>
            <a:ext cx="353060" cy="1639570"/>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sp>
        <p:nvSpPr>
          <p:cNvPr id="47" name="文本框 46"/>
          <p:cNvSpPr txBox="1"/>
          <p:nvPr/>
        </p:nvSpPr>
        <p:spPr>
          <a:xfrm>
            <a:off x="7407275" y="3361690"/>
            <a:ext cx="2048510" cy="860425"/>
          </a:xfrm>
          <a:prstGeom prst="rect">
            <a:avLst/>
          </a:prstGeom>
          <a:noFill/>
          <a:ln w="25400">
            <a:solidFill>
              <a:schemeClr val="accent1"/>
            </a:solidFill>
          </a:ln>
        </p:spPr>
        <p:txBody>
          <a:bodyPr wrap="square" rtlCol="0" anchor="t">
            <a:spAutoFit/>
          </a:bodyPr>
          <a:lstStyle/>
          <a:p>
            <a:r>
              <a:rPr lang="zh-CN" altLang="en-US" sz="1000"/>
              <a:t>    def change_direction(self, event):</a:t>
            </a:r>
          </a:p>
          <a:p>
            <a:r>
              <a:rPr lang="zh-CN" altLang="en-US" sz="1000"/>
              <a:t>        </a:t>
            </a:r>
            <a:r>
              <a:rPr lang="en-US" altLang="zh-CN" sz="1000"/>
              <a:t>...</a:t>
            </a:r>
            <a:r>
              <a:rPr lang="zh-CN" altLang="en-US" sz="1000"/>
              <a:t>                </a:t>
            </a:r>
          </a:p>
          <a:p>
            <a:r>
              <a:rPr lang="zh-CN" altLang="en-US" sz="1000"/>
              <a:t> </a:t>
            </a:r>
            <a:r>
              <a:rPr lang="en-US" altLang="zh-CN" sz="1000"/>
              <a:t>      </a:t>
            </a:r>
            <a:r>
              <a:rPr lang="zh-CN" altLang="en-US" sz="1000"/>
              <a:t>self.snake_direction = event.keysym</a:t>
            </a:r>
          </a:p>
        </p:txBody>
      </p:sp>
      <p:cxnSp>
        <p:nvCxnSpPr>
          <p:cNvPr id="48" name="直接箭头连接符 47"/>
          <p:cNvCxnSpPr>
            <a:stCxn id="29" idx="0"/>
            <a:endCxn id="47" idx="2"/>
          </p:cNvCxnSpPr>
          <p:nvPr/>
        </p:nvCxnSpPr>
        <p:spPr>
          <a:xfrm flipV="1">
            <a:off x="7753350" y="4222115"/>
            <a:ext cx="678180" cy="461010"/>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62000" y="813753"/>
            <a:ext cx="8135303" cy="552450"/>
          </a:xfrm>
          <a:prstGeom prst="rect">
            <a:avLst/>
          </a:prstGeom>
          <a:noFill/>
        </p:spPr>
        <p:txBody>
          <a:bodyPr wrap="square" rtlCol="0" anchor="ctr"/>
          <a:lstStyle/>
          <a:p>
            <a:pPr marL="0" indent="0">
              <a:buNone/>
            </a:pPr>
            <a:endParaRPr lang="en-US" sz="2240" b="1" dirty="0">
              <a:solidFill>
                <a:schemeClr val="tx1"/>
              </a:solidFill>
              <a:latin typeface="Times New Roman" panose="02020503050405090304" charset="0"/>
              <a:ea typeface="Times New Roman" panose="02020503050405090304" charset="0"/>
              <a:cs typeface="Times New Roman" panose="02020503050405090304" charset="0"/>
              <a:sym typeface="+mn-ea"/>
            </a:endParaRPr>
          </a:p>
          <a:p>
            <a:pPr marL="0" indent="0">
              <a:buNone/>
            </a:pPr>
            <a:r>
              <a:rPr lang="en-US" sz="2240" b="1" dirty="0">
                <a:solidFill>
                  <a:schemeClr val="tx1"/>
                </a:solidFill>
                <a:latin typeface="Times New Roman" panose="02020503050405090304" charset="0"/>
                <a:cs typeface="Times New Roman" panose="02020503050405090304" charset="0"/>
              </a:rPr>
              <a:t>Tkinter mainloop</a:t>
            </a:r>
          </a:p>
          <a:p>
            <a:pPr marL="0" indent="0">
              <a:buNone/>
            </a:pPr>
            <a:endParaRPr lang="en-US" sz="2240" b="1" dirty="0">
              <a:solidFill>
                <a:schemeClr val="tx1"/>
              </a:solidFill>
              <a:latin typeface="Times New Roman" panose="02020503050405090304" charset="0"/>
              <a:cs typeface="Times New Roman" panose="02020503050405090304" charset="0"/>
            </a:endParaRPr>
          </a:p>
        </p:txBody>
      </p:sp>
      <p:sp>
        <p:nvSpPr>
          <p:cNvPr id="3" name="Text 1"/>
          <p:cNvSpPr/>
          <p:nvPr/>
        </p:nvSpPr>
        <p:spPr>
          <a:xfrm>
            <a:off x="762000" y="1470025"/>
            <a:ext cx="7715250" cy="3257550"/>
          </a:xfrm>
          <a:prstGeom prst="rect">
            <a:avLst/>
          </a:prstGeom>
          <a:noFill/>
        </p:spPr>
        <p:txBody>
          <a:bodyPr wrap="square" rtlCol="0" anchor="t"/>
          <a:lstStyle/>
          <a:p>
            <a:pPr marL="342900" indent="-342900" algn="l">
              <a:lnSpc>
                <a:spcPct val="150000"/>
              </a:lnSpc>
              <a:buSzPct val="100000"/>
              <a:buChar char="•"/>
            </a:pPr>
            <a:endParaRPr lang="en-US" altLang="en-CA" sz="1400" dirty="0">
              <a:solidFill>
                <a:schemeClr val="tx1"/>
              </a:solidFill>
              <a:latin typeface="Times New Roman" panose="02020503050405090304" charset="0"/>
              <a:cs typeface="Times New Roman" panose="02020503050405090304" charset="0"/>
            </a:endParaRPr>
          </a:p>
        </p:txBody>
      </p:sp>
      <p:pic>
        <p:nvPicPr>
          <p:cNvPr id="7" name="图片 6" descr="zh-hans_logo"/>
          <p:cNvPicPr>
            <a:picLocks noChangeAspect="1"/>
          </p:cNvPicPr>
          <p:nvPr>
            <p:custDataLst>
              <p:tags r:id="rId1"/>
            </p:custDataLst>
          </p:nvPr>
        </p:nvPicPr>
        <p:blipFill>
          <a:blip r:embed="rId4"/>
          <a:stretch>
            <a:fillRect/>
          </a:stretch>
        </p:blipFill>
        <p:spPr>
          <a:xfrm>
            <a:off x="0" y="85090"/>
            <a:ext cx="4361180" cy="625475"/>
          </a:xfrm>
          <a:prstGeom prst="rect">
            <a:avLst/>
          </a:prstGeom>
        </p:spPr>
      </p:pic>
      <p:sp>
        <p:nvSpPr>
          <p:cNvPr id="4" name="文本框 3"/>
          <p:cNvSpPr txBox="1"/>
          <p:nvPr/>
        </p:nvSpPr>
        <p:spPr>
          <a:xfrm>
            <a:off x="762000" y="1366520"/>
            <a:ext cx="5478780" cy="2616200"/>
          </a:xfrm>
          <a:prstGeom prst="rect">
            <a:avLst/>
          </a:prstGeom>
          <a:noFill/>
        </p:spPr>
        <p:txBody>
          <a:bodyPr wrap="square" rtlCol="0">
            <a:noAutofit/>
          </a:bodyPr>
          <a:lstStyle/>
          <a:p>
            <a:r>
              <a:rPr lang="en-US" altLang="zh-CN"/>
              <a:t>if you want to create a Tkinter GUI</a:t>
            </a:r>
            <a:endParaRPr lang="zh-CN" altLang="en-US"/>
          </a:p>
          <a:p>
            <a:r>
              <a:rPr lang="zh-CN" altLang="en-US"/>
              <a:t>import tkinter</a:t>
            </a:r>
          </a:p>
          <a:p>
            <a:r>
              <a:rPr lang="en-US" altLang="zh-CN"/>
              <a:t>window</a:t>
            </a:r>
            <a:r>
              <a:rPr lang="zh-CN" altLang="en-US"/>
              <a:t> = tkinter.Tk()</a:t>
            </a:r>
          </a:p>
          <a:p>
            <a:r>
              <a:rPr lang="en-US" altLang="zh-CN">
                <a:sym typeface="+mn-ea"/>
              </a:rPr>
              <a:t>window</a:t>
            </a:r>
            <a:r>
              <a:rPr lang="zh-CN" altLang="en-US"/>
              <a:t>.title('my window')</a:t>
            </a:r>
          </a:p>
          <a:p>
            <a:r>
              <a:rPr lang="en-US" altLang="zh-CN">
                <a:sym typeface="+mn-ea"/>
              </a:rPr>
              <a:t>window</a:t>
            </a:r>
            <a:r>
              <a:rPr lang="zh-CN" altLang="en-US"/>
              <a:t>.geometry('500x500')</a:t>
            </a:r>
          </a:p>
          <a:p>
            <a:r>
              <a:rPr lang="en-US" altLang="zh-CN">
                <a:sym typeface="+mn-ea"/>
              </a:rPr>
              <a:t>window</a:t>
            </a:r>
            <a:r>
              <a:rPr lang="zh-CN" altLang="en-US"/>
              <a:t>.mainloop()</a:t>
            </a:r>
            <a:endParaRPr lang="en-US" altLang="zh-CN"/>
          </a:p>
          <a:p>
            <a:endParaRPr lang="en-US" altLang="zh-CN"/>
          </a:p>
          <a:p>
            <a:endParaRPr lang="en-US" altLang="zh-CN"/>
          </a:p>
          <a:p>
            <a:endParaRPr lang="en-US" altLang="zh-CN"/>
          </a:p>
          <a:p>
            <a:endParaRPr lang="en-US" altLang="zh-CN"/>
          </a:p>
        </p:txBody>
      </p:sp>
      <p:pic>
        <p:nvPicPr>
          <p:cNvPr id="5" name="图片 4"/>
          <p:cNvPicPr>
            <a:picLocks noChangeAspect="1"/>
          </p:cNvPicPr>
          <p:nvPr/>
        </p:nvPicPr>
        <p:blipFill>
          <a:blip r:embed="rId5"/>
          <a:stretch>
            <a:fillRect/>
          </a:stretch>
        </p:blipFill>
        <p:spPr>
          <a:xfrm>
            <a:off x="4483100" y="841375"/>
            <a:ext cx="3457575" cy="366712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62000" y="731203"/>
            <a:ext cx="8135303" cy="552450"/>
          </a:xfrm>
          <a:prstGeom prst="rect">
            <a:avLst/>
          </a:prstGeom>
          <a:noFill/>
        </p:spPr>
        <p:txBody>
          <a:bodyPr wrap="square" rtlCol="0" anchor="ctr"/>
          <a:lstStyle/>
          <a:p>
            <a:pPr marL="0" indent="0">
              <a:buNone/>
            </a:pPr>
            <a:r>
              <a:rPr lang="en-US" sz="2400" b="1" dirty="0">
                <a:solidFill>
                  <a:srgbClr val="2E0158"/>
                </a:solidFill>
                <a:latin typeface="Times New Roman" panose="02020503050405090304" charset="0"/>
                <a:ea typeface="Times New Roman" panose="02020503050405090304" charset="0"/>
                <a:cs typeface="Times New Roman" panose="02020503050405090304" charset="0"/>
              </a:rPr>
              <a:t>Tkinter Label (1)</a:t>
            </a:r>
            <a:endParaRPr lang="en-US" altLang="zh-CN" sz="2400" b="1" dirty="0">
              <a:solidFill>
                <a:srgbClr val="2E0158"/>
              </a:solidFill>
              <a:latin typeface="Times New Roman" panose="02020503050405090304" charset="0"/>
              <a:ea typeface="宋体" pitchFamily="2" charset="-122"/>
              <a:cs typeface="Times New Roman" panose="02020503050405090304" charset="0"/>
            </a:endParaRPr>
          </a:p>
        </p:txBody>
      </p:sp>
      <p:sp>
        <p:nvSpPr>
          <p:cNvPr id="3" name="Text 1"/>
          <p:cNvSpPr/>
          <p:nvPr/>
        </p:nvSpPr>
        <p:spPr>
          <a:xfrm>
            <a:off x="762000" y="1304925"/>
            <a:ext cx="3197225" cy="3343275"/>
          </a:xfrm>
          <a:prstGeom prst="rect">
            <a:avLst/>
          </a:prstGeom>
          <a:noFill/>
        </p:spPr>
        <p:txBody>
          <a:bodyPr wrap="square" rtlCol="0" anchor="t"/>
          <a:lstStyle/>
          <a:p>
            <a:pPr marL="342900" indent="-342900" algn="l">
              <a:lnSpc>
                <a:spcPct val="150000"/>
              </a:lnSpc>
              <a:buSzPct val="100000"/>
              <a:buChar char="•"/>
            </a:pPr>
            <a:endParaRPr lang="en-US" sz="1400" dirty="0">
              <a:solidFill>
                <a:srgbClr val="383838"/>
              </a:solidFill>
              <a:latin typeface="Times New Roman" panose="02020503050405090304" charset="0"/>
              <a:ea typeface="Times New Roman" panose="02020503050405090304" charset="0"/>
              <a:cs typeface="Times New Roman" panose="02020503050405090304" charset="0"/>
            </a:endParaRPr>
          </a:p>
        </p:txBody>
      </p:sp>
      <p:pic>
        <p:nvPicPr>
          <p:cNvPr id="7" name="图片 6" descr="zh-hans_logo"/>
          <p:cNvPicPr>
            <a:picLocks noChangeAspect="1"/>
          </p:cNvPicPr>
          <p:nvPr>
            <p:custDataLst>
              <p:tags r:id="rId1"/>
            </p:custDataLst>
          </p:nvPr>
        </p:nvPicPr>
        <p:blipFill>
          <a:blip r:embed="rId4"/>
          <a:stretch>
            <a:fillRect/>
          </a:stretch>
        </p:blipFill>
        <p:spPr>
          <a:xfrm>
            <a:off x="0" y="85090"/>
            <a:ext cx="4361180" cy="625475"/>
          </a:xfrm>
          <a:prstGeom prst="rect">
            <a:avLst/>
          </a:prstGeom>
        </p:spPr>
      </p:pic>
      <p:sp>
        <p:nvSpPr>
          <p:cNvPr id="6" name="文本框 5"/>
          <p:cNvSpPr txBox="1"/>
          <p:nvPr/>
        </p:nvSpPr>
        <p:spPr>
          <a:xfrm>
            <a:off x="876300" y="1174115"/>
            <a:ext cx="7033260" cy="3969385"/>
          </a:xfrm>
          <a:prstGeom prst="rect">
            <a:avLst/>
          </a:prstGeom>
          <a:noFill/>
        </p:spPr>
        <p:txBody>
          <a:bodyPr wrap="square" rtlCol="0">
            <a:spAutoFit/>
          </a:bodyPr>
          <a:lstStyle/>
          <a:p>
            <a:r>
              <a:rPr lang="zh-CN" altLang="en-US"/>
              <a:t>import tkinter as tk</a:t>
            </a:r>
            <a:r>
              <a:rPr lang="en-US" altLang="zh-CN"/>
              <a:t>                                </a:t>
            </a:r>
            <a:endParaRPr lang="zh-CN" altLang="en-US"/>
          </a:p>
          <a:p>
            <a:r>
              <a:rPr lang="zh-CN" altLang="en-US"/>
              <a:t>window=tk.Tk()</a:t>
            </a:r>
          </a:p>
          <a:p>
            <a:r>
              <a:rPr lang="zh-CN" altLang="en-US"/>
              <a:t>window.title('Mywindow')</a:t>
            </a:r>
          </a:p>
          <a:p>
            <a:r>
              <a:rPr lang="zh-CN" altLang="en-US"/>
              <a:t>window.geometry('200x100')</a:t>
            </a:r>
          </a:p>
          <a:p>
            <a:r>
              <a:rPr lang="zh-CN" altLang="en-US"/>
              <a:t>l = tk.Label(window, </a:t>
            </a:r>
          </a:p>
          <a:p>
            <a:r>
              <a:rPr lang="zh-CN" altLang="en-US"/>
              <a:t>    text='Hi! this is TK!',     </a:t>
            </a:r>
          </a:p>
          <a:p>
            <a:r>
              <a:rPr lang="zh-CN" altLang="en-US"/>
              <a:t> </a:t>
            </a:r>
            <a:r>
              <a:rPr lang="en-US" altLang="zh-CN"/>
              <a:t>   </a:t>
            </a:r>
            <a:r>
              <a:rPr lang="zh-CN" altLang="en-US"/>
              <a:t>bg='green', </a:t>
            </a:r>
          </a:p>
          <a:p>
            <a:r>
              <a:rPr lang="zh-CN" altLang="en-US"/>
              <a:t>    font=('Arial', 12),</a:t>
            </a:r>
          </a:p>
          <a:p>
            <a:r>
              <a:rPr lang="zh-CN" altLang="en-US"/>
              <a:t>    width=15, </a:t>
            </a:r>
          </a:p>
          <a:p>
            <a:r>
              <a:rPr lang="zh-CN" altLang="en-US"/>
              <a:t> </a:t>
            </a:r>
            <a:r>
              <a:rPr lang="en-US" altLang="zh-CN"/>
              <a:t>   </a:t>
            </a:r>
            <a:r>
              <a:rPr lang="zh-CN" altLang="en-US"/>
              <a:t>height=2</a:t>
            </a:r>
          </a:p>
          <a:p>
            <a:r>
              <a:rPr lang="zh-CN" altLang="en-US"/>
              <a:t>    )</a:t>
            </a:r>
          </a:p>
          <a:p>
            <a:r>
              <a:rPr lang="zh-CN" altLang="en-US"/>
              <a:t>l.pack()</a:t>
            </a:r>
          </a:p>
          <a:p>
            <a:r>
              <a:rPr lang="zh-CN" altLang="en-US"/>
              <a:t>window.mainloop()</a:t>
            </a:r>
          </a:p>
          <a:p>
            <a:endParaRPr lang="zh-CN" altLang="en-US"/>
          </a:p>
        </p:txBody>
      </p:sp>
      <p:pic>
        <p:nvPicPr>
          <p:cNvPr id="4" name="图片 3"/>
          <p:cNvPicPr>
            <a:picLocks noChangeAspect="1"/>
          </p:cNvPicPr>
          <p:nvPr/>
        </p:nvPicPr>
        <p:blipFill>
          <a:blip r:embed="rId5"/>
          <a:stretch>
            <a:fillRect/>
          </a:stretch>
        </p:blipFill>
        <p:spPr>
          <a:xfrm>
            <a:off x="4068445" y="1174115"/>
            <a:ext cx="2333625" cy="153352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62000" y="752158"/>
            <a:ext cx="8135303" cy="552450"/>
          </a:xfrm>
          <a:prstGeom prst="rect">
            <a:avLst/>
          </a:prstGeom>
          <a:noFill/>
        </p:spPr>
        <p:txBody>
          <a:bodyPr wrap="square" rtlCol="0" anchor="ctr"/>
          <a:lstStyle/>
          <a:p>
            <a:pPr marL="0" indent="0">
              <a:buNone/>
            </a:pPr>
            <a:r>
              <a:rPr lang="en-US" sz="2400" b="1" dirty="0">
                <a:solidFill>
                  <a:srgbClr val="2E0158"/>
                </a:solidFill>
                <a:latin typeface="Times New Roman" panose="02020503050405090304" charset="0"/>
                <a:ea typeface="Times New Roman" panose="02020503050405090304" charset="0"/>
                <a:cs typeface="Times New Roman" panose="02020503050405090304" charset="0"/>
                <a:sym typeface="+mn-ea"/>
              </a:rPr>
              <a:t>Tkinter Label (2)</a:t>
            </a:r>
            <a:endParaRPr lang="en-US" sz="2400" dirty="0"/>
          </a:p>
        </p:txBody>
      </p:sp>
      <p:sp>
        <p:nvSpPr>
          <p:cNvPr id="3" name="Text 1"/>
          <p:cNvSpPr/>
          <p:nvPr/>
        </p:nvSpPr>
        <p:spPr>
          <a:xfrm>
            <a:off x="762000" y="1304925"/>
            <a:ext cx="7715250" cy="3395663"/>
          </a:xfrm>
          <a:prstGeom prst="rect">
            <a:avLst/>
          </a:prstGeom>
          <a:noFill/>
        </p:spPr>
        <p:txBody>
          <a:bodyPr wrap="square" rtlCol="0" anchor="t"/>
          <a:lstStyle/>
          <a:p>
            <a:pPr marL="342900" indent="-342900" algn="l">
              <a:lnSpc>
                <a:spcPct val="150000"/>
              </a:lnSpc>
              <a:buSzPct val="100000"/>
              <a:buChar char="•"/>
            </a:pPr>
            <a:endParaRPr lang="en-US" sz="1470" dirty="0">
              <a:solidFill>
                <a:srgbClr val="383838"/>
              </a:solidFill>
              <a:latin typeface="Times New Roman" panose="02020503050405090304" charset="0"/>
              <a:ea typeface="Times New Roman" panose="02020503050405090304" charset="0"/>
              <a:cs typeface="Times New Roman" panose="02020503050405090304" charset="0"/>
              <a:sym typeface="+mn-ea"/>
            </a:endParaRPr>
          </a:p>
        </p:txBody>
      </p:sp>
      <p:pic>
        <p:nvPicPr>
          <p:cNvPr id="7" name="图片 6" descr="zh-hans_logo"/>
          <p:cNvPicPr>
            <a:picLocks noChangeAspect="1"/>
          </p:cNvPicPr>
          <p:nvPr>
            <p:custDataLst>
              <p:tags r:id="rId1"/>
            </p:custDataLst>
          </p:nvPr>
        </p:nvPicPr>
        <p:blipFill>
          <a:blip r:embed="rId4"/>
          <a:stretch>
            <a:fillRect/>
          </a:stretch>
        </p:blipFill>
        <p:spPr>
          <a:xfrm>
            <a:off x="0" y="85090"/>
            <a:ext cx="4361180" cy="625475"/>
          </a:xfrm>
          <a:prstGeom prst="rect">
            <a:avLst/>
          </a:prstGeom>
        </p:spPr>
      </p:pic>
      <p:sp>
        <p:nvSpPr>
          <p:cNvPr id="6" name="文本框 5"/>
          <p:cNvSpPr txBox="1"/>
          <p:nvPr/>
        </p:nvSpPr>
        <p:spPr>
          <a:xfrm>
            <a:off x="762000" y="1252855"/>
            <a:ext cx="4572000" cy="3692525"/>
          </a:xfrm>
          <a:prstGeom prst="rect">
            <a:avLst/>
          </a:prstGeom>
          <a:noFill/>
        </p:spPr>
        <p:txBody>
          <a:bodyPr wrap="square" rtlCol="0" anchor="t">
            <a:spAutoFit/>
          </a:bodyPr>
          <a:lstStyle/>
          <a:p>
            <a:r>
              <a:rPr lang="zh-CN" altLang="en-US"/>
              <a:t>import tkinter as tk</a:t>
            </a:r>
          </a:p>
          <a:p>
            <a:r>
              <a:rPr lang="zh-CN" altLang="en-US"/>
              <a:t>window=tk.Tk()</a:t>
            </a:r>
          </a:p>
          <a:p>
            <a:r>
              <a:rPr lang="zh-CN" altLang="en-US"/>
              <a:t>window.title('Mywindow')</a:t>
            </a:r>
          </a:p>
          <a:p>
            <a:r>
              <a:rPr lang="zh-CN" altLang="en-US"/>
              <a:t>window.geometry('200x100')</a:t>
            </a:r>
          </a:p>
          <a:p>
            <a:r>
              <a:rPr lang="zh-CN" altLang="en-US"/>
              <a:t>var=tk.StringVar()</a:t>
            </a:r>
          </a:p>
          <a:p>
            <a:r>
              <a:rPr lang="en-US" altLang="zh-CN"/>
              <a:t>var.set(‘welcome’)</a:t>
            </a:r>
            <a:endParaRPr lang="zh-CN" altLang="en-US"/>
          </a:p>
          <a:p>
            <a:r>
              <a:rPr lang="zh-CN" altLang="en-US"/>
              <a:t>l = tk.Label(window, </a:t>
            </a:r>
          </a:p>
          <a:p>
            <a:r>
              <a:rPr lang="zh-CN" altLang="en-US"/>
              <a:t>    textvariable=var,</a:t>
            </a:r>
          </a:p>
          <a:p>
            <a:r>
              <a:rPr lang="zh-CN" altLang="en-US"/>
              <a:t>    bg='green',</a:t>
            </a:r>
          </a:p>
          <a:p>
            <a:r>
              <a:rPr lang="zh-CN" altLang="en-US"/>
              <a:t>    font=('Arial', 12),</a:t>
            </a:r>
          </a:p>
          <a:p>
            <a:r>
              <a:rPr lang="zh-CN" altLang="en-US"/>
              <a:t>    width=15, height=2)</a:t>
            </a:r>
          </a:p>
          <a:p>
            <a:r>
              <a:rPr lang="zh-CN" altLang="en-US"/>
              <a:t>l.pack()</a:t>
            </a:r>
          </a:p>
          <a:p>
            <a:r>
              <a:rPr lang="zh-CN" altLang="en-US">
                <a:sym typeface="+mn-ea"/>
              </a:rPr>
              <a:t>window.mainloop()</a:t>
            </a:r>
            <a:endParaRPr lang="zh-CN" altLang="en-US"/>
          </a:p>
        </p:txBody>
      </p:sp>
      <p:pic>
        <p:nvPicPr>
          <p:cNvPr id="4" name="图片 3"/>
          <p:cNvPicPr>
            <a:picLocks noChangeAspect="1"/>
          </p:cNvPicPr>
          <p:nvPr/>
        </p:nvPicPr>
        <p:blipFill>
          <a:blip r:embed="rId5"/>
          <a:stretch>
            <a:fillRect/>
          </a:stretch>
        </p:blipFill>
        <p:spPr>
          <a:xfrm>
            <a:off x="4687570" y="1252855"/>
            <a:ext cx="2314575" cy="151447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62000" y="752158"/>
            <a:ext cx="8135303" cy="552450"/>
          </a:xfrm>
          <a:prstGeom prst="rect">
            <a:avLst/>
          </a:prstGeom>
          <a:noFill/>
        </p:spPr>
        <p:txBody>
          <a:bodyPr wrap="square" rtlCol="0" anchor="ctr"/>
          <a:lstStyle/>
          <a:p>
            <a:pPr marL="0" indent="0">
              <a:buNone/>
            </a:pPr>
            <a:r>
              <a:rPr lang="en-US" sz="2400" b="1" dirty="0">
                <a:solidFill>
                  <a:srgbClr val="2E0158"/>
                </a:solidFill>
                <a:latin typeface="Times New Roman" panose="02020503050405090304" charset="0"/>
                <a:ea typeface="Times New Roman" panose="02020503050405090304" charset="0"/>
                <a:cs typeface="Times New Roman" panose="02020503050405090304" charset="0"/>
                <a:sym typeface="+mn-ea"/>
              </a:rPr>
              <a:t>Tkinter Button</a:t>
            </a:r>
            <a:endParaRPr lang="en-US" sz="2400" dirty="0"/>
          </a:p>
        </p:txBody>
      </p:sp>
      <p:sp>
        <p:nvSpPr>
          <p:cNvPr id="3" name="Text 1"/>
          <p:cNvSpPr/>
          <p:nvPr/>
        </p:nvSpPr>
        <p:spPr>
          <a:xfrm>
            <a:off x="714375" y="1304925"/>
            <a:ext cx="7630160" cy="3395980"/>
          </a:xfrm>
          <a:prstGeom prst="rect">
            <a:avLst/>
          </a:prstGeom>
          <a:noFill/>
        </p:spPr>
        <p:txBody>
          <a:bodyPr wrap="square" rtlCol="0" anchor="t"/>
          <a:lstStyle/>
          <a:p>
            <a:pPr marL="342900" indent="-342900" algn="l" fontAlgn="auto">
              <a:lnSpc>
                <a:spcPct val="100000"/>
              </a:lnSpc>
              <a:buSzPct val="100000"/>
              <a:buChar char="•"/>
            </a:pPr>
            <a:r>
              <a:rPr lang="en-US" sz="1200" dirty="0">
                <a:solidFill>
                  <a:schemeClr val="tx1"/>
                </a:solidFill>
                <a:latin typeface="Times New Roman" panose="02020503050405090304" charset="0"/>
                <a:ea typeface="Times New Roman" panose="02020503050405090304" charset="0"/>
                <a:cs typeface="Times New Roman" panose="02020503050405090304" charset="0"/>
                <a:sym typeface="+mn-ea"/>
              </a:rPr>
              <a:t>import tkinter as tk</a:t>
            </a:r>
          </a:p>
          <a:p>
            <a:pPr marL="342900" indent="-342900" algn="l" fontAlgn="auto">
              <a:lnSpc>
                <a:spcPct val="100000"/>
              </a:lnSpc>
              <a:buSzPct val="100000"/>
              <a:buChar char="•"/>
            </a:pPr>
            <a:r>
              <a:rPr lang="en-US" sz="1200" dirty="0">
                <a:solidFill>
                  <a:schemeClr val="tx1"/>
                </a:solidFill>
                <a:latin typeface="Times New Roman" panose="02020503050405090304" charset="0"/>
                <a:ea typeface="Times New Roman" panose="02020503050405090304" charset="0"/>
                <a:cs typeface="Times New Roman" panose="02020503050405090304" charset="0"/>
                <a:sym typeface="+mn-ea"/>
              </a:rPr>
              <a:t>window=tk.Tk()</a:t>
            </a:r>
          </a:p>
          <a:p>
            <a:pPr marL="342900" indent="-342900" algn="l" fontAlgn="auto">
              <a:lnSpc>
                <a:spcPct val="100000"/>
              </a:lnSpc>
              <a:buSzPct val="100000"/>
              <a:buChar char="•"/>
            </a:pPr>
            <a:r>
              <a:rPr lang="en-US" sz="1200" dirty="0">
                <a:solidFill>
                  <a:schemeClr val="tx1"/>
                </a:solidFill>
                <a:latin typeface="Times New Roman" panose="02020503050405090304" charset="0"/>
                <a:ea typeface="Times New Roman" panose="02020503050405090304" charset="0"/>
                <a:cs typeface="Times New Roman" panose="02020503050405090304" charset="0"/>
                <a:sym typeface="+mn-ea"/>
              </a:rPr>
              <a:t>window.title('Mywindow')</a:t>
            </a:r>
          </a:p>
          <a:p>
            <a:pPr marL="342900" indent="-342900" algn="l" fontAlgn="auto">
              <a:lnSpc>
                <a:spcPct val="100000"/>
              </a:lnSpc>
              <a:buSzPct val="100000"/>
              <a:buChar char="•"/>
            </a:pPr>
            <a:r>
              <a:rPr lang="en-US" sz="1200" dirty="0">
                <a:solidFill>
                  <a:schemeClr val="tx1"/>
                </a:solidFill>
                <a:latin typeface="Times New Roman" panose="02020503050405090304" charset="0"/>
                <a:ea typeface="Times New Roman" panose="02020503050405090304" charset="0"/>
                <a:cs typeface="Times New Roman" panose="02020503050405090304" charset="0"/>
                <a:sym typeface="+mn-ea"/>
              </a:rPr>
              <a:t>window.geometry('200x100')</a:t>
            </a:r>
          </a:p>
          <a:p>
            <a:pPr marL="342900" indent="-342900" algn="l" fontAlgn="auto">
              <a:lnSpc>
                <a:spcPct val="100000"/>
              </a:lnSpc>
              <a:buSzPct val="100000"/>
              <a:buChar char="•"/>
            </a:pPr>
            <a:r>
              <a:rPr lang="en-US" sz="1200" dirty="0">
                <a:solidFill>
                  <a:schemeClr val="tx1"/>
                </a:solidFill>
                <a:latin typeface="Times New Roman" panose="02020503050405090304" charset="0"/>
                <a:ea typeface="Times New Roman" panose="02020503050405090304" charset="0"/>
                <a:cs typeface="Times New Roman" panose="02020503050405090304" charset="0"/>
                <a:sym typeface="+mn-ea"/>
              </a:rPr>
              <a:t>on_hit=False</a:t>
            </a:r>
          </a:p>
          <a:p>
            <a:pPr marL="342900" indent="-342900" algn="l" fontAlgn="auto">
              <a:lnSpc>
                <a:spcPct val="100000"/>
              </a:lnSpc>
              <a:buSzPct val="100000"/>
              <a:buChar char="•"/>
            </a:pPr>
            <a:r>
              <a:rPr lang="en-US" sz="1200" dirty="0">
                <a:solidFill>
                  <a:schemeClr val="tx1"/>
                </a:solidFill>
                <a:latin typeface="Times New Roman" panose="02020503050405090304" charset="0"/>
                <a:ea typeface="Times New Roman" panose="02020503050405090304" charset="0"/>
                <a:cs typeface="Times New Roman" panose="02020503050405090304" charset="0"/>
                <a:sym typeface="+mn-ea"/>
              </a:rPr>
              <a:t>var = tk.StringVar()</a:t>
            </a:r>
          </a:p>
          <a:p>
            <a:pPr marL="342900" indent="-342900" algn="l" fontAlgn="auto">
              <a:lnSpc>
                <a:spcPct val="100000"/>
              </a:lnSpc>
              <a:buSzPct val="100000"/>
              <a:buChar char="•"/>
            </a:pPr>
            <a:r>
              <a:rPr lang="en-US" sz="1200" dirty="0">
                <a:solidFill>
                  <a:schemeClr val="tx1"/>
                </a:solidFill>
                <a:latin typeface="Times New Roman" panose="02020503050405090304" charset="0"/>
                <a:ea typeface="Times New Roman" panose="02020503050405090304" charset="0"/>
                <a:cs typeface="Times New Roman" panose="02020503050405090304" charset="0"/>
                <a:sym typeface="+mn-ea"/>
              </a:rPr>
              <a:t>def hit_me():</a:t>
            </a:r>
          </a:p>
          <a:p>
            <a:pPr marL="342900" indent="-342900" algn="l" fontAlgn="auto">
              <a:lnSpc>
                <a:spcPct val="100000"/>
              </a:lnSpc>
              <a:buSzPct val="100000"/>
              <a:buChar char="•"/>
            </a:pPr>
            <a:r>
              <a:rPr lang="en-US" sz="1200" dirty="0">
                <a:solidFill>
                  <a:schemeClr val="tx1"/>
                </a:solidFill>
                <a:latin typeface="Times New Roman" panose="02020503050405090304" charset="0"/>
                <a:ea typeface="Times New Roman" panose="02020503050405090304" charset="0"/>
                <a:cs typeface="Times New Roman" panose="02020503050405090304" charset="0"/>
                <a:sym typeface="+mn-ea"/>
              </a:rPr>
              <a:t>    global on_hit</a:t>
            </a:r>
          </a:p>
          <a:p>
            <a:pPr marL="342900" indent="-342900" algn="l" fontAlgn="auto">
              <a:lnSpc>
                <a:spcPct val="100000"/>
              </a:lnSpc>
              <a:buSzPct val="100000"/>
              <a:buChar char="•"/>
            </a:pPr>
            <a:r>
              <a:rPr lang="en-US" sz="1200" dirty="0">
                <a:solidFill>
                  <a:schemeClr val="tx1"/>
                </a:solidFill>
                <a:latin typeface="Times New Roman" panose="02020503050405090304" charset="0"/>
                <a:ea typeface="Times New Roman" panose="02020503050405090304" charset="0"/>
                <a:cs typeface="Times New Roman" panose="02020503050405090304" charset="0"/>
                <a:sym typeface="+mn-ea"/>
              </a:rPr>
              <a:t>    if on_hit==False:</a:t>
            </a:r>
          </a:p>
          <a:p>
            <a:pPr marL="342900" indent="-342900" algn="l" fontAlgn="auto">
              <a:lnSpc>
                <a:spcPct val="100000"/>
              </a:lnSpc>
              <a:buSzPct val="100000"/>
              <a:buChar char="•"/>
            </a:pPr>
            <a:r>
              <a:rPr lang="en-US" sz="1200" dirty="0">
                <a:solidFill>
                  <a:schemeClr val="tx1"/>
                </a:solidFill>
                <a:latin typeface="Times New Roman" panose="02020503050405090304" charset="0"/>
                <a:ea typeface="Times New Roman" panose="02020503050405090304" charset="0"/>
                <a:cs typeface="Times New Roman" panose="02020503050405090304" charset="0"/>
                <a:sym typeface="+mn-ea"/>
              </a:rPr>
              <a:t>        on_hit=True</a:t>
            </a:r>
          </a:p>
          <a:p>
            <a:pPr marL="342900" indent="-342900" algn="l" fontAlgn="auto">
              <a:lnSpc>
                <a:spcPct val="100000"/>
              </a:lnSpc>
              <a:buSzPct val="100000"/>
              <a:buChar char="•"/>
            </a:pPr>
            <a:r>
              <a:rPr lang="en-US" sz="1200" dirty="0">
                <a:solidFill>
                  <a:schemeClr val="tx1"/>
                </a:solidFill>
                <a:latin typeface="Times New Roman" panose="02020503050405090304" charset="0"/>
                <a:ea typeface="Times New Roman" panose="02020503050405090304" charset="0"/>
                <a:cs typeface="Times New Roman" panose="02020503050405090304" charset="0"/>
                <a:sym typeface="+mn-ea"/>
              </a:rPr>
              <a:t>        var.set('You hit me!')</a:t>
            </a:r>
          </a:p>
          <a:p>
            <a:pPr marL="342900" indent="-342900" algn="l" fontAlgn="auto">
              <a:lnSpc>
                <a:spcPct val="100000"/>
              </a:lnSpc>
              <a:buSzPct val="100000"/>
              <a:buChar char="•"/>
            </a:pPr>
            <a:r>
              <a:rPr lang="en-US" sz="1200" dirty="0">
                <a:solidFill>
                  <a:schemeClr val="tx1"/>
                </a:solidFill>
                <a:latin typeface="Times New Roman" panose="02020503050405090304" charset="0"/>
                <a:ea typeface="Times New Roman" panose="02020503050405090304" charset="0"/>
                <a:cs typeface="Times New Roman" panose="02020503050405090304" charset="0"/>
                <a:sym typeface="+mn-ea"/>
              </a:rPr>
              <a:t>    else:</a:t>
            </a:r>
          </a:p>
          <a:p>
            <a:pPr marL="342900" indent="-342900" algn="l" fontAlgn="auto">
              <a:lnSpc>
                <a:spcPct val="100000"/>
              </a:lnSpc>
              <a:buSzPct val="100000"/>
              <a:buChar char="•"/>
            </a:pPr>
            <a:r>
              <a:rPr lang="en-US" sz="1200" dirty="0">
                <a:solidFill>
                  <a:schemeClr val="tx1"/>
                </a:solidFill>
                <a:latin typeface="Times New Roman" panose="02020503050405090304" charset="0"/>
                <a:ea typeface="Times New Roman" panose="02020503050405090304" charset="0"/>
                <a:cs typeface="Times New Roman" panose="02020503050405090304" charset="0"/>
                <a:sym typeface="+mn-ea"/>
              </a:rPr>
              <a:t>        on_hit=False</a:t>
            </a:r>
          </a:p>
          <a:p>
            <a:pPr marL="342900" indent="-342900" algn="l" fontAlgn="auto">
              <a:lnSpc>
                <a:spcPct val="100000"/>
              </a:lnSpc>
              <a:buSzPct val="100000"/>
              <a:buChar char="•"/>
            </a:pPr>
            <a:r>
              <a:rPr lang="en-US" sz="1200" dirty="0">
                <a:solidFill>
                  <a:schemeClr val="tx1"/>
                </a:solidFill>
                <a:latin typeface="Times New Roman" panose="02020503050405090304" charset="0"/>
                <a:ea typeface="Times New Roman" panose="02020503050405090304" charset="0"/>
                <a:cs typeface="Times New Roman" panose="02020503050405090304" charset="0"/>
                <a:sym typeface="+mn-ea"/>
              </a:rPr>
              <a:t>        var.set('')</a:t>
            </a:r>
          </a:p>
          <a:p>
            <a:pPr marL="342900" indent="-342900" algn="l" fontAlgn="auto">
              <a:lnSpc>
                <a:spcPct val="100000"/>
              </a:lnSpc>
              <a:buSzPct val="100000"/>
              <a:buChar char="•"/>
            </a:pPr>
            <a:r>
              <a:rPr lang="en-US" sz="1200" dirty="0">
                <a:solidFill>
                  <a:schemeClr val="tx1"/>
                </a:solidFill>
                <a:latin typeface="Times New Roman" panose="02020503050405090304" charset="0"/>
                <a:ea typeface="Times New Roman" panose="02020503050405090304" charset="0"/>
                <a:cs typeface="Times New Roman" panose="02020503050405090304" charset="0"/>
                <a:sym typeface="+mn-ea"/>
              </a:rPr>
              <a:t>b=tk.Button(window,text='hello',width=15,height=2,command=hit_me)</a:t>
            </a:r>
          </a:p>
          <a:p>
            <a:pPr marL="342900" indent="-342900" algn="l" fontAlgn="auto">
              <a:lnSpc>
                <a:spcPct val="100000"/>
              </a:lnSpc>
              <a:buSzPct val="100000"/>
              <a:buChar char="•"/>
            </a:pPr>
            <a:r>
              <a:rPr lang="en-US" sz="1200" dirty="0">
                <a:solidFill>
                  <a:schemeClr val="tx1"/>
                </a:solidFill>
                <a:latin typeface="Times New Roman" panose="02020503050405090304" charset="0"/>
                <a:ea typeface="Times New Roman" panose="02020503050405090304" charset="0"/>
                <a:cs typeface="Times New Roman" panose="02020503050405090304" charset="0"/>
                <a:sym typeface="+mn-ea"/>
              </a:rPr>
              <a:t>b.pack()</a:t>
            </a:r>
          </a:p>
          <a:p>
            <a:pPr marL="342900" indent="-342900" algn="l" fontAlgn="auto">
              <a:lnSpc>
                <a:spcPct val="100000"/>
              </a:lnSpc>
              <a:buSzPct val="100000"/>
              <a:buChar char="•"/>
            </a:pPr>
            <a:r>
              <a:rPr lang="en-US" sz="1200" dirty="0">
                <a:solidFill>
                  <a:schemeClr val="tx1"/>
                </a:solidFill>
                <a:latin typeface="Times New Roman" panose="02020503050405090304" charset="0"/>
                <a:ea typeface="Times New Roman" panose="02020503050405090304" charset="0"/>
                <a:cs typeface="Times New Roman" panose="02020503050405090304" charset="0"/>
                <a:sym typeface="+mn-ea"/>
              </a:rPr>
              <a:t>label = tk.Label(window, textvariable=var)</a:t>
            </a:r>
          </a:p>
          <a:p>
            <a:pPr marL="342900" indent="-342900" algn="l" fontAlgn="auto">
              <a:lnSpc>
                <a:spcPct val="100000"/>
              </a:lnSpc>
              <a:buSzPct val="100000"/>
              <a:buChar char="•"/>
            </a:pPr>
            <a:r>
              <a:rPr lang="en-US" sz="1200" dirty="0">
                <a:solidFill>
                  <a:schemeClr val="tx1"/>
                </a:solidFill>
                <a:latin typeface="Times New Roman" panose="02020503050405090304" charset="0"/>
                <a:ea typeface="Times New Roman" panose="02020503050405090304" charset="0"/>
                <a:cs typeface="Times New Roman" panose="02020503050405090304" charset="0"/>
                <a:sym typeface="+mn-ea"/>
              </a:rPr>
              <a:t>label.pack()</a:t>
            </a:r>
          </a:p>
          <a:p>
            <a:pPr marL="342900" indent="-342900" algn="l" fontAlgn="auto">
              <a:lnSpc>
                <a:spcPct val="100000"/>
              </a:lnSpc>
              <a:buSzPct val="100000"/>
              <a:buChar char="•"/>
            </a:pPr>
            <a:r>
              <a:rPr lang="en-US" sz="1200" dirty="0">
                <a:solidFill>
                  <a:schemeClr val="tx1"/>
                </a:solidFill>
                <a:latin typeface="Times New Roman" panose="02020503050405090304" charset="0"/>
                <a:ea typeface="Times New Roman" panose="02020503050405090304" charset="0"/>
                <a:cs typeface="Times New Roman" panose="02020503050405090304" charset="0"/>
                <a:sym typeface="+mn-ea"/>
              </a:rPr>
              <a:t>window.mainloop()</a:t>
            </a:r>
          </a:p>
        </p:txBody>
      </p:sp>
      <p:pic>
        <p:nvPicPr>
          <p:cNvPr id="7" name="图片 6" descr="zh-hans_logo"/>
          <p:cNvPicPr>
            <a:picLocks noChangeAspect="1"/>
          </p:cNvPicPr>
          <p:nvPr>
            <p:custDataLst>
              <p:tags r:id="rId1"/>
            </p:custDataLst>
          </p:nvPr>
        </p:nvPicPr>
        <p:blipFill>
          <a:blip r:embed="rId4"/>
          <a:stretch>
            <a:fillRect/>
          </a:stretch>
        </p:blipFill>
        <p:spPr>
          <a:xfrm>
            <a:off x="0" y="85090"/>
            <a:ext cx="4361180" cy="625475"/>
          </a:xfrm>
          <a:prstGeom prst="rect">
            <a:avLst/>
          </a:prstGeom>
        </p:spPr>
      </p:pic>
      <p:pic>
        <p:nvPicPr>
          <p:cNvPr id="4" name="图片 3"/>
          <p:cNvPicPr>
            <a:picLocks noChangeAspect="1"/>
          </p:cNvPicPr>
          <p:nvPr/>
        </p:nvPicPr>
        <p:blipFill>
          <a:blip r:embed="rId5"/>
          <a:stretch>
            <a:fillRect/>
          </a:stretch>
        </p:blipFill>
        <p:spPr>
          <a:xfrm>
            <a:off x="5616575" y="2739390"/>
            <a:ext cx="2324100" cy="1485900"/>
          </a:xfrm>
          <a:prstGeom prst="rect">
            <a:avLst/>
          </a:prstGeom>
        </p:spPr>
      </p:pic>
      <p:pic>
        <p:nvPicPr>
          <p:cNvPr id="5" name="图片 4"/>
          <p:cNvPicPr>
            <a:picLocks noChangeAspect="1"/>
          </p:cNvPicPr>
          <p:nvPr/>
        </p:nvPicPr>
        <p:blipFill>
          <a:blip r:embed="rId6"/>
          <a:stretch>
            <a:fillRect/>
          </a:stretch>
        </p:blipFill>
        <p:spPr>
          <a:xfrm>
            <a:off x="5607685" y="1028700"/>
            <a:ext cx="2343150" cy="15430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62000" y="651828"/>
            <a:ext cx="8135303" cy="552450"/>
          </a:xfrm>
          <a:prstGeom prst="rect">
            <a:avLst/>
          </a:prstGeom>
          <a:noFill/>
        </p:spPr>
        <p:txBody>
          <a:bodyPr wrap="square" rtlCol="0" anchor="ctr"/>
          <a:lstStyle/>
          <a:p>
            <a:pPr marL="0" indent="0">
              <a:buNone/>
            </a:pPr>
            <a:r>
              <a:rPr lang="en-US" sz="2400" b="1" dirty="0">
                <a:solidFill>
                  <a:srgbClr val="2E0158"/>
                </a:solidFill>
                <a:latin typeface="Times New Roman" panose="02020503050405090304" charset="0"/>
                <a:ea typeface="Times New Roman" panose="02020503050405090304" charset="0"/>
                <a:cs typeface="Times New Roman" panose="02020503050405090304" charset="0"/>
                <a:sym typeface="+mn-ea"/>
              </a:rPr>
              <a:t>Tkinter Entry &amp; Text</a:t>
            </a:r>
          </a:p>
        </p:txBody>
      </p:sp>
      <p:sp>
        <p:nvSpPr>
          <p:cNvPr id="3" name="Text 1"/>
          <p:cNvSpPr/>
          <p:nvPr/>
        </p:nvSpPr>
        <p:spPr>
          <a:xfrm>
            <a:off x="727710" y="1204595"/>
            <a:ext cx="8169910" cy="3640455"/>
          </a:xfrm>
          <a:prstGeom prst="rect">
            <a:avLst/>
          </a:prstGeom>
          <a:noFill/>
        </p:spPr>
        <p:txBody>
          <a:bodyPr wrap="square" rtlCol="0" anchor="t"/>
          <a:lstStyle/>
          <a:p>
            <a:pPr marL="342900" indent="-342900" algn="l" fontAlgn="auto">
              <a:lnSpc>
                <a:spcPct val="100000"/>
              </a:lnSpc>
              <a:buSzPct val="100000"/>
              <a:buChar char="•"/>
            </a:pPr>
            <a:r>
              <a:rPr lang="en-US" sz="1400" dirty="0">
                <a:solidFill>
                  <a:schemeClr val="tx1"/>
                </a:solidFill>
                <a:latin typeface="Times New Roman" panose="02020503050405090304" charset="0"/>
                <a:ea typeface="Times New Roman" panose="02020503050405090304" charset="0"/>
                <a:cs typeface="Times New Roman" panose="02020503050405090304" charset="0"/>
                <a:sym typeface="+mn-ea"/>
              </a:rPr>
              <a:t>import tkinter as tk</a:t>
            </a:r>
          </a:p>
          <a:p>
            <a:pPr marL="342900" indent="-342900" algn="l" fontAlgn="auto">
              <a:lnSpc>
                <a:spcPct val="100000"/>
              </a:lnSpc>
              <a:buSzPct val="100000"/>
              <a:buChar char="•"/>
            </a:pPr>
            <a:r>
              <a:rPr lang="en-US" sz="1400" dirty="0">
                <a:solidFill>
                  <a:schemeClr val="tx1"/>
                </a:solidFill>
                <a:latin typeface="Times New Roman" panose="02020503050405090304" charset="0"/>
                <a:ea typeface="Times New Roman" panose="02020503050405090304" charset="0"/>
                <a:cs typeface="Times New Roman" panose="02020503050405090304" charset="0"/>
                <a:sym typeface="+mn-ea"/>
              </a:rPr>
              <a:t>window = tk.Tk()</a:t>
            </a:r>
          </a:p>
          <a:p>
            <a:pPr marL="342900" indent="-342900" algn="l" fontAlgn="auto">
              <a:lnSpc>
                <a:spcPct val="100000"/>
              </a:lnSpc>
              <a:buSzPct val="100000"/>
              <a:buChar char="•"/>
            </a:pPr>
            <a:r>
              <a:rPr lang="en-US" sz="1400" dirty="0">
                <a:solidFill>
                  <a:schemeClr val="tx1"/>
                </a:solidFill>
                <a:latin typeface="Times New Roman" panose="02020503050405090304" charset="0"/>
                <a:ea typeface="Times New Roman" panose="02020503050405090304" charset="0"/>
                <a:cs typeface="Times New Roman" panose="02020503050405090304" charset="0"/>
                <a:sym typeface="+mn-ea"/>
              </a:rPr>
              <a:t>window.title('my window')</a:t>
            </a:r>
          </a:p>
          <a:p>
            <a:pPr marL="342900" indent="-342900" algn="l" fontAlgn="auto">
              <a:lnSpc>
                <a:spcPct val="100000"/>
              </a:lnSpc>
              <a:buSzPct val="100000"/>
              <a:buChar char="•"/>
            </a:pPr>
            <a:r>
              <a:rPr lang="en-US" sz="1400" dirty="0">
                <a:solidFill>
                  <a:schemeClr val="tx1"/>
                </a:solidFill>
                <a:latin typeface="Times New Roman" panose="02020503050405090304" charset="0"/>
                <a:ea typeface="Times New Roman" panose="02020503050405090304" charset="0"/>
                <a:cs typeface="Times New Roman" panose="02020503050405090304" charset="0"/>
                <a:sym typeface="+mn-ea"/>
              </a:rPr>
              <a:t>window.geometry('200x200')</a:t>
            </a:r>
          </a:p>
          <a:p>
            <a:pPr marL="342900" indent="-342900" algn="l" fontAlgn="auto">
              <a:lnSpc>
                <a:spcPct val="100000"/>
              </a:lnSpc>
              <a:buSzPct val="100000"/>
              <a:buChar char="•"/>
            </a:pPr>
            <a:r>
              <a:rPr lang="en-US" sz="1400" dirty="0">
                <a:solidFill>
                  <a:schemeClr val="tx1"/>
                </a:solidFill>
                <a:latin typeface="Times New Roman" panose="02020503050405090304" charset="0"/>
                <a:ea typeface="Times New Roman" panose="02020503050405090304" charset="0"/>
                <a:cs typeface="Times New Roman" panose="02020503050405090304" charset="0"/>
                <a:sym typeface="+mn-ea"/>
              </a:rPr>
              <a:t>e=tk.Entry(window,show=None)</a:t>
            </a:r>
          </a:p>
          <a:p>
            <a:pPr marL="342900" indent="-342900" algn="l" fontAlgn="auto">
              <a:lnSpc>
                <a:spcPct val="100000"/>
              </a:lnSpc>
              <a:buSzPct val="100000"/>
              <a:buChar char="•"/>
            </a:pPr>
            <a:r>
              <a:rPr lang="en-US" sz="1400" dirty="0">
                <a:solidFill>
                  <a:schemeClr val="tx1"/>
                </a:solidFill>
                <a:latin typeface="Times New Roman" panose="02020503050405090304" charset="0"/>
                <a:ea typeface="Times New Roman" panose="02020503050405090304" charset="0"/>
                <a:cs typeface="Times New Roman" panose="02020503050405090304" charset="0"/>
                <a:sym typeface="+mn-ea"/>
              </a:rPr>
              <a:t>e.pack()</a:t>
            </a:r>
          </a:p>
          <a:p>
            <a:pPr marL="342900" indent="-342900" algn="l" fontAlgn="auto">
              <a:lnSpc>
                <a:spcPct val="100000"/>
              </a:lnSpc>
              <a:buSzPct val="100000"/>
              <a:buChar char="•"/>
            </a:pPr>
            <a:r>
              <a:rPr lang="en-US" sz="1400" dirty="0">
                <a:solidFill>
                  <a:schemeClr val="tx1"/>
                </a:solidFill>
                <a:latin typeface="Times New Roman" panose="02020503050405090304" charset="0"/>
                <a:ea typeface="Times New Roman" panose="02020503050405090304" charset="0"/>
                <a:cs typeface="Times New Roman" panose="02020503050405090304" charset="0"/>
                <a:sym typeface="+mn-ea"/>
              </a:rPr>
              <a:t>def insert_point():</a:t>
            </a:r>
          </a:p>
          <a:p>
            <a:pPr marL="342900" indent="-342900" algn="l" fontAlgn="auto">
              <a:lnSpc>
                <a:spcPct val="100000"/>
              </a:lnSpc>
              <a:buSzPct val="100000"/>
              <a:buChar char="•"/>
            </a:pPr>
            <a:r>
              <a:rPr lang="en-US" sz="1400" dirty="0">
                <a:solidFill>
                  <a:schemeClr val="tx1"/>
                </a:solidFill>
                <a:latin typeface="Times New Roman" panose="02020503050405090304" charset="0"/>
                <a:ea typeface="Times New Roman" panose="02020503050405090304" charset="0"/>
                <a:cs typeface="Times New Roman" panose="02020503050405090304" charset="0"/>
                <a:sym typeface="+mn-ea"/>
              </a:rPr>
              <a:t>    var=e.get()</a:t>
            </a:r>
          </a:p>
          <a:p>
            <a:pPr marL="342900" indent="-342900" algn="l" fontAlgn="auto">
              <a:lnSpc>
                <a:spcPct val="100000"/>
              </a:lnSpc>
              <a:buSzPct val="100000"/>
              <a:buChar char="•"/>
            </a:pPr>
            <a:r>
              <a:rPr lang="en-US" sz="1400" dirty="0">
                <a:solidFill>
                  <a:schemeClr val="tx1"/>
                </a:solidFill>
                <a:latin typeface="Times New Roman" panose="02020503050405090304" charset="0"/>
                <a:ea typeface="Times New Roman" panose="02020503050405090304" charset="0"/>
                <a:cs typeface="Times New Roman" panose="02020503050405090304" charset="0"/>
                <a:sym typeface="+mn-ea"/>
              </a:rPr>
              <a:t>    t.insert('insert',var)</a:t>
            </a:r>
          </a:p>
          <a:p>
            <a:pPr marL="342900" indent="-342900" algn="l" fontAlgn="auto">
              <a:lnSpc>
                <a:spcPct val="100000"/>
              </a:lnSpc>
              <a:buSzPct val="100000"/>
              <a:buChar char="•"/>
            </a:pPr>
            <a:r>
              <a:rPr lang="en-US" sz="1400" dirty="0">
                <a:solidFill>
                  <a:schemeClr val="tx1"/>
                </a:solidFill>
                <a:latin typeface="Times New Roman" panose="02020503050405090304" charset="0"/>
                <a:ea typeface="Times New Roman" panose="02020503050405090304" charset="0"/>
                <a:cs typeface="Times New Roman" panose="02020503050405090304" charset="0"/>
                <a:sym typeface="+mn-ea"/>
              </a:rPr>
              <a:t>b = tk.Button(window,text="insert point",width=15,</a:t>
            </a:r>
          </a:p>
          <a:p>
            <a:pPr marL="342900" indent="-342900" algn="l" fontAlgn="auto">
              <a:lnSpc>
                <a:spcPct val="100000"/>
              </a:lnSpc>
              <a:buSzPct val="100000"/>
              <a:buChar char="•"/>
            </a:pPr>
            <a:r>
              <a:rPr lang="en-US" sz="1400" dirty="0">
                <a:solidFill>
                  <a:schemeClr val="tx1"/>
                </a:solidFill>
                <a:latin typeface="Times New Roman" panose="02020503050405090304" charset="0"/>
                <a:ea typeface="Times New Roman" panose="02020503050405090304" charset="0"/>
                <a:cs typeface="Times New Roman" panose="02020503050405090304" charset="0"/>
                <a:sym typeface="+mn-ea"/>
              </a:rPr>
              <a:t>height=2,command=insert_point)</a:t>
            </a:r>
          </a:p>
          <a:p>
            <a:pPr marL="342900" indent="-342900" algn="l" fontAlgn="auto">
              <a:lnSpc>
                <a:spcPct val="100000"/>
              </a:lnSpc>
              <a:buSzPct val="100000"/>
              <a:buChar char="•"/>
            </a:pPr>
            <a:r>
              <a:rPr lang="en-US" sz="1400" dirty="0">
                <a:solidFill>
                  <a:schemeClr val="tx1"/>
                </a:solidFill>
                <a:latin typeface="Times New Roman" panose="02020503050405090304" charset="0"/>
                <a:ea typeface="Times New Roman" panose="02020503050405090304" charset="0"/>
                <a:cs typeface="Times New Roman" panose="02020503050405090304" charset="0"/>
                <a:sym typeface="+mn-ea"/>
              </a:rPr>
              <a:t>b.pack()</a:t>
            </a:r>
          </a:p>
          <a:p>
            <a:pPr marL="342900" indent="-342900" algn="l" fontAlgn="auto">
              <a:lnSpc>
                <a:spcPct val="100000"/>
              </a:lnSpc>
              <a:buSzPct val="100000"/>
              <a:buChar char="•"/>
            </a:pPr>
            <a:r>
              <a:rPr lang="en-US" sz="1400" dirty="0">
                <a:solidFill>
                  <a:schemeClr val="tx1"/>
                </a:solidFill>
                <a:latin typeface="Times New Roman" panose="02020503050405090304" charset="0"/>
                <a:ea typeface="Times New Roman" panose="02020503050405090304" charset="0"/>
                <a:cs typeface="Times New Roman" panose="02020503050405090304" charset="0"/>
                <a:sym typeface="+mn-ea"/>
              </a:rPr>
              <a:t>t=tk.Text(window,height=2)</a:t>
            </a:r>
          </a:p>
          <a:p>
            <a:pPr marL="342900" indent="-342900" algn="l" fontAlgn="auto">
              <a:lnSpc>
                <a:spcPct val="100000"/>
              </a:lnSpc>
              <a:buSzPct val="100000"/>
              <a:buChar char="•"/>
            </a:pPr>
            <a:r>
              <a:rPr lang="en-US" sz="1400" dirty="0">
                <a:solidFill>
                  <a:schemeClr val="tx1"/>
                </a:solidFill>
                <a:latin typeface="Times New Roman" panose="02020503050405090304" charset="0"/>
                <a:ea typeface="Times New Roman" panose="02020503050405090304" charset="0"/>
                <a:cs typeface="Times New Roman" panose="02020503050405090304" charset="0"/>
                <a:sym typeface="+mn-ea"/>
              </a:rPr>
              <a:t>t.pack()</a:t>
            </a:r>
          </a:p>
          <a:p>
            <a:pPr marL="342900" indent="-342900" algn="l" fontAlgn="auto">
              <a:lnSpc>
                <a:spcPct val="100000"/>
              </a:lnSpc>
              <a:buSzPct val="100000"/>
              <a:buChar char="•"/>
            </a:pPr>
            <a:r>
              <a:rPr lang="en-US" sz="1400" dirty="0">
                <a:solidFill>
                  <a:schemeClr val="tx1"/>
                </a:solidFill>
                <a:latin typeface="Times New Roman" panose="02020503050405090304" charset="0"/>
                <a:ea typeface="Times New Roman" panose="02020503050405090304" charset="0"/>
                <a:cs typeface="Times New Roman" panose="02020503050405090304" charset="0"/>
                <a:sym typeface="+mn-ea"/>
              </a:rPr>
              <a:t>window.mainloop()</a:t>
            </a:r>
          </a:p>
        </p:txBody>
      </p:sp>
      <p:pic>
        <p:nvPicPr>
          <p:cNvPr id="7" name="图片 6" descr="zh-hans_logo"/>
          <p:cNvPicPr>
            <a:picLocks noChangeAspect="1"/>
          </p:cNvPicPr>
          <p:nvPr>
            <p:custDataLst>
              <p:tags r:id="rId1"/>
            </p:custDataLst>
          </p:nvPr>
        </p:nvPicPr>
        <p:blipFill>
          <a:blip r:embed="rId4"/>
          <a:stretch>
            <a:fillRect/>
          </a:stretch>
        </p:blipFill>
        <p:spPr>
          <a:xfrm>
            <a:off x="0" y="85090"/>
            <a:ext cx="4361180" cy="625475"/>
          </a:xfrm>
          <a:prstGeom prst="rect">
            <a:avLst/>
          </a:prstGeom>
        </p:spPr>
      </p:pic>
      <p:pic>
        <p:nvPicPr>
          <p:cNvPr id="4" name="图片 3"/>
          <p:cNvPicPr>
            <a:picLocks noChangeAspect="1"/>
          </p:cNvPicPr>
          <p:nvPr/>
        </p:nvPicPr>
        <p:blipFill>
          <a:blip r:embed="rId5"/>
          <a:stretch>
            <a:fillRect/>
          </a:stretch>
        </p:blipFill>
        <p:spPr>
          <a:xfrm>
            <a:off x="5220335" y="1204595"/>
            <a:ext cx="2286000" cy="26289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62000" y="651828"/>
            <a:ext cx="8135303" cy="552450"/>
          </a:xfrm>
          <a:prstGeom prst="rect">
            <a:avLst/>
          </a:prstGeom>
          <a:noFill/>
        </p:spPr>
        <p:txBody>
          <a:bodyPr wrap="square" rtlCol="0" anchor="ctr"/>
          <a:lstStyle/>
          <a:p>
            <a:pPr marL="0" indent="0">
              <a:buNone/>
            </a:pPr>
            <a:r>
              <a:rPr lang="en-US" sz="2400" b="1" dirty="0">
                <a:solidFill>
                  <a:srgbClr val="2E0158"/>
                </a:solidFill>
                <a:latin typeface="Times New Roman" panose="02020503050405090304" charset="0"/>
                <a:ea typeface="Times New Roman" panose="02020503050405090304" charset="0"/>
                <a:cs typeface="Times New Roman" panose="02020503050405090304" charset="0"/>
                <a:sym typeface="+mn-ea"/>
              </a:rPr>
              <a:t>Tkinter Canvas</a:t>
            </a:r>
          </a:p>
        </p:txBody>
      </p:sp>
      <p:sp>
        <p:nvSpPr>
          <p:cNvPr id="3" name="Text 1"/>
          <p:cNvSpPr/>
          <p:nvPr/>
        </p:nvSpPr>
        <p:spPr>
          <a:xfrm>
            <a:off x="727710" y="1204595"/>
            <a:ext cx="8169910" cy="3640455"/>
          </a:xfrm>
          <a:prstGeom prst="rect">
            <a:avLst/>
          </a:prstGeom>
          <a:noFill/>
        </p:spPr>
        <p:txBody>
          <a:bodyPr wrap="square" rtlCol="0" anchor="t"/>
          <a:lstStyle/>
          <a:p>
            <a:pPr marL="342900" indent="-342900" algn="l" fontAlgn="auto">
              <a:lnSpc>
                <a:spcPct val="100000"/>
              </a:lnSpc>
              <a:buSzPct val="100000"/>
              <a:buChar char="•"/>
            </a:pPr>
            <a:r>
              <a:rPr lang="en-US" sz="1400" dirty="0">
                <a:solidFill>
                  <a:schemeClr val="tx1"/>
                </a:solidFill>
                <a:latin typeface="Times New Roman" panose="02020503050405090304" charset="0"/>
                <a:ea typeface="Times New Roman" panose="02020503050405090304" charset="0"/>
                <a:cs typeface="Times New Roman" panose="02020503050405090304" charset="0"/>
                <a:sym typeface="+mn-ea"/>
              </a:rPr>
              <a:t>import tkinter as tk</a:t>
            </a:r>
          </a:p>
          <a:p>
            <a:pPr marL="342900" indent="-342900" algn="l" fontAlgn="auto">
              <a:lnSpc>
                <a:spcPct val="100000"/>
              </a:lnSpc>
              <a:buSzPct val="100000"/>
              <a:buChar char="•"/>
            </a:pPr>
            <a:r>
              <a:rPr lang="en-US" sz="1400" dirty="0">
                <a:solidFill>
                  <a:schemeClr val="tx1"/>
                </a:solidFill>
                <a:latin typeface="Times New Roman" panose="02020503050405090304" charset="0"/>
                <a:ea typeface="Times New Roman" panose="02020503050405090304" charset="0"/>
                <a:cs typeface="Times New Roman" panose="02020503050405090304" charset="0"/>
                <a:sym typeface="+mn-ea"/>
              </a:rPr>
              <a:t>root = tk.Tk()</a:t>
            </a:r>
          </a:p>
          <a:p>
            <a:pPr marL="342900" indent="-342900" algn="l" fontAlgn="auto">
              <a:lnSpc>
                <a:spcPct val="100000"/>
              </a:lnSpc>
              <a:buSzPct val="100000"/>
              <a:buChar char="•"/>
            </a:pPr>
            <a:r>
              <a:rPr lang="en-US" sz="1400" dirty="0">
                <a:solidFill>
                  <a:schemeClr val="tx1"/>
                </a:solidFill>
                <a:latin typeface="Times New Roman" panose="02020503050405090304" charset="0"/>
                <a:ea typeface="Times New Roman" panose="02020503050405090304" charset="0"/>
                <a:cs typeface="Times New Roman" panose="02020503050405090304" charset="0"/>
                <a:sym typeface="+mn-ea"/>
              </a:rPr>
              <a:t>w = tk.Canvas(root, width =200, height = 100)</a:t>
            </a:r>
          </a:p>
          <a:p>
            <a:pPr marL="342900" indent="-342900" algn="l" fontAlgn="auto">
              <a:lnSpc>
                <a:spcPct val="100000"/>
              </a:lnSpc>
              <a:buSzPct val="100000"/>
              <a:buChar char="•"/>
            </a:pPr>
            <a:r>
              <a:rPr lang="en-US" sz="1400" dirty="0">
                <a:solidFill>
                  <a:schemeClr val="tx1"/>
                </a:solidFill>
                <a:latin typeface="Times New Roman" panose="02020503050405090304" charset="0"/>
                <a:ea typeface="Times New Roman" panose="02020503050405090304" charset="0"/>
                <a:cs typeface="Times New Roman" panose="02020503050405090304" charset="0"/>
                <a:sym typeface="+mn-ea"/>
              </a:rPr>
              <a:t>w.pack()</a:t>
            </a:r>
          </a:p>
          <a:p>
            <a:pPr marL="342900" indent="-342900" algn="l" fontAlgn="auto">
              <a:lnSpc>
                <a:spcPct val="100000"/>
              </a:lnSpc>
              <a:buSzPct val="100000"/>
              <a:buChar char="•"/>
            </a:pPr>
            <a:r>
              <a:rPr lang="en-US" sz="1400" dirty="0">
                <a:solidFill>
                  <a:schemeClr val="tx1"/>
                </a:solidFill>
                <a:latin typeface="Times New Roman" panose="02020503050405090304" charset="0"/>
                <a:ea typeface="Times New Roman" panose="02020503050405090304" charset="0"/>
                <a:cs typeface="Times New Roman" panose="02020503050405090304" charset="0"/>
                <a:sym typeface="+mn-ea"/>
              </a:rPr>
              <a:t>line1 = w.create_line(0, 50, 200, 50, fill = "yellow")</a:t>
            </a:r>
          </a:p>
          <a:p>
            <a:pPr marL="342900" indent="-342900" algn="l" fontAlgn="auto">
              <a:lnSpc>
                <a:spcPct val="100000"/>
              </a:lnSpc>
              <a:buSzPct val="100000"/>
              <a:buChar char="•"/>
            </a:pPr>
            <a:r>
              <a:rPr lang="en-US" sz="1400" dirty="0">
                <a:solidFill>
                  <a:schemeClr val="tx1"/>
                </a:solidFill>
                <a:latin typeface="Times New Roman" panose="02020503050405090304" charset="0"/>
                <a:ea typeface="Times New Roman" panose="02020503050405090304" charset="0"/>
                <a:cs typeface="Times New Roman" panose="02020503050405090304" charset="0"/>
                <a:sym typeface="+mn-ea"/>
              </a:rPr>
              <a:t>line2 = w.create_line(100, 0, 100, 100, fill = "red", dash = (4, 4))</a:t>
            </a:r>
          </a:p>
          <a:p>
            <a:pPr marL="342900" indent="-342900" algn="l" fontAlgn="auto">
              <a:lnSpc>
                <a:spcPct val="100000"/>
              </a:lnSpc>
              <a:buSzPct val="100000"/>
              <a:buChar char="•"/>
            </a:pPr>
            <a:r>
              <a:rPr lang="en-US" sz="1400" dirty="0">
                <a:solidFill>
                  <a:schemeClr val="tx1"/>
                </a:solidFill>
                <a:latin typeface="Times New Roman" panose="02020503050405090304" charset="0"/>
                <a:ea typeface="Times New Roman" panose="02020503050405090304" charset="0"/>
                <a:cs typeface="Times New Roman" panose="02020503050405090304" charset="0"/>
                <a:sym typeface="+mn-ea"/>
              </a:rPr>
              <a:t>rect1 = w.create_rectangle(50, 25, 150, 75, fill = "blue")</a:t>
            </a:r>
          </a:p>
          <a:p>
            <a:pPr marL="342900" indent="-342900" algn="l" fontAlgn="auto">
              <a:lnSpc>
                <a:spcPct val="100000"/>
              </a:lnSpc>
              <a:buSzPct val="100000"/>
              <a:buChar char="•"/>
            </a:pPr>
            <a:r>
              <a:rPr lang="en-US" sz="1400" dirty="0">
                <a:solidFill>
                  <a:schemeClr val="tx1"/>
                </a:solidFill>
                <a:latin typeface="Times New Roman" panose="02020503050405090304" charset="0"/>
                <a:ea typeface="Times New Roman" panose="02020503050405090304" charset="0"/>
                <a:cs typeface="Times New Roman" panose="02020503050405090304" charset="0"/>
                <a:sym typeface="+mn-ea"/>
              </a:rPr>
              <a:t>w.coords(line1, 0, 25, 200, 25)</a:t>
            </a:r>
          </a:p>
          <a:p>
            <a:pPr marL="342900" indent="-342900" algn="l" fontAlgn="auto">
              <a:lnSpc>
                <a:spcPct val="100000"/>
              </a:lnSpc>
              <a:buSzPct val="100000"/>
              <a:buChar char="•"/>
            </a:pPr>
            <a:r>
              <a:rPr lang="en-US" sz="1400" dirty="0">
                <a:solidFill>
                  <a:schemeClr val="tx1"/>
                </a:solidFill>
                <a:latin typeface="Times New Roman" panose="02020503050405090304" charset="0"/>
                <a:ea typeface="Times New Roman" panose="02020503050405090304" charset="0"/>
                <a:cs typeface="Times New Roman" panose="02020503050405090304" charset="0"/>
                <a:sym typeface="+mn-ea"/>
              </a:rPr>
              <a:t>w.itemconfig(rect1, fill = "red")</a:t>
            </a:r>
          </a:p>
          <a:p>
            <a:pPr marL="342900" indent="-342900" algn="l" fontAlgn="auto">
              <a:lnSpc>
                <a:spcPct val="100000"/>
              </a:lnSpc>
              <a:buSzPct val="100000"/>
              <a:buChar char="•"/>
            </a:pPr>
            <a:r>
              <a:rPr lang="en-US" sz="1400" dirty="0">
                <a:solidFill>
                  <a:schemeClr val="tx1"/>
                </a:solidFill>
                <a:latin typeface="Times New Roman" panose="02020503050405090304" charset="0"/>
                <a:ea typeface="Times New Roman" panose="02020503050405090304" charset="0"/>
                <a:cs typeface="Times New Roman" panose="02020503050405090304" charset="0"/>
                <a:sym typeface="+mn-ea"/>
              </a:rPr>
              <a:t>w.delete(line2)</a:t>
            </a:r>
          </a:p>
          <a:p>
            <a:pPr marL="342900" indent="-342900" algn="l" fontAlgn="auto">
              <a:lnSpc>
                <a:spcPct val="100000"/>
              </a:lnSpc>
              <a:buSzPct val="100000"/>
              <a:buChar char="•"/>
            </a:pPr>
            <a:r>
              <a:rPr lang="en-US" sz="1400" dirty="0">
                <a:solidFill>
                  <a:schemeClr val="tx1"/>
                </a:solidFill>
                <a:latin typeface="Times New Roman" panose="02020503050405090304" charset="0"/>
                <a:ea typeface="Times New Roman" panose="02020503050405090304" charset="0"/>
                <a:cs typeface="Times New Roman" panose="02020503050405090304" charset="0"/>
                <a:sym typeface="+mn-ea"/>
              </a:rPr>
              <a:t>w.create_text(100, 50, text = "Python")</a:t>
            </a:r>
          </a:p>
          <a:p>
            <a:pPr marL="342900" indent="-342900" algn="l" fontAlgn="auto">
              <a:lnSpc>
                <a:spcPct val="100000"/>
              </a:lnSpc>
              <a:buSzPct val="100000"/>
              <a:buChar char="•"/>
            </a:pPr>
            <a:r>
              <a:rPr lang="en-US" sz="1400" dirty="0">
                <a:solidFill>
                  <a:schemeClr val="tx1"/>
                </a:solidFill>
                <a:latin typeface="Times New Roman" panose="02020503050405090304" charset="0"/>
                <a:ea typeface="Times New Roman" panose="02020503050405090304" charset="0"/>
                <a:cs typeface="Times New Roman" panose="02020503050405090304" charset="0"/>
                <a:sym typeface="+mn-ea"/>
              </a:rPr>
              <a:t>tk.Button(root, text = "delete all", command = (lambda x = "all" : w.delete(x))).pack()</a:t>
            </a:r>
          </a:p>
          <a:p>
            <a:pPr marL="342900" indent="-342900" algn="l" fontAlgn="auto">
              <a:lnSpc>
                <a:spcPct val="100000"/>
              </a:lnSpc>
              <a:buSzPct val="100000"/>
              <a:buChar char="•"/>
            </a:pPr>
            <a:r>
              <a:rPr lang="en-US" sz="1400" dirty="0">
                <a:solidFill>
                  <a:schemeClr val="tx1"/>
                </a:solidFill>
                <a:latin typeface="Times New Roman" panose="02020503050405090304" charset="0"/>
                <a:ea typeface="Times New Roman" panose="02020503050405090304" charset="0"/>
                <a:cs typeface="Times New Roman" panose="02020503050405090304" charset="0"/>
                <a:sym typeface="+mn-ea"/>
              </a:rPr>
              <a:t>root.mainloop()</a:t>
            </a:r>
          </a:p>
        </p:txBody>
      </p:sp>
      <p:pic>
        <p:nvPicPr>
          <p:cNvPr id="7" name="图片 6" descr="zh-hans_logo"/>
          <p:cNvPicPr>
            <a:picLocks noChangeAspect="1"/>
          </p:cNvPicPr>
          <p:nvPr>
            <p:custDataLst>
              <p:tags r:id="rId1"/>
            </p:custDataLst>
          </p:nvPr>
        </p:nvPicPr>
        <p:blipFill>
          <a:blip r:embed="rId4"/>
          <a:stretch>
            <a:fillRect/>
          </a:stretch>
        </p:blipFill>
        <p:spPr>
          <a:xfrm>
            <a:off x="0" y="85090"/>
            <a:ext cx="4361180" cy="625475"/>
          </a:xfrm>
          <a:prstGeom prst="rect">
            <a:avLst/>
          </a:prstGeom>
        </p:spPr>
      </p:pic>
      <p:pic>
        <p:nvPicPr>
          <p:cNvPr id="5" name="图片 4"/>
          <p:cNvPicPr>
            <a:picLocks noChangeAspect="1"/>
          </p:cNvPicPr>
          <p:nvPr/>
        </p:nvPicPr>
        <p:blipFill>
          <a:blip r:embed="rId5"/>
          <a:stretch>
            <a:fillRect/>
          </a:stretch>
        </p:blipFill>
        <p:spPr>
          <a:xfrm>
            <a:off x="6052820" y="1204595"/>
            <a:ext cx="2362200" cy="195262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62000" y="651828"/>
            <a:ext cx="8135303" cy="552450"/>
          </a:xfrm>
          <a:prstGeom prst="rect">
            <a:avLst/>
          </a:prstGeom>
          <a:noFill/>
        </p:spPr>
        <p:txBody>
          <a:bodyPr wrap="square" rtlCol="0" anchor="ctr"/>
          <a:lstStyle/>
          <a:p>
            <a:pPr marL="0" indent="0">
              <a:buNone/>
            </a:pPr>
            <a:r>
              <a:rPr lang="en-US" sz="2400" b="1" dirty="0">
                <a:solidFill>
                  <a:srgbClr val="2E0158"/>
                </a:solidFill>
                <a:latin typeface="Times New Roman" panose="02020503050405090304" charset="0"/>
                <a:ea typeface="Times New Roman" panose="02020503050405090304" charset="0"/>
                <a:cs typeface="Times New Roman" panose="02020503050405090304" charset="0"/>
                <a:sym typeface="+mn-ea"/>
              </a:rPr>
              <a:t>Tkinter Canvas</a:t>
            </a:r>
          </a:p>
        </p:txBody>
      </p:sp>
      <p:sp>
        <p:nvSpPr>
          <p:cNvPr id="3" name="Text 1"/>
          <p:cNvSpPr/>
          <p:nvPr/>
        </p:nvSpPr>
        <p:spPr>
          <a:xfrm>
            <a:off x="727710" y="1204595"/>
            <a:ext cx="8169910" cy="3640455"/>
          </a:xfrm>
          <a:prstGeom prst="rect">
            <a:avLst/>
          </a:prstGeom>
          <a:noFill/>
        </p:spPr>
        <p:txBody>
          <a:bodyPr wrap="square" rtlCol="0" anchor="t"/>
          <a:lstStyle/>
          <a:p>
            <a:pPr marL="342900" indent="-342900" algn="l" fontAlgn="auto">
              <a:lnSpc>
                <a:spcPct val="100000"/>
              </a:lnSpc>
              <a:buSzPct val="100000"/>
              <a:buChar char="•"/>
            </a:pPr>
            <a:r>
              <a:rPr lang="en-US" sz="1400" dirty="0">
                <a:solidFill>
                  <a:schemeClr val="tx1"/>
                </a:solidFill>
                <a:latin typeface="Times New Roman" panose="02020503050405090304" charset="0"/>
                <a:ea typeface="Times New Roman" panose="02020503050405090304" charset="0"/>
                <a:cs typeface="Times New Roman" panose="02020503050405090304" charset="0"/>
                <a:sym typeface="+mn-ea"/>
              </a:rPr>
              <a:t>import tkinter as tk</a:t>
            </a:r>
          </a:p>
          <a:p>
            <a:pPr marL="342900" indent="-342900" algn="l" fontAlgn="auto">
              <a:lnSpc>
                <a:spcPct val="100000"/>
              </a:lnSpc>
              <a:buSzPct val="100000"/>
              <a:buChar char="•"/>
            </a:pPr>
            <a:r>
              <a:rPr lang="en-US" sz="1400" dirty="0">
                <a:solidFill>
                  <a:schemeClr val="tx1"/>
                </a:solidFill>
                <a:latin typeface="Times New Roman" panose="02020503050405090304" charset="0"/>
                <a:ea typeface="Times New Roman" panose="02020503050405090304" charset="0"/>
                <a:cs typeface="Times New Roman" panose="02020503050405090304" charset="0"/>
                <a:sym typeface="+mn-ea"/>
              </a:rPr>
              <a:t>root = tk.Tk()</a:t>
            </a:r>
          </a:p>
          <a:p>
            <a:pPr marL="342900" indent="-342900" algn="l" fontAlgn="auto">
              <a:lnSpc>
                <a:spcPct val="100000"/>
              </a:lnSpc>
              <a:buSzPct val="100000"/>
              <a:buChar char="•"/>
            </a:pPr>
            <a:r>
              <a:rPr lang="en-US" sz="1400" dirty="0">
                <a:solidFill>
                  <a:schemeClr val="tx1"/>
                </a:solidFill>
                <a:latin typeface="Times New Roman" panose="02020503050405090304" charset="0"/>
                <a:ea typeface="Times New Roman" panose="02020503050405090304" charset="0"/>
                <a:cs typeface="Times New Roman" panose="02020503050405090304" charset="0"/>
                <a:sym typeface="+mn-ea"/>
              </a:rPr>
              <a:t>w = tk.Canvas(root, width = 400, height = 200)</a:t>
            </a:r>
          </a:p>
          <a:p>
            <a:pPr marL="342900" indent="-342900" algn="l" fontAlgn="auto">
              <a:lnSpc>
                <a:spcPct val="100000"/>
              </a:lnSpc>
              <a:buSzPct val="100000"/>
              <a:buChar char="•"/>
            </a:pPr>
            <a:r>
              <a:rPr lang="en-US" sz="1400" dirty="0">
                <a:solidFill>
                  <a:schemeClr val="tx1"/>
                </a:solidFill>
                <a:latin typeface="Times New Roman" panose="02020503050405090304" charset="0"/>
                <a:ea typeface="Times New Roman" panose="02020503050405090304" charset="0"/>
                <a:cs typeface="Times New Roman" panose="02020503050405090304" charset="0"/>
                <a:sym typeface="+mn-ea"/>
              </a:rPr>
              <a:t>w.pack()</a:t>
            </a:r>
          </a:p>
          <a:p>
            <a:pPr marL="342900" indent="-342900" algn="l" fontAlgn="auto">
              <a:lnSpc>
                <a:spcPct val="100000"/>
              </a:lnSpc>
              <a:buSzPct val="100000"/>
              <a:buChar char="•"/>
            </a:pPr>
            <a:r>
              <a:rPr lang="en-US" sz="1400" dirty="0">
                <a:solidFill>
                  <a:schemeClr val="tx1"/>
                </a:solidFill>
                <a:latin typeface="Times New Roman" panose="02020503050405090304" charset="0"/>
                <a:ea typeface="Times New Roman" panose="02020503050405090304" charset="0"/>
                <a:cs typeface="Times New Roman" panose="02020503050405090304" charset="0"/>
                <a:sym typeface="+mn-ea"/>
              </a:rPr>
              <a:t>def paint(event):</a:t>
            </a:r>
          </a:p>
          <a:p>
            <a:pPr marL="342900" indent="-342900" algn="l" fontAlgn="auto">
              <a:lnSpc>
                <a:spcPct val="100000"/>
              </a:lnSpc>
              <a:buSzPct val="100000"/>
              <a:buChar char="•"/>
            </a:pPr>
            <a:r>
              <a:rPr lang="en-US" sz="1400" dirty="0">
                <a:solidFill>
                  <a:schemeClr val="tx1"/>
                </a:solidFill>
                <a:latin typeface="Times New Roman" panose="02020503050405090304" charset="0"/>
                <a:ea typeface="Times New Roman" panose="02020503050405090304" charset="0"/>
                <a:cs typeface="Times New Roman" panose="02020503050405090304" charset="0"/>
                <a:sym typeface="+mn-ea"/>
              </a:rPr>
              <a:t>        x1, y1 = (event.x - 1), (event.y - 1)</a:t>
            </a:r>
          </a:p>
          <a:p>
            <a:pPr marL="342900" indent="-342900" algn="l" fontAlgn="auto">
              <a:lnSpc>
                <a:spcPct val="100000"/>
              </a:lnSpc>
              <a:buSzPct val="100000"/>
              <a:buChar char="•"/>
            </a:pPr>
            <a:r>
              <a:rPr lang="en-US" sz="1400" dirty="0">
                <a:solidFill>
                  <a:schemeClr val="tx1"/>
                </a:solidFill>
                <a:latin typeface="Times New Roman" panose="02020503050405090304" charset="0"/>
                <a:ea typeface="Times New Roman" panose="02020503050405090304" charset="0"/>
                <a:cs typeface="Times New Roman" panose="02020503050405090304" charset="0"/>
                <a:sym typeface="+mn-ea"/>
              </a:rPr>
              <a:t>        x2, y2 = (event.x + 1), (event.y + 1)</a:t>
            </a:r>
          </a:p>
          <a:p>
            <a:pPr marL="342900" indent="-342900" algn="l" fontAlgn="auto">
              <a:lnSpc>
                <a:spcPct val="100000"/>
              </a:lnSpc>
              <a:buSzPct val="100000"/>
              <a:buChar char="•"/>
            </a:pPr>
            <a:r>
              <a:rPr lang="en-US" sz="1400" dirty="0">
                <a:solidFill>
                  <a:schemeClr val="tx1"/>
                </a:solidFill>
                <a:latin typeface="Times New Roman" panose="02020503050405090304" charset="0"/>
                <a:ea typeface="Times New Roman" panose="02020503050405090304" charset="0"/>
                <a:cs typeface="Times New Roman" panose="02020503050405090304" charset="0"/>
                <a:sym typeface="+mn-ea"/>
              </a:rPr>
              <a:t>        w.create_oval(x1, y1, x2, y2, fill = "red")</a:t>
            </a:r>
          </a:p>
          <a:p>
            <a:pPr marL="342900" indent="-342900" algn="l" fontAlgn="auto">
              <a:lnSpc>
                <a:spcPct val="100000"/>
              </a:lnSpc>
              <a:buSzPct val="100000"/>
              <a:buChar char="•"/>
            </a:pPr>
            <a:r>
              <a:rPr lang="en-US" sz="1400" dirty="0">
                <a:solidFill>
                  <a:schemeClr val="tx1"/>
                </a:solidFill>
                <a:latin typeface="Times New Roman" panose="02020503050405090304" charset="0"/>
                <a:ea typeface="Times New Roman" panose="02020503050405090304" charset="0"/>
                <a:cs typeface="Times New Roman" panose="02020503050405090304" charset="0"/>
                <a:sym typeface="+mn-ea"/>
              </a:rPr>
              <a:t>w.bind("&lt;B1-Motion&gt;", paint)</a:t>
            </a:r>
          </a:p>
          <a:p>
            <a:pPr marL="342900" indent="-342900" algn="l" fontAlgn="auto">
              <a:lnSpc>
                <a:spcPct val="100000"/>
              </a:lnSpc>
              <a:buSzPct val="100000"/>
              <a:buChar char="•"/>
            </a:pPr>
            <a:r>
              <a:rPr lang="en-US" sz="1400" dirty="0">
                <a:solidFill>
                  <a:schemeClr val="tx1"/>
                </a:solidFill>
                <a:latin typeface="Times New Roman" panose="02020503050405090304" charset="0"/>
                <a:ea typeface="Times New Roman" panose="02020503050405090304" charset="0"/>
                <a:cs typeface="Times New Roman" panose="02020503050405090304" charset="0"/>
                <a:sym typeface="+mn-ea"/>
              </a:rPr>
              <a:t>tk.Label(root, text = "Press and hold the left mouse button and move.").pack(side = "bottom")</a:t>
            </a:r>
          </a:p>
          <a:p>
            <a:pPr marL="342900" indent="-342900" algn="l" fontAlgn="auto">
              <a:lnSpc>
                <a:spcPct val="100000"/>
              </a:lnSpc>
              <a:buSzPct val="100000"/>
              <a:buChar char="•"/>
            </a:pPr>
            <a:r>
              <a:rPr lang="en-US" sz="1400" dirty="0">
                <a:solidFill>
                  <a:schemeClr val="tx1"/>
                </a:solidFill>
                <a:latin typeface="Times New Roman" panose="02020503050405090304" charset="0"/>
                <a:ea typeface="Times New Roman" panose="02020503050405090304" charset="0"/>
                <a:cs typeface="Times New Roman" panose="02020503050405090304" charset="0"/>
                <a:sym typeface="+mn-ea"/>
              </a:rPr>
              <a:t>root.mainloop()</a:t>
            </a:r>
          </a:p>
        </p:txBody>
      </p:sp>
      <p:pic>
        <p:nvPicPr>
          <p:cNvPr id="7" name="图片 6" descr="zh-hans_logo"/>
          <p:cNvPicPr>
            <a:picLocks noChangeAspect="1"/>
          </p:cNvPicPr>
          <p:nvPr>
            <p:custDataLst>
              <p:tags r:id="rId1"/>
            </p:custDataLst>
          </p:nvPr>
        </p:nvPicPr>
        <p:blipFill>
          <a:blip r:embed="rId4"/>
          <a:stretch>
            <a:fillRect/>
          </a:stretch>
        </p:blipFill>
        <p:spPr>
          <a:xfrm>
            <a:off x="0" y="85090"/>
            <a:ext cx="4361180" cy="625475"/>
          </a:xfrm>
          <a:prstGeom prst="rect">
            <a:avLst/>
          </a:prstGeom>
        </p:spPr>
      </p:pic>
      <p:pic>
        <p:nvPicPr>
          <p:cNvPr id="4" name="图片 3"/>
          <p:cNvPicPr>
            <a:picLocks noChangeAspect="1"/>
          </p:cNvPicPr>
          <p:nvPr/>
        </p:nvPicPr>
        <p:blipFill>
          <a:blip r:embed="rId5"/>
          <a:stretch>
            <a:fillRect/>
          </a:stretch>
        </p:blipFill>
        <p:spPr>
          <a:xfrm>
            <a:off x="4993640" y="710565"/>
            <a:ext cx="3482340" cy="224028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62000" y="651828"/>
            <a:ext cx="8135303" cy="552450"/>
          </a:xfrm>
          <a:prstGeom prst="rect">
            <a:avLst/>
          </a:prstGeom>
          <a:noFill/>
        </p:spPr>
        <p:txBody>
          <a:bodyPr wrap="square" rtlCol="0" anchor="ctr"/>
          <a:lstStyle/>
          <a:p>
            <a:pPr marL="0" indent="0">
              <a:buNone/>
            </a:pPr>
            <a:r>
              <a:rPr lang="en-US" sz="2400" b="1" dirty="0">
                <a:solidFill>
                  <a:srgbClr val="2E0158"/>
                </a:solidFill>
                <a:latin typeface="Times New Roman" panose="02020503050405090304" charset="0"/>
                <a:ea typeface="Times New Roman" panose="02020503050405090304" charset="0"/>
                <a:cs typeface="Times New Roman" panose="02020503050405090304" charset="0"/>
                <a:sym typeface="+mn-ea"/>
              </a:rPr>
              <a:t>Tkinter Frame</a:t>
            </a:r>
          </a:p>
        </p:txBody>
      </p:sp>
      <p:sp>
        <p:nvSpPr>
          <p:cNvPr id="3" name="Text 1"/>
          <p:cNvSpPr/>
          <p:nvPr/>
        </p:nvSpPr>
        <p:spPr>
          <a:xfrm>
            <a:off x="727710" y="1204595"/>
            <a:ext cx="8169910" cy="3640455"/>
          </a:xfrm>
          <a:prstGeom prst="rect">
            <a:avLst/>
          </a:prstGeom>
          <a:noFill/>
        </p:spPr>
        <p:txBody>
          <a:bodyPr wrap="square" rtlCol="0" anchor="t"/>
          <a:lstStyle/>
          <a:p>
            <a:pPr marL="342900" indent="-342900" algn="l" fontAlgn="auto">
              <a:lnSpc>
                <a:spcPct val="100000"/>
              </a:lnSpc>
              <a:buSzPct val="100000"/>
              <a:buChar char="•"/>
            </a:pPr>
            <a:r>
              <a:rPr lang="en-US" sz="1500" dirty="0">
                <a:solidFill>
                  <a:schemeClr val="tx1"/>
                </a:solidFill>
                <a:latin typeface="Times New Roman" panose="02020503050405090304" charset="0"/>
                <a:ea typeface="Times New Roman" panose="02020503050405090304" charset="0"/>
                <a:cs typeface="Times New Roman" panose="02020503050405090304" charset="0"/>
                <a:sym typeface="+mn-ea"/>
              </a:rPr>
              <a:t>from tkinter import *</a:t>
            </a:r>
          </a:p>
          <a:p>
            <a:pPr marL="342900" indent="-342900" algn="l" fontAlgn="auto">
              <a:lnSpc>
                <a:spcPct val="100000"/>
              </a:lnSpc>
              <a:buSzPct val="100000"/>
              <a:buChar char="•"/>
            </a:pPr>
            <a:r>
              <a:rPr lang="en-US" sz="1500" dirty="0">
                <a:solidFill>
                  <a:schemeClr val="tx1"/>
                </a:solidFill>
                <a:latin typeface="Times New Roman" panose="02020503050405090304" charset="0"/>
                <a:ea typeface="Times New Roman" panose="02020503050405090304" charset="0"/>
                <a:cs typeface="Times New Roman" panose="02020503050405090304" charset="0"/>
                <a:sym typeface="+mn-ea"/>
              </a:rPr>
              <a:t>root=Tk()</a:t>
            </a:r>
          </a:p>
          <a:p>
            <a:pPr marL="342900" indent="-342900" algn="l" fontAlgn="auto">
              <a:lnSpc>
                <a:spcPct val="100000"/>
              </a:lnSpc>
              <a:buSzPct val="100000"/>
              <a:buChar char="•"/>
            </a:pPr>
            <a:r>
              <a:rPr lang="en-US" sz="1500" dirty="0">
                <a:solidFill>
                  <a:schemeClr val="tx1"/>
                </a:solidFill>
                <a:latin typeface="Times New Roman" panose="02020503050405090304" charset="0"/>
                <a:ea typeface="Times New Roman" panose="02020503050405090304" charset="0"/>
                <a:cs typeface="Times New Roman" panose="02020503050405090304" charset="0"/>
                <a:sym typeface="+mn-ea"/>
              </a:rPr>
              <a:t>root.geometry('300x150+888+444')</a:t>
            </a:r>
          </a:p>
          <a:p>
            <a:pPr marL="342900" indent="-342900" algn="l" fontAlgn="auto">
              <a:lnSpc>
                <a:spcPct val="100000"/>
              </a:lnSpc>
              <a:buSzPct val="100000"/>
              <a:buChar char="•"/>
            </a:pPr>
            <a:r>
              <a:rPr lang="en-US" sz="1500" dirty="0">
                <a:solidFill>
                  <a:schemeClr val="tx1"/>
                </a:solidFill>
                <a:latin typeface="Times New Roman" panose="02020503050405090304" charset="0"/>
                <a:ea typeface="Times New Roman" panose="02020503050405090304" charset="0"/>
                <a:cs typeface="Times New Roman" panose="02020503050405090304" charset="0"/>
                <a:sym typeface="+mn-ea"/>
              </a:rPr>
              <a:t>fr1=Frame(root,relief='groove',bd=1,padx=60,pady=30)</a:t>
            </a:r>
          </a:p>
          <a:p>
            <a:pPr marL="342900" indent="-342900" algn="l" fontAlgn="auto">
              <a:lnSpc>
                <a:spcPct val="100000"/>
              </a:lnSpc>
              <a:buSzPct val="100000"/>
              <a:buChar char="•"/>
            </a:pPr>
            <a:r>
              <a:rPr lang="en-US" sz="1500" dirty="0">
                <a:solidFill>
                  <a:schemeClr val="tx1"/>
                </a:solidFill>
                <a:latin typeface="Times New Roman" panose="02020503050405090304" charset="0"/>
                <a:ea typeface="Times New Roman" panose="02020503050405090304" charset="0"/>
                <a:cs typeface="Times New Roman" panose="02020503050405090304" charset="0"/>
                <a:sym typeface="+mn-ea"/>
              </a:rPr>
              <a:t>fr1.pack()</a:t>
            </a:r>
          </a:p>
          <a:p>
            <a:pPr marL="342900" indent="-342900" algn="l" fontAlgn="auto">
              <a:lnSpc>
                <a:spcPct val="100000"/>
              </a:lnSpc>
              <a:buSzPct val="100000"/>
              <a:buChar char="•"/>
            </a:pPr>
            <a:r>
              <a:rPr lang="en-US" sz="1500" dirty="0">
                <a:solidFill>
                  <a:schemeClr val="tx1"/>
                </a:solidFill>
                <a:latin typeface="Times New Roman" panose="02020503050405090304" charset="0"/>
                <a:ea typeface="Times New Roman" panose="02020503050405090304" charset="0"/>
                <a:cs typeface="Times New Roman" panose="02020503050405090304" charset="0"/>
                <a:sym typeface="+mn-ea"/>
              </a:rPr>
              <a:t>la1=Label(fr1,text='Hello',bg='yellow') </a:t>
            </a:r>
          </a:p>
          <a:p>
            <a:pPr marL="342900" indent="-342900" algn="l" fontAlgn="auto">
              <a:lnSpc>
                <a:spcPct val="100000"/>
              </a:lnSpc>
              <a:buSzPct val="100000"/>
              <a:buChar char="•"/>
            </a:pPr>
            <a:r>
              <a:rPr lang="en-US" sz="1500" dirty="0">
                <a:solidFill>
                  <a:schemeClr val="tx1"/>
                </a:solidFill>
                <a:latin typeface="Times New Roman" panose="02020503050405090304" charset="0"/>
                <a:ea typeface="Times New Roman" panose="02020503050405090304" charset="0"/>
                <a:cs typeface="Times New Roman" panose="02020503050405090304" charset="0"/>
                <a:sym typeface="+mn-ea"/>
              </a:rPr>
              <a:t>la1.pack()</a:t>
            </a:r>
          </a:p>
          <a:p>
            <a:pPr marL="342900" indent="-342900" algn="l" fontAlgn="auto">
              <a:lnSpc>
                <a:spcPct val="100000"/>
              </a:lnSpc>
              <a:buSzPct val="100000"/>
              <a:buChar char="•"/>
            </a:pPr>
            <a:r>
              <a:rPr lang="en-US" sz="1500" dirty="0">
                <a:solidFill>
                  <a:schemeClr val="tx1"/>
                </a:solidFill>
                <a:latin typeface="Times New Roman" panose="02020503050405090304" charset="0"/>
                <a:ea typeface="Times New Roman" panose="02020503050405090304" charset="0"/>
                <a:cs typeface="Times New Roman" panose="02020503050405090304" charset="0"/>
                <a:sym typeface="+mn-ea"/>
              </a:rPr>
              <a:t>root.mainloop()</a:t>
            </a:r>
          </a:p>
        </p:txBody>
      </p:sp>
      <p:pic>
        <p:nvPicPr>
          <p:cNvPr id="7" name="图片 6" descr="zh-hans_logo"/>
          <p:cNvPicPr>
            <a:picLocks noChangeAspect="1"/>
          </p:cNvPicPr>
          <p:nvPr>
            <p:custDataLst>
              <p:tags r:id="rId1"/>
            </p:custDataLst>
          </p:nvPr>
        </p:nvPicPr>
        <p:blipFill>
          <a:blip r:embed="rId4"/>
          <a:stretch>
            <a:fillRect/>
          </a:stretch>
        </p:blipFill>
        <p:spPr>
          <a:xfrm>
            <a:off x="0" y="85090"/>
            <a:ext cx="4361180" cy="625475"/>
          </a:xfrm>
          <a:prstGeom prst="rect">
            <a:avLst/>
          </a:prstGeom>
        </p:spPr>
      </p:pic>
      <p:pic>
        <p:nvPicPr>
          <p:cNvPr id="5" name="图片 4"/>
          <p:cNvPicPr>
            <a:picLocks noChangeAspect="1"/>
          </p:cNvPicPr>
          <p:nvPr/>
        </p:nvPicPr>
        <p:blipFill>
          <a:blip r:embed="rId5"/>
          <a:stretch>
            <a:fillRect/>
          </a:stretch>
        </p:blipFill>
        <p:spPr>
          <a:xfrm>
            <a:off x="5280184" y="1204436"/>
            <a:ext cx="3373755" cy="1996916"/>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62000" y="651828"/>
            <a:ext cx="8135303" cy="552450"/>
          </a:xfrm>
          <a:prstGeom prst="rect">
            <a:avLst/>
          </a:prstGeom>
          <a:noFill/>
        </p:spPr>
        <p:txBody>
          <a:bodyPr wrap="square" rtlCol="0" anchor="ctr"/>
          <a:lstStyle/>
          <a:p>
            <a:pPr marL="0" indent="0">
              <a:buNone/>
            </a:pPr>
            <a:r>
              <a:rPr lang="en-US" sz="2400" b="1" dirty="0">
                <a:solidFill>
                  <a:srgbClr val="2E0158"/>
                </a:solidFill>
                <a:latin typeface="Times New Roman" panose="02020503050405090304" charset="0"/>
                <a:ea typeface="Times New Roman" panose="02020503050405090304" charset="0"/>
                <a:cs typeface="Times New Roman" panose="02020503050405090304" charset="0"/>
                <a:sym typeface="+mn-ea"/>
              </a:rPr>
              <a:t>Tkinter key_event</a:t>
            </a:r>
          </a:p>
        </p:txBody>
      </p:sp>
      <p:sp>
        <p:nvSpPr>
          <p:cNvPr id="3" name="Text 1"/>
          <p:cNvSpPr/>
          <p:nvPr/>
        </p:nvSpPr>
        <p:spPr>
          <a:xfrm>
            <a:off x="727710" y="1204595"/>
            <a:ext cx="8169910" cy="3640455"/>
          </a:xfrm>
          <a:prstGeom prst="rect">
            <a:avLst/>
          </a:prstGeom>
          <a:noFill/>
        </p:spPr>
        <p:txBody>
          <a:bodyPr wrap="square" rtlCol="0" anchor="t"/>
          <a:lstStyle/>
          <a:p>
            <a:pPr marL="342900" indent="-342900" algn="l" fontAlgn="auto">
              <a:lnSpc>
                <a:spcPct val="100000"/>
              </a:lnSpc>
              <a:buSzPct val="100000"/>
              <a:buChar char="•"/>
            </a:pPr>
            <a:r>
              <a:rPr lang="en-US" sz="1500" dirty="0">
                <a:solidFill>
                  <a:schemeClr val="tx1"/>
                </a:solidFill>
                <a:latin typeface="Times New Roman" panose="02020503050405090304" charset="0"/>
                <a:ea typeface="Times New Roman" panose="02020503050405090304" charset="0"/>
                <a:cs typeface="Times New Roman" panose="02020503050405090304" charset="0"/>
                <a:sym typeface="+mn-ea"/>
              </a:rPr>
              <a:t>import tkinter</a:t>
            </a:r>
          </a:p>
          <a:p>
            <a:pPr marL="342900" indent="-342900" algn="l" fontAlgn="auto">
              <a:lnSpc>
                <a:spcPct val="100000"/>
              </a:lnSpc>
              <a:buSzPct val="100000"/>
              <a:buChar char="•"/>
            </a:pPr>
            <a:r>
              <a:rPr lang="en-US" sz="1500" dirty="0">
                <a:solidFill>
                  <a:schemeClr val="tx1"/>
                </a:solidFill>
                <a:latin typeface="Times New Roman" panose="02020503050405090304" charset="0"/>
                <a:ea typeface="Times New Roman" panose="02020503050405090304" charset="0"/>
                <a:cs typeface="Times New Roman" panose="02020503050405090304" charset="0"/>
                <a:sym typeface="+mn-ea"/>
              </a:rPr>
              <a:t>def xFunc1(event):</a:t>
            </a:r>
          </a:p>
          <a:p>
            <a:pPr marL="342900" indent="-342900" algn="l" fontAlgn="auto">
              <a:lnSpc>
                <a:spcPct val="100000"/>
              </a:lnSpc>
              <a:buSzPct val="100000"/>
              <a:buChar char="•"/>
            </a:pPr>
            <a:r>
              <a:rPr lang="en-US" sz="1500" dirty="0">
                <a:solidFill>
                  <a:schemeClr val="tx1"/>
                </a:solidFill>
                <a:latin typeface="Times New Roman" panose="02020503050405090304" charset="0"/>
                <a:ea typeface="Times New Roman" panose="02020503050405090304" charset="0"/>
                <a:cs typeface="Times New Roman" panose="02020503050405090304" charset="0"/>
                <a:sym typeface="+mn-ea"/>
              </a:rPr>
              <a:t>    print(f"special input:{event.char},corresponding ASCII code:{event.keycode}")</a:t>
            </a:r>
          </a:p>
          <a:p>
            <a:pPr marL="342900" indent="-342900" algn="l" fontAlgn="auto">
              <a:lnSpc>
                <a:spcPct val="100000"/>
              </a:lnSpc>
              <a:buSzPct val="100000"/>
              <a:buChar char="•"/>
            </a:pPr>
            <a:r>
              <a:rPr lang="en-US" sz="1500" dirty="0">
                <a:solidFill>
                  <a:schemeClr val="tx1"/>
                </a:solidFill>
                <a:latin typeface="Times New Roman" panose="02020503050405090304" charset="0"/>
                <a:ea typeface="Times New Roman" panose="02020503050405090304" charset="0"/>
                <a:cs typeface="Times New Roman" panose="02020503050405090304" charset="0"/>
                <a:sym typeface="+mn-ea"/>
              </a:rPr>
              <a:t>win = tkinter.Tk()</a:t>
            </a:r>
          </a:p>
          <a:p>
            <a:pPr marL="342900" indent="-342900" algn="l" fontAlgn="auto">
              <a:lnSpc>
                <a:spcPct val="100000"/>
              </a:lnSpc>
              <a:buSzPct val="100000"/>
              <a:buChar char="•"/>
            </a:pPr>
            <a:r>
              <a:rPr lang="en-US" sz="1500" dirty="0">
                <a:solidFill>
                  <a:schemeClr val="tx1"/>
                </a:solidFill>
                <a:latin typeface="Times New Roman" panose="02020503050405090304" charset="0"/>
                <a:ea typeface="Times New Roman" panose="02020503050405090304" charset="0"/>
                <a:cs typeface="Times New Roman" panose="02020503050405090304" charset="0"/>
                <a:sym typeface="+mn-ea"/>
              </a:rPr>
              <a:t>win.title("Kahn Software v1")</a:t>
            </a:r>
          </a:p>
          <a:p>
            <a:pPr marL="342900" indent="-342900" algn="l" fontAlgn="auto">
              <a:lnSpc>
                <a:spcPct val="100000"/>
              </a:lnSpc>
              <a:buSzPct val="100000"/>
              <a:buChar char="•"/>
            </a:pPr>
            <a:r>
              <a:rPr lang="en-US" sz="1500" dirty="0">
                <a:solidFill>
                  <a:schemeClr val="tx1"/>
                </a:solidFill>
                <a:latin typeface="Times New Roman" panose="02020503050405090304" charset="0"/>
                <a:ea typeface="Times New Roman" panose="02020503050405090304" charset="0"/>
                <a:cs typeface="Times New Roman" panose="02020503050405090304" charset="0"/>
                <a:sym typeface="+mn-ea"/>
              </a:rPr>
              <a:t>win.geometry("600x500+200+20")</a:t>
            </a:r>
          </a:p>
          <a:p>
            <a:pPr marL="342900" indent="-342900" algn="l" fontAlgn="auto">
              <a:lnSpc>
                <a:spcPct val="100000"/>
              </a:lnSpc>
              <a:buSzPct val="100000"/>
              <a:buChar char="•"/>
            </a:pPr>
            <a:r>
              <a:rPr lang="en-US" sz="1500" dirty="0">
                <a:solidFill>
                  <a:schemeClr val="tx1"/>
                </a:solidFill>
                <a:latin typeface="Times New Roman" panose="02020503050405090304" charset="0"/>
                <a:ea typeface="Times New Roman" panose="02020503050405090304" charset="0"/>
                <a:cs typeface="Times New Roman" panose="02020503050405090304" charset="0"/>
                <a:sym typeface="+mn-ea"/>
              </a:rPr>
              <a:t>win.bind("a", xFunc1)</a:t>
            </a:r>
          </a:p>
          <a:p>
            <a:pPr indent="0" algn="l" fontAlgn="auto">
              <a:lnSpc>
                <a:spcPct val="100000"/>
              </a:lnSpc>
              <a:buSzPct val="100000"/>
              <a:buNone/>
            </a:pPr>
            <a:r>
              <a:rPr lang="en-US" sz="1500" dirty="0">
                <a:solidFill>
                  <a:schemeClr val="tx1"/>
                </a:solidFill>
                <a:latin typeface="Times New Roman" panose="02020503050405090304" charset="0"/>
                <a:ea typeface="Times New Roman" panose="02020503050405090304" charset="0"/>
                <a:cs typeface="Times New Roman" panose="02020503050405090304" charset="0"/>
                <a:sym typeface="+mn-ea"/>
              </a:rPr>
              <a:t> </a:t>
            </a:r>
          </a:p>
          <a:p>
            <a:pPr marL="342900" indent="-342900" algn="l" fontAlgn="auto">
              <a:lnSpc>
                <a:spcPct val="100000"/>
              </a:lnSpc>
              <a:buSzPct val="100000"/>
              <a:buChar char="•"/>
            </a:pPr>
            <a:r>
              <a:rPr lang="en-US" sz="1500" dirty="0">
                <a:solidFill>
                  <a:schemeClr val="tx1"/>
                </a:solidFill>
                <a:latin typeface="Times New Roman" panose="02020503050405090304" charset="0"/>
                <a:ea typeface="Times New Roman" panose="02020503050405090304" charset="0"/>
                <a:cs typeface="Times New Roman" panose="02020503050405090304" charset="0"/>
                <a:sym typeface="+mn-ea"/>
              </a:rPr>
              <a:t>win.mainloop()</a:t>
            </a:r>
          </a:p>
        </p:txBody>
      </p:sp>
      <p:pic>
        <p:nvPicPr>
          <p:cNvPr id="7" name="图片 6" descr="zh-hans_logo"/>
          <p:cNvPicPr>
            <a:picLocks noChangeAspect="1"/>
          </p:cNvPicPr>
          <p:nvPr>
            <p:custDataLst>
              <p:tags r:id="rId1"/>
            </p:custDataLst>
          </p:nvPr>
        </p:nvPicPr>
        <p:blipFill>
          <a:blip r:embed="rId4"/>
          <a:stretch>
            <a:fillRect/>
          </a:stretch>
        </p:blipFill>
        <p:spPr>
          <a:xfrm>
            <a:off x="0" y="85090"/>
            <a:ext cx="4361180" cy="625475"/>
          </a:xfrm>
          <a:prstGeom prst="rect">
            <a:avLst/>
          </a:prstGeom>
        </p:spPr>
      </p:pic>
      <p:pic>
        <p:nvPicPr>
          <p:cNvPr id="4" name="图片 3"/>
          <p:cNvPicPr>
            <a:picLocks noChangeAspect="1"/>
          </p:cNvPicPr>
          <p:nvPr/>
        </p:nvPicPr>
        <p:blipFill>
          <a:blip r:embed="rId5"/>
          <a:stretch>
            <a:fillRect/>
          </a:stretch>
        </p:blipFill>
        <p:spPr>
          <a:xfrm>
            <a:off x="3790950" y="1935956"/>
            <a:ext cx="4882991" cy="2669381"/>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62000" y="651828"/>
            <a:ext cx="8135303" cy="552450"/>
          </a:xfrm>
          <a:prstGeom prst="rect">
            <a:avLst/>
          </a:prstGeom>
          <a:noFill/>
        </p:spPr>
        <p:txBody>
          <a:bodyPr wrap="square" rtlCol="0" anchor="ctr"/>
          <a:lstStyle/>
          <a:p>
            <a:pPr marL="0" indent="0">
              <a:buNone/>
            </a:pPr>
            <a:r>
              <a:rPr lang="en-US" sz="2400" b="1" dirty="0">
                <a:solidFill>
                  <a:srgbClr val="2E0158"/>
                </a:solidFill>
                <a:latin typeface="Times New Roman" panose="02020503050405090304" charset="0"/>
                <a:ea typeface="Times New Roman" panose="02020503050405090304" charset="0"/>
                <a:cs typeface="Times New Roman" panose="02020503050405090304" charset="0"/>
                <a:sym typeface="+mn-ea"/>
              </a:rPr>
              <a:t>Python Class (1)</a:t>
            </a:r>
          </a:p>
        </p:txBody>
      </p:sp>
      <p:sp>
        <p:nvSpPr>
          <p:cNvPr id="3" name="Text 1"/>
          <p:cNvSpPr/>
          <p:nvPr/>
        </p:nvSpPr>
        <p:spPr>
          <a:xfrm>
            <a:off x="727710" y="1204595"/>
            <a:ext cx="8169910" cy="3640455"/>
          </a:xfrm>
          <a:prstGeom prst="rect">
            <a:avLst/>
          </a:prstGeom>
          <a:noFill/>
        </p:spPr>
        <p:txBody>
          <a:bodyPr wrap="square" rtlCol="0" anchor="t"/>
          <a:lstStyle/>
          <a:p>
            <a:pPr marL="342900" indent="-342900" algn="l" fontAlgn="auto">
              <a:lnSpc>
                <a:spcPct val="100000"/>
              </a:lnSpc>
              <a:buSzPct val="100000"/>
              <a:buChar char="•"/>
            </a:pPr>
            <a:r>
              <a:rPr lang="en-US" sz="1500" dirty="0">
                <a:solidFill>
                  <a:schemeClr val="tx1"/>
                </a:solidFill>
                <a:latin typeface="Times New Roman" panose="02020503050405090304" charset="0"/>
                <a:ea typeface="Times New Roman" panose="02020503050405090304" charset="0"/>
                <a:cs typeface="Times New Roman" panose="02020503050405090304" charset="0"/>
                <a:sym typeface="+mn-ea"/>
              </a:rPr>
              <a:t>class people:</a:t>
            </a:r>
          </a:p>
          <a:p>
            <a:pPr marL="342900" indent="-342900" algn="l" fontAlgn="auto">
              <a:lnSpc>
                <a:spcPct val="100000"/>
              </a:lnSpc>
              <a:buSzPct val="100000"/>
              <a:buChar char="•"/>
            </a:pPr>
            <a:r>
              <a:rPr lang="en-US" sz="1500" dirty="0">
                <a:solidFill>
                  <a:schemeClr val="tx1"/>
                </a:solidFill>
                <a:latin typeface="Times New Roman" panose="02020503050405090304" charset="0"/>
                <a:ea typeface="Times New Roman" panose="02020503050405090304" charset="0"/>
                <a:cs typeface="Times New Roman" panose="02020503050405090304" charset="0"/>
                <a:sym typeface="+mn-ea"/>
              </a:rPr>
              <a:t>    #define basic(public) attribute</a:t>
            </a:r>
          </a:p>
          <a:p>
            <a:pPr marL="342900" indent="-342900" algn="l" fontAlgn="auto">
              <a:lnSpc>
                <a:spcPct val="100000"/>
              </a:lnSpc>
              <a:buSzPct val="100000"/>
              <a:buChar char="•"/>
            </a:pPr>
            <a:r>
              <a:rPr lang="en-US" sz="1500" dirty="0">
                <a:solidFill>
                  <a:schemeClr val="tx1"/>
                </a:solidFill>
                <a:latin typeface="Times New Roman" panose="02020503050405090304" charset="0"/>
                <a:ea typeface="Times New Roman" panose="02020503050405090304" charset="0"/>
                <a:cs typeface="Times New Roman" panose="02020503050405090304" charset="0"/>
                <a:sym typeface="+mn-ea"/>
              </a:rPr>
              <a:t>    name = ''</a:t>
            </a:r>
          </a:p>
          <a:p>
            <a:pPr marL="342900" indent="-342900" algn="l" fontAlgn="auto">
              <a:lnSpc>
                <a:spcPct val="100000"/>
              </a:lnSpc>
              <a:buSzPct val="100000"/>
              <a:buChar char="•"/>
            </a:pPr>
            <a:r>
              <a:rPr lang="en-US" sz="1500" dirty="0">
                <a:solidFill>
                  <a:schemeClr val="tx1"/>
                </a:solidFill>
                <a:latin typeface="Times New Roman" panose="02020503050405090304" charset="0"/>
                <a:ea typeface="Times New Roman" panose="02020503050405090304" charset="0"/>
                <a:cs typeface="Times New Roman" panose="02020503050405090304" charset="0"/>
                <a:sym typeface="+mn-ea"/>
              </a:rPr>
              <a:t>    age = 0</a:t>
            </a:r>
          </a:p>
          <a:p>
            <a:pPr marL="342900" indent="-342900" algn="l" fontAlgn="auto">
              <a:lnSpc>
                <a:spcPct val="100000"/>
              </a:lnSpc>
              <a:buSzPct val="100000"/>
              <a:buChar char="•"/>
            </a:pPr>
            <a:r>
              <a:rPr lang="en-US" sz="1500" dirty="0">
                <a:solidFill>
                  <a:schemeClr val="tx1"/>
                </a:solidFill>
                <a:latin typeface="Times New Roman" panose="02020503050405090304" charset="0"/>
                <a:ea typeface="Times New Roman" panose="02020503050405090304" charset="0"/>
                <a:cs typeface="Times New Roman" panose="02020503050405090304" charset="0"/>
                <a:sym typeface="+mn-ea"/>
              </a:rPr>
              <a:t>    #define private attribute</a:t>
            </a:r>
          </a:p>
          <a:p>
            <a:pPr marL="342900" indent="-342900" algn="l" fontAlgn="auto">
              <a:lnSpc>
                <a:spcPct val="100000"/>
              </a:lnSpc>
              <a:buSzPct val="100000"/>
              <a:buChar char="•"/>
            </a:pPr>
            <a:r>
              <a:rPr lang="en-US" sz="1500" dirty="0">
                <a:solidFill>
                  <a:schemeClr val="tx1"/>
                </a:solidFill>
                <a:latin typeface="Times New Roman" panose="02020503050405090304" charset="0"/>
                <a:ea typeface="Times New Roman" panose="02020503050405090304" charset="0"/>
                <a:cs typeface="Times New Roman" panose="02020503050405090304" charset="0"/>
                <a:sym typeface="+mn-ea"/>
              </a:rPr>
              <a:t>    __weight = 0</a:t>
            </a:r>
          </a:p>
          <a:p>
            <a:pPr marL="342900" indent="-342900" algn="l" fontAlgn="auto">
              <a:lnSpc>
                <a:spcPct val="100000"/>
              </a:lnSpc>
              <a:buSzPct val="100000"/>
              <a:buChar char="•"/>
            </a:pPr>
            <a:r>
              <a:rPr lang="en-US" sz="1500" dirty="0">
                <a:solidFill>
                  <a:schemeClr val="tx1"/>
                </a:solidFill>
                <a:latin typeface="Times New Roman" panose="02020503050405090304" charset="0"/>
                <a:ea typeface="Times New Roman" panose="02020503050405090304" charset="0"/>
                <a:cs typeface="Times New Roman" panose="02020503050405090304" charset="0"/>
                <a:sym typeface="+mn-ea"/>
              </a:rPr>
              <a:t>    #initialization</a:t>
            </a:r>
          </a:p>
          <a:p>
            <a:pPr marL="342900" indent="-342900" algn="l" fontAlgn="auto">
              <a:lnSpc>
                <a:spcPct val="100000"/>
              </a:lnSpc>
              <a:buSzPct val="100000"/>
              <a:buChar char="•"/>
            </a:pPr>
            <a:r>
              <a:rPr lang="en-US" sz="1500" dirty="0">
                <a:solidFill>
                  <a:schemeClr val="tx1"/>
                </a:solidFill>
                <a:latin typeface="Times New Roman" panose="02020503050405090304" charset="0"/>
                <a:ea typeface="Times New Roman" panose="02020503050405090304" charset="0"/>
                <a:cs typeface="Times New Roman" panose="02020503050405090304" charset="0"/>
                <a:sym typeface="+mn-ea"/>
              </a:rPr>
              <a:t>    def __init__(self,n,a,w):</a:t>
            </a:r>
          </a:p>
          <a:p>
            <a:pPr marL="342900" indent="-342900" algn="l" fontAlgn="auto">
              <a:lnSpc>
                <a:spcPct val="100000"/>
              </a:lnSpc>
              <a:buSzPct val="100000"/>
              <a:buChar char="•"/>
            </a:pPr>
            <a:r>
              <a:rPr lang="en-US" sz="1500" dirty="0">
                <a:solidFill>
                  <a:schemeClr val="tx1"/>
                </a:solidFill>
                <a:latin typeface="Times New Roman" panose="02020503050405090304" charset="0"/>
                <a:ea typeface="Times New Roman" panose="02020503050405090304" charset="0"/>
                <a:cs typeface="Times New Roman" panose="02020503050405090304" charset="0"/>
                <a:sym typeface="+mn-ea"/>
              </a:rPr>
              <a:t>        self.name = n</a:t>
            </a:r>
          </a:p>
          <a:p>
            <a:pPr marL="342900" indent="-342900" algn="l" fontAlgn="auto">
              <a:lnSpc>
                <a:spcPct val="100000"/>
              </a:lnSpc>
              <a:buSzPct val="100000"/>
              <a:buChar char="•"/>
            </a:pPr>
            <a:r>
              <a:rPr lang="en-US" sz="1500" dirty="0">
                <a:solidFill>
                  <a:schemeClr val="tx1"/>
                </a:solidFill>
                <a:latin typeface="Times New Roman" panose="02020503050405090304" charset="0"/>
                <a:ea typeface="Times New Roman" panose="02020503050405090304" charset="0"/>
                <a:cs typeface="Times New Roman" panose="02020503050405090304" charset="0"/>
                <a:sym typeface="+mn-ea"/>
              </a:rPr>
              <a:t>        self.age = a</a:t>
            </a:r>
          </a:p>
          <a:p>
            <a:pPr marL="342900" indent="-342900" algn="l" fontAlgn="auto">
              <a:lnSpc>
                <a:spcPct val="100000"/>
              </a:lnSpc>
              <a:buSzPct val="100000"/>
              <a:buChar char="•"/>
            </a:pPr>
            <a:r>
              <a:rPr lang="en-US" sz="1500" dirty="0">
                <a:solidFill>
                  <a:schemeClr val="tx1"/>
                </a:solidFill>
                <a:latin typeface="Times New Roman" panose="02020503050405090304" charset="0"/>
                <a:ea typeface="Times New Roman" panose="02020503050405090304" charset="0"/>
                <a:cs typeface="Times New Roman" panose="02020503050405090304" charset="0"/>
                <a:sym typeface="+mn-ea"/>
              </a:rPr>
              <a:t>        self.__weight = w</a:t>
            </a:r>
          </a:p>
          <a:p>
            <a:pPr marL="342900" indent="-342900" algn="l" fontAlgn="auto">
              <a:lnSpc>
                <a:spcPct val="100000"/>
              </a:lnSpc>
              <a:buSzPct val="100000"/>
              <a:buChar char="•"/>
            </a:pPr>
            <a:r>
              <a:rPr lang="en-US" sz="1500" dirty="0">
                <a:solidFill>
                  <a:schemeClr val="tx1"/>
                </a:solidFill>
                <a:latin typeface="Times New Roman" panose="02020503050405090304" charset="0"/>
                <a:ea typeface="Times New Roman" panose="02020503050405090304" charset="0"/>
                <a:cs typeface="Times New Roman" panose="02020503050405090304" charset="0"/>
                <a:sym typeface="+mn-ea"/>
              </a:rPr>
              <a:t>    def speak(self):</a:t>
            </a:r>
          </a:p>
          <a:p>
            <a:pPr marL="342900" indent="-342900" algn="l" fontAlgn="auto">
              <a:lnSpc>
                <a:spcPct val="100000"/>
              </a:lnSpc>
              <a:buSzPct val="100000"/>
              <a:buChar char="•"/>
            </a:pPr>
            <a:r>
              <a:rPr lang="en-US" sz="1500" dirty="0">
                <a:solidFill>
                  <a:schemeClr val="tx1"/>
                </a:solidFill>
                <a:latin typeface="Times New Roman" panose="02020503050405090304" charset="0"/>
                <a:ea typeface="Times New Roman" panose="02020503050405090304" charset="0"/>
                <a:cs typeface="Times New Roman" panose="02020503050405090304" charset="0"/>
                <a:sym typeface="+mn-ea"/>
              </a:rPr>
              <a:t>        print("%s say: I %d years old。" %(self.name,self.age))</a:t>
            </a:r>
          </a:p>
          <a:p>
            <a:pPr marL="342900" indent="-342900" algn="l" fontAlgn="auto">
              <a:lnSpc>
                <a:spcPct val="100000"/>
              </a:lnSpc>
              <a:buSzPct val="100000"/>
              <a:buChar char="•"/>
            </a:pPr>
            <a:r>
              <a:rPr lang="en-US" sz="1500" dirty="0">
                <a:solidFill>
                  <a:schemeClr val="tx1"/>
                </a:solidFill>
                <a:latin typeface="Times New Roman" panose="02020503050405090304" charset="0"/>
                <a:ea typeface="Times New Roman" panose="02020503050405090304" charset="0"/>
                <a:cs typeface="Times New Roman" panose="02020503050405090304" charset="0"/>
                <a:sym typeface="+mn-ea"/>
              </a:rPr>
              <a:t># Instantiate a class</a:t>
            </a:r>
          </a:p>
          <a:p>
            <a:pPr marL="342900" indent="-342900" algn="l" fontAlgn="auto">
              <a:lnSpc>
                <a:spcPct val="100000"/>
              </a:lnSpc>
              <a:buSzPct val="100000"/>
              <a:buChar char="•"/>
            </a:pPr>
            <a:r>
              <a:rPr lang="en-US" sz="1500" dirty="0">
                <a:solidFill>
                  <a:schemeClr val="tx1"/>
                </a:solidFill>
                <a:latin typeface="Times New Roman" panose="02020503050405090304" charset="0"/>
                <a:ea typeface="Times New Roman" panose="02020503050405090304" charset="0"/>
                <a:cs typeface="Times New Roman" panose="02020503050405090304" charset="0"/>
                <a:sym typeface="+mn-ea"/>
              </a:rPr>
              <a:t>p = people('runoob',10,30)</a:t>
            </a:r>
          </a:p>
          <a:p>
            <a:pPr marL="342900" indent="-342900" algn="l" fontAlgn="auto">
              <a:lnSpc>
                <a:spcPct val="100000"/>
              </a:lnSpc>
              <a:buSzPct val="100000"/>
              <a:buChar char="•"/>
            </a:pPr>
            <a:r>
              <a:rPr lang="en-US" sz="1500" dirty="0">
                <a:solidFill>
                  <a:schemeClr val="tx1"/>
                </a:solidFill>
                <a:latin typeface="Times New Roman" panose="02020503050405090304" charset="0"/>
                <a:ea typeface="Times New Roman" panose="02020503050405090304" charset="0"/>
                <a:cs typeface="Times New Roman" panose="02020503050405090304" charset="0"/>
                <a:sym typeface="+mn-ea"/>
              </a:rPr>
              <a:t>p.speak()</a:t>
            </a:r>
          </a:p>
        </p:txBody>
      </p:sp>
      <p:pic>
        <p:nvPicPr>
          <p:cNvPr id="7" name="图片 6" descr="zh-hans_logo"/>
          <p:cNvPicPr>
            <a:picLocks noChangeAspect="1"/>
          </p:cNvPicPr>
          <p:nvPr>
            <p:custDataLst>
              <p:tags r:id="rId1"/>
            </p:custDataLst>
          </p:nvPr>
        </p:nvPicPr>
        <p:blipFill>
          <a:blip r:embed="rId4"/>
          <a:stretch>
            <a:fillRect/>
          </a:stretch>
        </p:blipFill>
        <p:spPr>
          <a:xfrm>
            <a:off x="0" y="85090"/>
            <a:ext cx="4361180" cy="62547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62000" y="651828"/>
            <a:ext cx="8135303" cy="552450"/>
          </a:xfrm>
          <a:prstGeom prst="rect">
            <a:avLst/>
          </a:prstGeom>
          <a:noFill/>
        </p:spPr>
        <p:txBody>
          <a:bodyPr wrap="square" rtlCol="0" anchor="ctr"/>
          <a:lstStyle/>
          <a:p>
            <a:pPr marL="0" indent="0">
              <a:buNone/>
            </a:pPr>
            <a:r>
              <a:rPr lang="en-US" sz="2400" b="1" dirty="0">
                <a:solidFill>
                  <a:srgbClr val="2E0158"/>
                </a:solidFill>
                <a:latin typeface="Times New Roman" panose="02020503050405090304" charset="0"/>
                <a:ea typeface="Times New Roman" panose="02020503050405090304" charset="0"/>
                <a:cs typeface="Times New Roman" panose="02020503050405090304" charset="0"/>
                <a:sym typeface="+mn-ea"/>
              </a:rPr>
              <a:t>Python Class (2) Inheritance</a:t>
            </a:r>
          </a:p>
        </p:txBody>
      </p:sp>
      <p:sp>
        <p:nvSpPr>
          <p:cNvPr id="3" name="Text 1"/>
          <p:cNvSpPr/>
          <p:nvPr/>
        </p:nvSpPr>
        <p:spPr>
          <a:xfrm>
            <a:off x="727710" y="1150779"/>
            <a:ext cx="8169910" cy="3640455"/>
          </a:xfrm>
          <a:prstGeom prst="rect">
            <a:avLst/>
          </a:prstGeom>
          <a:noFill/>
        </p:spPr>
        <p:txBody>
          <a:bodyPr wrap="square" rtlCol="0" anchor="t"/>
          <a:lstStyle/>
          <a:p>
            <a:pPr marL="342900" indent="-342900" algn="l" fontAlgn="auto">
              <a:lnSpc>
                <a:spcPct val="100000"/>
              </a:lnSpc>
              <a:buSzPct val="100000"/>
              <a:buChar char="•"/>
            </a:pPr>
            <a:r>
              <a:rPr lang="en-US" sz="1200" dirty="0">
                <a:solidFill>
                  <a:schemeClr val="tx1"/>
                </a:solidFill>
                <a:latin typeface="Times New Roman" panose="02020503050405090304" charset="0"/>
                <a:ea typeface="Times New Roman" panose="02020503050405090304" charset="0"/>
                <a:cs typeface="Times New Roman" panose="02020503050405090304" charset="0"/>
                <a:sym typeface="+mn-ea"/>
              </a:rPr>
              <a:t>class people:</a:t>
            </a:r>
          </a:p>
          <a:p>
            <a:pPr marL="342900" indent="-342900" algn="l" fontAlgn="auto">
              <a:lnSpc>
                <a:spcPct val="100000"/>
              </a:lnSpc>
              <a:buSzPct val="100000"/>
              <a:buChar char="•"/>
            </a:pPr>
            <a:r>
              <a:rPr lang="en-US" sz="1200" dirty="0">
                <a:solidFill>
                  <a:schemeClr val="tx1"/>
                </a:solidFill>
                <a:latin typeface="Times New Roman" panose="02020503050405090304" charset="0"/>
                <a:ea typeface="Times New Roman" panose="02020503050405090304" charset="0"/>
                <a:cs typeface="Times New Roman" panose="02020503050405090304" charset="0"/>
                <a:sym typeface="+mn-ea"/>
              </a:rPr>
              <a:t>    name = ''</a:t>
            </a:r>
          </a:p>
          <a:p>
            <a:pPr marL="342900" indent="-342900" algn="l" fontAlgn="auto">
              <a:lnSpc>
                <a:spcPct val="100000"/>
              </a:lnSpc>
              <a:buSzPct val="100000"/>
              <a:buChar char="•"/>
            </a:pPr>
            <a:r>
              <a:rPr lang="en-US" sz="1200" dirty="0">
                <a:solidFill>
                  <a:schemeClr val="tx1"/>
                </a:solidFill>
                <a:latin typeface="Times New Roman" panose="02020503050405090304" charset="0"/>
                <a:ea typeface="Times New Roman" panose="02020503050405090304" charset="0"/>
                <a:cs typeface="Times New Roman" panose="02020503050405090304" charset="0"/>
                <a:sym typeface="+mn-ea"/>
              </a:rPr>
              <a:t>    age = 0</a:t>
            </a:r>
          </a:p>
          <a:p>
            <a:pPr marL="342900" indent="-342900" algn="l" fontAlgn="auto">
              <a:lnSpc>
                <a:spcPct val="100000"/>
              </a:lnSpc>
              <a:buSzPct val="100000"/>
              <a:buChar char="•"/>
            </a:pPr>
            <a:r>
              <a:rPr lang="en-US" sz="1200" dirty="0">
                <a:solidFill>
                  <a:schemeClr val="tx1"/>
                </a:solidFill>
                <a:latin typeface="Times New Roman" panose="02020503050405090304" charset="0"/>
                <a:ea typeface="Times New Roman" panose="02020503050405090304" charset="0"/>
                <a:cs typeface="Times New Roman" panose="02020503050405090304" charset="0"/>
                <a:sym typeface="+mn-ea"/>
              </a:rPr>
              <a:t>    __weight = 0</a:t>
            </a:r>
          </a:p>
          <a:p>
            <a:pPr marL="342900" indent="-342900" algn="l" fontAlgn="auto">
              <a:lnSpc>
                <a:spcPct val="100000"/>
              </a:lnSpc>
              <a:buSzPct val="100000"/>
              <a:buChar char="•"/>
            </a:pPr>
            <a:r>
              <a:rPr lang="en-US" sz="1200" dirty="0">
                <a:solidFill>
                  <a:schemeClr val="tx1"/>
                </a:solidFill>
                <a:latin typeface="Times New Roman" panose="02020503050405090304" charset="0"/>
                <a:ea typeface="Times New Roman" panose="02020503050405090304" charset="0"/>
                <a:cs typeface="Times New Roman" panose="02020503050405090304" charset="0"/>
                <a:sym typeface="+mn-ea"/>
              </a:rPr>
              <a:t>    def __init__(self,n,a,w):</a:t>
            </a:r>
          </a:p>
          <a:p>
            <a:pPr marL="342900" indent="-342900" algn="l" fontAlgn="auto">
              <a:lnSpc>
                <a:spcPct val="100000"/>
              </a:lnSpc>
              <a:buSzPct val="100000"/>
              <a:buChar char="•"/>
            </a:pPr>
            <a:r>
              <a:rPr lang="en-US" sz="1200" dirty="0">
                <a:solidFill>
                  <a:schemeClr val="tx1"/>
                </a:solidFill>
                <a:latin typeface="Times New Roman" panose="02020503050405090304" charset="0"/>
                <a:ea typeface="Times New Roman" panose="02020503050405090304" charset="0"/>
                <a:cs typeface="Times New Roman" panose="02020503050405090304" charset="0"/>
                <a:sym typeface="+mn-ea"/>
              </a:rPr>
              <a:t>        self.name = n</a:t>
            </a:r>
          </a:p>
          <a:p>
            <a:pPr marL="342900" indent="-342900" algn="l" fontAlgn="auto">
              <a:lnSpc>
                <a:spcPct val="100000"/>
              </a:lnSpc>
              <a:buSzPct val="100000"/>
              <a:buChar char="•"/>
            </a:pPr>
            <a:r>
              <a:rPr lang="en-US" sz="1200" dirty="0">
                <a:solidFill>
                  <a:schemeClr val="tx1"/>
                </a:solidFill>
                <a:latin typeface="Times New Roman" panose="02020503050405090304" charset="0"/>
                <a:ea typeface="Times New Roman" panose="02020503050405090304" charset="0"/>
                <a:cs typeface="Times New Roman" panose="02020503050405090304" charset="0"/>
                <a:sym typeface="+mn-ea"/>
              </a:rPr>
              <a:t>        self.age = a</a:t>
            </a:r>
          </a:p>
          <a:p>
            <a:pPr marL="342900" indent="-342900" algn="l" fontAlgn="auto">
              <a:lnSpc>
                <a:spcPct val="100000"/>
              </a:lnSpc>
              <a:buSzPct val="100000"/>
              <a:buChar char="•"/>
            </a:pPr>
            <a:r>
              <a:rPr lang="en-US" sz="1200" dirty="0">
                <a:solidFill>
                  <a:schemeClr val="tx1"/>
                </a:solidFill>
                <a:latin typeface="Times New Roman" panose="02020503050405090304" charset="0"/>
                <a:ea typeface="Times New Roman" panose="02020503050405090304" charset="0"/>
                <a:cs typeface="Times New Roman" panose="02020503050405090304" charset="0"/>
                <a:sym typeface="+mn-ea"/>
              </a:rPr>
              <a:t>        self.__weight = w</a:t>
            </a:r>
          </a:p>
          <a:p>
            <a:pPr marL="342900" indent="-342900" algn="l" fontAlgn="auto">
              <a:lnSpc>
                <a:spcPct val="100000"/>
              </a:lnSpc>
              <a:buSzPct val="100000"/>
              <a:buChar char="•"/>
            </a:pPr>
            <a:r>
              <a:rPr lang="en-US" sz="1200" dirty="0">
                <a:solidFill>
                  <a:schemeClr val="tx1"/>
                </a:solidFill>
                <a:latin typeface="Times New Roman" panose="02020503050405090304" charset="0"/>
                <a:ea typeface="Times New Roman" panose="02020503050405090304" charset="0"/>
                <a:cs typeface="Times New Roman" panose="02020503050405090304" charset="0"/>
                <a:sym typeface="+mn-ea"/>
              </a:rPr>
              <a:t>    def speak(self):</a:t>
            </a:r>
          </a:p>
          <a:p>
            <a:pPr marL="342900" indent="-342900" algn="l" fontAlgn="auto">
              <a:lnSpc>
                <a:spcPct val="100000"/>
              </a:lnSpc>
              <a:buSzPct val="100000"/>
              <a:buChar char="•"/>
            </a:pPr>
            <a:r>
              <a:rPr lang="en-US" sz="1200" dirty="0">
                <a:solidFill>
                  <a:schemeClr val="tx1"/>
                </a:solidFill>
                <a:latin typeface="Times New Roman" panose="02020503050405090304" charset="0"/>
                <a:ea typeface="Times New Roman" panose="02020503050405090304" charset="0"/>
                <a:cs typeface="Times New Roman" panose="02020503050405090304" charset="0"/>
                <a:sym typeface="+mn-ea"/>
              </a:rPr>
              <a:t>        print("%s 说: 我 %d 岁。" %(self.name,self.age))</a:t>
            </a:r>
          </a:p>
          <a:p>
            <a:pPr marL="342900" indent="-342900" algn="l" fontAlgn="auto">
              <a:lnSpc>
                <a:spcPct val="100000"/>
              </a:lnSpc>
              <a:buSzPct val="100000"/>
              <a:buChar char="•"/>
            </a:pPr>
            <a:endParaRPr lang="en-US" sz="1200" dirty="0">
              <a:solidFill>
                <a:schemeClr val="tx1"/>
              </a:solidFill>
              <a:latin typeface="Times New Roman" panose="02020503050405090304" charset="0"/>
              <a:ea typeface="Times New Roman" panose="02020503050405090304" charset="0"/>
              <a:cs typeface="Times New Roman" panose="02020503050405090304" charset="0"/>
              <a:sym typeface="+mn-ea"/>
            </a:endParaRPr>
          </a:p>
          <a:p>
            <a:pPr marL="342900" indent="-342900" algn="l" fontAlgn="auto">
              <a:lnSpc>
                <a:spcPct val="100000"/>
              </a:lnSpc>
              <a:buSzPct val="100000"/>
              <a:buChar char="•"/>
            </a:pPr>
            <a:r>
              <a:rPr lang="en-US" sz="1200" dirty="0">
                <a:solidFill>
                  <a:schemeClr val="tx1"/>
                </a:solidFill>
                <a:latin typeface="Times New Roman" panose="02020503050405090304" charset="0"/>
                <a:ea typeface="Times New Roman" panose="02020503050405090304" charset="0"/>
                <a:cs typeface="Times New Roman" panose="02020503050405090304" charset="0"/>
                <a:sym typeface="+mn-ea"/>
              </a:rPr>
              <a:t>class student(people):</a:t>
            </a:r>
          </a:p>
          <a:p>
            <a:pPr marL="342900" indent="-342900" algn="l" fontAlgn="auto">
              <a:lnSpc>
                <a:spcPct val="100000"/>
              </a:lnSpc>
              <a:buSzPct val="100000"/>
              <a:buChar char="•"/>
            </a:pPr>
            <a:r>
              <a:rPr lang="en-US" sz="1200" dirty="0">
                <a:solidFill>
                  <a:schemeClr val="tx1"/>
                </a:solidFill>
                <a:latin typeface="Times New Roman" panose="02020503050405090304" charset="0"/>
                <a:ea typeface="Times New Roman" panose="02020503050405090304" charset="0"/>
                <a:cs typeface="Times New Roman" panose="02020503050405090304" charset="0"/>
                <a:sym typeface="+mn-ea"/>
              </a:rPr>
              <a:t>    grade = ''</a:t>
            </a:r>
          </a:p>
          <a:p>
            <a:pPr marL="342900" indent="-342900" algn="l" fontAlgn="auto">
              <a:lnSpc>
                <a:spcPct val="100000"/>
              </a:lnSpc>
              <a:buSzPct val="100000"/>
              <a:buChar char="•"/>
            </a:pPr>
            <a:r>
              <a:rPr lang="en-US" sz="1200" dirty="0">
                <a:solidFill>
                  <a:schemeClr val="tx1"/>
                </a:solidFill>
                <a:latin typeface="Times New Roman" panose="02020503050405090304" charset="0"/>
                <a:ea typeface="Times New Roman" panose="02020503050405090304" charset="0"/>
                <a:cs typeface="Times New Roman" panose="02020503050405090304" charset="0"/>
                <a:sym typeface="+mn-ea"/>
              </a:rPr>
              <a:t>    def __init__(self,n,a,w,g):</a:t>
            </a:r>
          </a:p>
          <a:p>
            <a:pPr marL="342900" indent="-342900" algn="l" fontAlgn="auto">
              <a:lnSpc>
                <a:spcPct val="100000"/>
              </a:lnSpc>
              <a:buSzPct val="100000"/>
              <a:buChar char="•"/>
            </a:pPr>
            <a:r>
              <a:rPr lang="en-US" sz="1200" dirty="0">
                <a:solidFill>
                  <a:schemeClr val="tx1"/>
                </a:solidFill>
                <a:latin typeface="Times New Roman" panose="02020503050405090304" charset="0"/>
                <a:ea typeface="Times New Roman" panose="02020503050405090304" charset="0"/>
                <a:cs typeface="Times New Roman" panose="02020503050405090304" charset="0"/>
                <a:sym typeface="+mn-ea"/>
              </a:rPr>
              <a:t>        people.__init__(self,n,a,w)</a:t>
            </a:r>
          </a:p>
          <a:p>
            <a:pPr marL="342900" indent="-342900" algn="l" fontAlgn="auto">
              <a:lnSpc>
                <a:spcPct val="100000"/>
              </a:lnSpc>
              <a:buSzPct val="100000"/>
              <a:buChar char="•"/>
            </a:pPr>
            <a:r>
              <a:rPr lang="en-US" sz="1200" dirty="0">
                <a:solidFill>
                  <a:schemeClr val="tx1"/>
                </a:solidFill>
                <a:latin typeface="Times New Roman" panose="02020503050405090304" charset="0"/>
                <a:ea typeface="Times New Roman" panose="02020503050405090304" charset="0"/>
                <a:cs typeface="Times New Roman" panose="02020503050405090304" charset="0"/>
                <a:sym typeface="+mn-ea"/>
              </a:rPr>
              <a:t>        self.grade = g</a:t>
            </a:r>
          </a:p>
          <a:p>
            <a:pPr marL="342900" indent="-342900" algn="l" fontAlgn="auto">
              <a:lnSpc>
                <a:spcPct val="100000"/>
              </a:lnSpc>
              <a:buSzPct val="100000"/>
              <a:buChar char="•"/>
            </a:pPr>
            <a:r>
              <a:rPr lang="en-US" sz="1200" dirty="0">
                <a:solidFill>
                  <a:schemeClr val="tx1"/>
                </a:solidFill>
                <a:latin typeface="Times New Roman" panose="02020503050405090304" charset="0"/>
                <a:ea typeface="Times New Roman" panose="02020503050405090304" charset="0"/>
                <a:cs typeface="Times New Roman" panose="02020503050405090304" charset="0"/>
                <a:sym typeface="+mn-ea"/>
              </a:rPr>
              <a:t>    def speak(self):</a:t>
            </a:r>
          </a:p>
          <a:p>
            <a:pPr marL="342900" indent="-342900" algn="l" fontAlgn="auto">
              <a:lnSpc>
                <a:spcPct val="100000"/>
              </a:lnSpc>
              <a:buSzPct val="100000"/>
              <a:buChar char="•"/>
            </a:pPr>
            <a:r>
              <a:rPr lang="en-US" sz="1200" dirty="0">
                <a:solidFill>
                  <a:schemeClr val="tx1"/>
                </a:solidFill>
                <a:latin typeface="Times New Roman" panose="02020503050405090304" charset="0"/>
                <a:ea typeface="Times New Roman" panose="02020503050405090304" charset="0"/>
                <a:cs typeface="Times New Roman" panose="02020503050405090304" charset="0"/>
                <a:sym typeface="+mn-ea"/>
              </a:rPr>
              <a:t>        print("%s say: I’m %d years old，and my grade is  %d"%(self.name,self.age,self.grade))</a:t>
            </a:r>
            <a:endParaRPr lang="en-US" sz="1500" dirty="0">
              <a:solidFill>
                <a:schemeClr val="tx1"/>
              </a:solidFill>
              <a:latin typeface="Times New Roman" panose="02020503050405090304" charset="0"/>
              <a:ea typeface="Times New Roman" panose="02020503050405090304" charset="0"/>
              <a:cs typeface="Times New Roman" panose="02020503050405090304" charset="0"/>
              <a:sym typeface="+mn-ea"/>
            </a:endParaRPr>
          </a:p>
          <a:p>
            <a:pPr marL="342900" indent="-342900" algn="l" fontAlgn="auto">
              <a:lnSpc>
                <a:spcPct val="100000"/>
              </a:lnSpc>
              <a:buSzPct val="100000"/>
              <a:buChar char="•"/>
            </a:pPr>
            <a:r>
              <a:rPr lang="en-US" sz="1200" dirty="0">
                <a:solidFill>
                  <a:schemeClr val="tx1"/>
                </a:solidFill>
                <a:latin typeface="Times New Roman" panose="02020503050405090304" charset="0"/>
                <a:ea typeface="Times New Roman" panose="02020503050405090304" charset="0"/>
                <a:cs typeface="Times New Roman" panose="02020503050405090304" charset="0"/>
                <a:sym typeface="+mn-ea"/>
              </a:rPr>
              <a:t>s = student('ken',10,60,3)</a:t>
            </a:r>
          </a:p>
          <a:p>
            <a:pPr marL="342900" indent="-342900" algn="l" fontAlgn="auto">
              <a:lnSpc>
                <a:spcPct val="100000"/>
              </a:lnSpc>
              <a:buSzPct val="100000"/>
              <a:buChar char="•"/>
            </a:pPr>
            <a:r>
              <a:rPr lang="en-US" sz="1200" dirty="0">
                <a:solidFill>
                  <a:schemeClr val="tx1"/>
                </a:solidFill>
                <a:latin typeface="Times New Roman" panose="02020503050405090304" charset="0"/>
                <a:ea typeface="Times New Roman" panose="02020503050405090304" charset="0"/>
                <a:cs typeface="Times New Roman" panose="02020503050405090304" charset="0"/>
                <a:sym typeface="+mn-ea"/>
              </a:rPr>
              <a:t>s.speak()</a:t>
            </a:r>
          </a:p>
        </p:txBody>
      </p:sp>
      <p:pic>
        <p:nvPicPr>
          <p:cNvPr id="7" name="图片 6" descr="zh-hans_logo"/>
          <p:cNvPicPr>
            <a:picLocks noChangeAspect="1"/>
          </p:cNvPicPr>
          <p:nvPr>
            <p:custDataLst>
              <p:tags r:id="rId1"/>
            </p:custDataLst>
          </p:nvPr>
        </p:nvPicPr>
        <p:blipFill>
          <a:blip r:embed="rId4"/>
          <a:stretch>
            <a:fillRect/>
          </a:stretch>
        </p:blipFill>
        <p:spPr>
          <a:xfrm>
            <a:off x="0" y="85090"/>
            <a:ext cx="4361180" cy="62547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62000" y="825818"/>
            <a:ext cx="8135303" cy="552450"/>
          </a:xfrm>
          <a:prstGeom prst="rect">
            <a:avLst/>
          </a:prstGeom>
          <a:noFill/>
        </p:spPr>
        <p:txBody>
          <a:bodyPr wrap="square" rtlCol="0" anchor="ctr"/>
          <a:lstStyle/>
          <a:p>
            <a:pPr marL="0" indent="0">
              <a:buNone/>
            </a:pPr>
            <a:r>
              <a:rPr lang="en-US" sz="2400" b="1" dirty="0">
                <a:latin typeface="Times New Roman" panose="02020503050405090304" charset="0"/>
                <a:cs typeface="Times New Roman" panose="02020503050405090304" charset="0"/>
              </a:rPr>
              <a:t>Search the web to learn</a:t>
            </a:r>
          </a:p>
        </p:txBody>
      </p:sp>
      <p:sp>
        <p:nvSpPr>
          <p:cNvPr id="3" name="Text 1"/>
          <p:cNvSpPr/>
          <p:nvPr/>
        </p:nvSpPr>
        <p:spPr>
          <a:xfrm>
            <a:off x="762000" y="1320800"/>
            <a:ext cx="7937500" cy="3395980"/>
          </a:xfrm>
          <a:prstGeom prst="rect">
            <a:avLst/>
          </a:prstGeom>
          <a:noFill/>
        </p:spPr>
        <p:txBody>
          <a:bodyPr wrap="square" rtlCol="0" anchor="t"/>
          <a:lstStyle/>
          <a:p>
            <a:pPr marL="342900" indent="-342900" algn="l">
              <a:lnSpc>
                <a:spcPct val="150000"/>
              </a:lnSpc>
              <a:buSzPct val="100000"/>
              <a:buChar char="•"/>
            </a:pPr>
            <a:r>
              <a:rPr lang="en-US" altLang="zh-CN" sz="1200" dirty="0"/>
              <a:t>Use a browser to search your questions on Internet</a:t>
            </a:r>
          </a:p>
          <a:p>
            <a:pPr marL="342900" lvl="0" indent="-342900" algn="l">
              <a:lnSpc>
                <a:spcPct val="150000"/>
              </a:lnSpc>
              <a:buSzPct val="100000"/>
              <a:buChar char="•"/>
            </a:pPr>
            <a:r>
              <a:rPr lang="en-US" altLang="zh-CN" sz="1200" dirty="0"/>
              <a:t>Browser: Chrome/Edge/Safari/Firefox</a:t>
            </a:r>
          </a:p>
          <a:p>
            <a:pPr marL="342900" lvl="0" indent="-342900" algn="l">
              <a:lnSpc>
                <a:spcPct val="150000"/>
              </a:lnSpc>
              <a:buSzPct val="100000"/>
              <a:buChar char="•"/>
            </a:pPr>
            <a:r>
              <a:rPr lang="en-US" altLang="zh-CN" sz="1200" dirty="0"/>
              <a:t>Website: bing.com/google.com</a:t>
            </a:r>
          </a:p>
        </p:txBody>
      </p:sp>
      <p:pic>
        <p:nvPicPr>
          <p:cNvPr id="7" name="图片 6" descr="zh-hans_logo"/>
          <p:cNvPicPr>
            <a:picLocks noChangeAspect="1"/>
          </p:cNvPicPr>
          <p:nvPr>
            <p:custDataLst>
              <p:tags r:id="rId1"/>
            </p:custDataLst>
          </p:nvPr>
        </p:nvPicPr>
        <p:blipFill>
          <a:blip r:embed="rId4"/>
          <a:stretch>
            <a:fillRect/>
          </a:stretch>
        </p:blipFill>
        <p:spPr>
          <a:xfrm>
            <a:off x="0" y="85090"/>
            <a:ext cx="4361180" cy="625475"/>
          </a:xfrm>
          <a:prstGeom prst="rect">
            <a:avLst/>
          </a:prstGeom>
        </p:spPr>
      </p:pic>
      <p:pic>
        <p:nvPicPr>
          <p:cNvPr id="6" name="图片 5"/>
          <p:cNvPicPr>
            <a:picLocks noChangeAspect="1"/>
          </p:cNvPicPr>
          <p:nvPr/>
        </p:nvPicPr>
        <p:blipFill>
          <a:blip r:embed="rId5"/>
          <a:stretch>
            <a:fillRect/>
          </a:stretch>
        </p:blipFill>
        <p:spPr>
          <a:xfrm>
            <a:off x="2276475" y="2322830"/>
            <a:ext cx="4908550" cy="239395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62000" y="825818"/>
            <a:ext cx="8135303" cy="552450"/>
          </a:xfrm>
          <a:prstGeom prst="rect">
            <a:avLst/>
          </a:prstGeom>
          <a:noFill/>
        </p:spPr>
        <p:txBody>
          <a:bodyPr wrap="square" rtlCol="0" anchor="ctr"/>
          <a:lstStyle/>
          <a:p>
            <a:pPr marL="0" indent="0">
              <a:buNone/>
            </a:pPr>
            <a:r>
              <a:rPr lang="en-US" sz="2400" b="1" dirty="0">
                <a:latin typeface="Times New Roman" panose="02020503050405090304" charset="0"/>
                <a:cs typeface="Times New Roman" panose="02020503050405090304" charset="0"/>
              </a:rPr>
              <a:t>Use AI tools to help you learn coding</a:t>
            </a:r>
          </a:p>
        </p:txBody>
      </p:sp>
      <p:sp>
        <p:nvSpPr>
          <p:cNvPr id="3" name="Text 1"/>
          <p:cNvSpPr/>
          <p:nvPr/>
        </p:nvSpPr>
        <p:spPr>
          <a:xfrm>
            <a:off x="762000" y="1320800"/>
            <a:ext cx="7937500" cy="3395980"/>
          </a:xfrm>
          <a:prstGeom prst="rect">
            <a:avLst/>
          </a:prstGeom>
          <a:noFill/>
        </p:spPr>
        <p:txBody>
          <a:bodyPr wrap="square" rtlCol="0" anchor="t"/>
          <a:lstStyle/>
          <a:p>
            <a:pPr marL="342900" indent="-342900" algn="l">
              <a:lnSpc>
                <a:spcPct val="150000"/>
              </a:lnSpc>
              <a:buSzPct val="100000"/>
              <a:buChar char="•"/>
            </a:pPr>
            <a:r>
              <a:rPr lang="en-US" altLang="zh-CN" sz="1200" dirty="0"/>
              <a:t>ChatGPT/Claude/Gemini/Grok</a:t>
            </a:r>
          </a:p>
          <a:p>
            <a:pPr marL="342900" indent="-342900" algn="l">
              <a:lnSpc>
                <a:spcPct val="150000"/>
              </a:lnSpc>
              <a:buSzPct val="100000"/>
              <a:buChar char="•"/>
            </a:pPr>
            <a:r>
              <a:rPr lang="en-US" altLang="zh-CN" sz="1200" dirty="0"/>
              <a:t>DeepSeek/Douao/Qwen/Kiwi</a:t>
            </a:r>
          </a:p>
          <a:p>
            <a:pPr marL="342900" indent="-342900" algn="l">
              <a:lnSpc>
                <a:spcPct val="150000"/>
              </a:lnSpc>
              <a:buSzPct val="100000"/>
              <a:buChar char="•"/>
            </a:pPr>
            <a:r>
              <a:rPr lang="en-US" altLang="zh-CN" sz="1200" dirty="0"/>
              <a:t>Our school has also provided: https://ai.cuhk.edu.cn/chat/</a:t>
            </a:r>
          </a:p>
        </p:txBody>
      </p:sp>
      <p:pic>
        <p:nvPicPr>
          <p:cNvPr id="7" name="图片 6" descr="zh-hans_logo"/>
          <p:cNvPicPr>
            <a:picLocks noChangeAspect="1"/>
          </p:cNvPicPr>
          <p:nvPr>
            <p:custDataLst>
              <p:tags r:id="rId1"/>
            </p:custDataLst>
          </p:nvPr>
        </p:nvPicPr>
        <p:blipFill>
          <a:blip r:embed="rId4"/>
          <a:stretch>
            <a:fillRect/>
          </a:stretch>
        </p:blipFill>
        <p:spPr>
          <a:xfrm>
            <a:off x="0" y="85090"/>
            <a:ext cx="4361180" cy="625475"/>
          </a:xfrm>
          <a:prstGeom prst="rect">
            <a:avLst/>
          </a:prstGeom>
        </p:spPr>
      </p:pic>
      <p:pic>
        <p:nvPicPr>
          <p:cNvPr id="5" name="图片 4"/>
          <p:cNvPicPr>
            <a:picLocks noChangeAspect="1"/>
          </p:cNvPicPr>
          <p:nvPr/>
        </p:nvPicPr>
        <p:blipFill>
          <a:blip r:embed="rId5"/>
          <a:stretch>
            <a:fillRect/>
          </a:stretch>
        </p:blipFill>
        <p:spPr>
          <a:xfrm>
            <a:off x="2770505" y="2298700"/>
            <a:ext cx="3761740" cy="242697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2871788" y="1709738"/>
            <a:ext cx="3395663" cy="552450"/>
          </a:xfrm>
          <a:prstGeom prst="rect">
            <a:avLst/>
          </a:prstGeom>
          <a:noFill/>
        </p:spPr>
        <p:txBody>
          <a:bodyPr wrap="square" rtlCol="0" anchor="t"/>
          <a:lstStyle/>
          <a:p>
            <a:pPr marL="0" indent="0" algn="ctr">
              <a:buNone/>
            </a:pPr>
            <a:r>
              <a:rPr lang="en-US" sz="2400" b="1" dirty="0">
                <a:solidFill>
                  <a:srgbClr val="646464"/>
                </a:solidFill>
                <a:latin typeface="Times New Roman" panose="02020503050405090304" charset="0"/>
                <a:ea typeface="Times New Roman" panose="02020503050405090304" charset="0"/>
                <a:cs typeface="Times New Roman" panose="02020503050405090304" charset="0"/>
              </a:rPr>
              <a:t>THE END</a:t>
            </a:r>
            <a:endParaRPr lang="en-US" sz="2400" dirty="0"/>
          </a:p>
        </p:txBody>
      </p:sp>
      <p:sp>
        <p:nvSpPr>
          <p:cNvPr id="3" name="Text 1"/>
          <p:cNvSpPr/>
          <p:nvPr/>
        </p:nvSpPr>
        <p:spPr>
          <a:xfrm>
            <a:off x="2871788" y="2400300"/>
            <a:ext cx="3395663" cy="1033463"/>
          </a:xfrm>
          <a:prstGeom prst="rect">
            <a:avLst/>
          </a:prstGeom>
          <a:noFill/>
        </p:spPr>
        <p:txBody>
          <a:bodyPr wrap="square" rtlCol="0" anchor="t"/>
          <a:lstStyle/>
          <a:p>
            <a:pPr marL="0" indent="0" algn="ctr">
              <a:buNone/>
            </a:pPr>
            <a:r>
              <a:rPr lang="en-US" sz="4500" b="1" dirty="0">
                <a:solidFill>
                  <a:srgbClr val="2E0158"/>
                </a:solidFill>
                <a:latin typeface="Times New Roman" panose="02020503050405090304" charset="0"/>
                <a:ea typeface="Times New Roman" panose="02020503050405090304" charset="0"/>
                <a:cs typeface="Times New Roman" panose="02020503050405090304" charset="0"/>
              </a:rPr>
              <a:t>THANKS</a:t>
            </a:r>
            <a:endParaRPr lang="en-US" sz="4500" dirty="0"/>
          </a:p>
        </p:txBody>
      </p:sp>
      <p:pic>
        <p:nvPicPr>
          <p:cNvPr id="7" name="图片 6" descr="zh-hans_logo"/>
          <p:cNvPicPr>
            <a:picLocks noChangeAspect="1"/>
          </p:cNvPicPr>
          <p:nvPr>
            <p:custDataLst>
              <p:tags r:id="rId1"/>
            </p:custDataLst>
          </p:nvPr>
        </p:nvPicPr>
        <p:blipFill>
          <a:blip r:embed="rId4"/>
          <a:stretch>
            <a:fillRect/>
          </a:stretch>
        </p:blipFill>
        <p:spPr>
          <a:xfrm>
            <a:off x="0" y="85090"/>
            <a:ext cx="4361180" cy="625475"/>
          </a:xfrm>
          <a:prstGeom prst="rect">
            <a:avLst/>
          </a:prstGeom>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N2Y5N2YwNjU1YjcxOTZiOGYwOTJhNmQ0MzFjMDI5OWUifQ=="/>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2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3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1856</Words>
  <Application>Microsoft Macintosh PowerPoint</Application>
  <PresentationFormat>On-screen Show (16:9)</PresentationFormat>
  <Paragraphs>258</Paragraphs>
  <Slides>19</Slides>
  <Notes>19</Notes>
  <HiddenSlides>0</HiddenSlides>
  <MMClips>0</MMClips>
  <ScaleCrop>false</ScaleCrop>
  <HeadingPairs>
    <vt:vector size="6" baseType="variant">
      <vt:variant>
        <vt:lpstr>Fonts Used</vt:lpstr>
      </vt:variant>
      <vt:variant>
        <vt:i4>3</vt:i4>
      </vt:variant>
      <vt:variant>
        <vt:lpstr>Theme</vt:lpstr>
      </vt:variant>
      <vt:variant>
        <vt:i4>5</vt:i4>
      </vt:variant>
      <vt:variant>
        <vt:lpstr>Slide Titles</vt:lpstr>
      </vt:variant>
      <vt:variant>
        <vt:i4>19</vt:i4>
      </vt:variant>
    </vt:vector>
  </HeadingPairs>
  <TitlesOfParts>
    <vt:vector size="27" baseType="lpstr">
      <vt:lpstr>Arial</vt:lpstr>
      <vt:lpstr>Calibri</vt:lpstr>
      <vt:lpstr>Times New Roman</vt:lpstr>
      <vt:lpstr>Office Theme</vt:lpstr>
      <vt:lpstr>22_Office Theme</vt:lpstr>
      <vt:lpstr>23_Office Theme</vt:lpstr>
      <vt:lpstr>1_Office Theme</vt:lpstr>
      <vt:lpstr>2_Office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Multi-Modal Inverse Constrained Reinforcement Learning</dc:title>
  <dc:subject>SUBTITLE HERE</dc:subject>
  <dc:creator>MindShow.fun</dc:creator>
  <cp:lastModifiedBy>Prof. LIU Guiliang (SDS)</cp:lastModifiedBy>
  <cp:revision>249</cp:revision>
  <dcterms:created xsi:type="dcterms:W3CDTF">2026-03-30T11:53:57Z</dcterms:created>
  <dcterms:modified xsi:type="dcterms:W3CDTF">2026-04-09T15:55:17Z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5432F50B73D8441AA1586F5A331852B2_13</vt:lpwstr>
  </property>
  <property fmtid="{D5CDD505-2E9C-101B-9397-08002B2CF9AE}" pid="3" name="KSOProductBuildVer">
    <vt:lpwstr>2052-12.1.23141.23141</vt:lpwstr>
  </property>
</Properties>
</file>